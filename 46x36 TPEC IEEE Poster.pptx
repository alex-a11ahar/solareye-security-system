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32918400" cx="42062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1316">
          <p15:clr>
            <a:srgbClr val="A4A3A4"/>
          </p15:clr>
        </p15:guide>
        <p15:guide id="3" pos="13248">
          <p15:clr>
            <a:srgbClr val="A4A3A4"/>
          </p15:clr>
        </p15:guide>
      </p15:sldGuideLst>
    </p:ext>
    <p:ext uri="GoogleSlidesCustomDataVersion2">
      <go:slidesCustomData xmlns:go="http://customooxmlschemas.google.com/" r:id="rId7" roundtripDataSignature="AMtx7mhfmiyY5UW8ff0o+7SCYQP2PRmZ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1316"/>
        <p:guide pos="1324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238450" y="685800"/>
            <a:ext cx="43818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Fix Overview diagram</a:t>
            </a:r>
            <a:endParaRPr/>
          </a:p>
          <a:p>
            <a:pPr indent="0" lvl="0" marL="0" rtl="0" algn="l">
              <a:lnSpc>
                <a:spcPct val="100000"/>
              </a:lnSpc>
              <a:spcBef>
                <a:spcPts val="0"/>
              </a:spcBef>
              <a:spcAft>
                <a:spcPts val="0"/>
              </a:spcAft>
              <a:buSzPts val="1100"/>
              <a:buNone/>
            </a:pPr>
            <a:r>
              <a:t/>
            </a:r>
            <a:endParaRPr/>
          </a:p>
        </p:txBody>
      </p:sp>
      <p:sp>
        <p:nvSpPr>
          <p:cNvPr id="31" name="Google Shape;31;p1:notes"/>
          <p:cNvSpPr/>
          <p:nvPr>
            <p:ph idx="2" type="sldImg"/>
          </p:nvPr>
        </p:nvSpPr>
        <p:spPr>
          <a:xfrm>
            <a:off x="1238258" y="685800"/>
            <a:ext cx="4381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Image">
  <p:cSld name="Background Image">
    <p:spTree>
      <p:nvGrpSpPr>
        <p:cNvPr id="15" name="Shape 15"/>
        <p:cNvGrpSpPr/>
        <p:nvPr/>
      </p:nvGrpSpPr>
      <p:grpSpPr>
        <a:xfrm>
          <a:off x="0" y="0"/>
          <a:ext cx="0" cy="0"/>
          <a:chOff x="0" y="0"/>
          <a:chExt cx="0" cy="0"/>
        </a:xfrm>
      </p:grpSpPr>
      <p:cxnSp>
        <p:nvCxnSpPr>
          <p:cNvPr id="16" name="Google Shape;16;p3"/>
          <p:cNvCxnSpPr/>
          <p:nvPr/>
        </p:nvCxnSpPr>
        <p:spPr>
          <a:xfrm>
            <a:off x="10703683" y="6431836"/>
            <a:ext cx="0" cy="24886200"/>
          </a:xfrm>
          <a:prstGeom prst="straightConnector1">
            <a:avLst/>
          </a:prstGeom>
          <a:noFill/>
          <a:ln cap="flat" cmpd="tri" w="76200">
            <a:solidFill>
              <a:schemeClr val="dk1"/>
            </a:solidFill>
            <a:prstDash val="solid"/>
            <a:round/>
            <a:headEnd len="med" w="med" type="oval"/>
            <a:tailEnd len="med" w="med" type="oval"/>
          </a:ln>
        </p:spPr>
      </p:cxnSp>
      <p:cxnSp>
        <p:nvCxnSpPr>
          <p:cNvPr id="17" name="Google Shape;17;p3"/>
          <p:cNvCxnSpPr/>
          <p:nvPr/>
        </p:nvCxnSpPr>
        <p:spPr>
          <a:xfrm>
            <a:off x="10836606" y="7009765"/>
            <a:ext cx="876300" cy="914400"/>
          </a:xfrm>
          <a:prstGeom prst="straightConnector1">
            <a:avLst/>
          </a:prstGeom>
          <a:noFill/>
          <a:ln>
            <a:noFill/>
          </a:ln>
        </p:spPr>
      </p:cxnSp>
      <p:cxnSp>
        <p:nvCxnSpPr>
          <p:cNvPr id="18" name="Google Shape;18;p3"/>
          <p:cNvCxnSpPr/>
          <p:nvPr/>
        </p:nvCxnSpPr>
        <p:spPr>
          <a:xfrm>
            <a:off x="21031200" y="6431836"/>
            <a:ext cx="0" cy="24886200"/>
          </a:xfrm>
          <a:prstGeom prst="straightConnector1">
            <a:avLst/>
          </a:prstGeom>
          <a:noFill/>
          <a:ln cap="flat" cmpd="tri" w="76200">
            <a:solidFill>
              <a:schemeClr val="dk1"/>
            </a:solidFill>
            <a:prstDash val="solid"/>
            <a:round/>
            <a:headEnd len="med" w="med" type="oval"/>
            <a:tailEnd len="med" w="med" type="oval"/>
          </a:ln>
        </p:spPr>
      </p:cxnSp>
      <p:cxnSp>
        <p:nvCxnSpPr>
          <p:cNvPr id="19" name="Google Shape;19;p3"/>
          <p:cNvCxnSpPr/>
          <p:nvPr/>
        </p:nvCxnSpPr>
        <p:spPr>
          <a:xfrm>
            <a:off x="31219828" y="6431836"/>
            <a:ext cx="0" cy="24886200"/>
          </a:xfrm>
          <a:prstGeom prst="straightConnector1">
            <a:avLst/>
          </a:prstGeom>
          <a:noFill/>
          <a:ln cap="flat" cmpd="tri" w="88900">
            <a:solidFill>
              <a:schemeClr val="dk1"/>
            </a:solidFill>
            <a:prstDash val="solid"/>
            <a:round/>
            <a:headEnd len="med" w="med" type="oval"/>
            <a:tailEnd len="med" w="med" type="oval"/>
          </a:ln>
        </p:spPr>
      </p:cxnSp>
      <p:sp>
        <p:nvSpPr>
          <p:cNvPr id="20" name="Google Shape;20;p3"/>
          <p:cNvSpPr txBox="1"/>
          <p:nvPr>
            <p:ph idx="1" type="body"/>
          </p:nvPr>
        </p:nvSpPr>
        <p:spPr>
          <a:xfrm>
            <a:off x="876300" y="6644640"/>
            <a:ext cx="9390000" cy="148743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1" name="Google Shape;21;p3"/>
          <p:cNvSpPr/>
          <p:nvPr>
            <p:ph idx="2" type="pic"/>
          </p:nvPr>
        </p:nvSpPr>
        <p:spPr>
          <a:xfrm>
            <a:off x="876300" y="21843852"/>
            <a:ext cx="9390000" cy="7452600"/>
          </a:xfrm>
          <a:prstGeom prst="rect">
            <a:avLst/>
          </a:prstGeom>
          <a:solidFill>
            <a:srgbClr val="D8D8D8"/>
          </a:solidFill>
          <a:ln>
            <a:noFill/>
          </a:ln>
        </p:spPr>
      </p:sp>
      <p:sp>
        <p:nvSpPr>
          <p:cNvPr id="22" name="Google Shape;22;p3"/>
          <p:cNvSpPr/>
          <p:nvPr>
            <p:ph idx="3" type="pic"/>
          </p:nvPr>
        </p:nvSpPr>
        <p:spPr>
          <a:xfrm>
            <a:off x="31670009" y="17186910"/>
            <a:ext cx="9390000" cy="7452600"/>
          </a:xfrm>
          <a:prstGeom prst="rect">
            <a:avLst/>
          </a:prstGeom>
          <a:solidFill>
            <a:srgbClr val="D8D8D8"/>
          </a:solidFill>
          <a:ln>
            <a:noFill/>
          </a:ln>
        </p:spPr>
      </p:sp>
      <p:sp>
        <p:nvSpPr>
          <p:cNvPr id="23" name="Google Shape;23;p3"/>
          <p:cNvSpPr txBox="1"/>
          <p:nvPr>
            <p:ph idx="4" type="body"/>
          </p:nvPr>
        </p:nvSpPr>
        <p:spPr>
          <a:xfrm>
            <a:off x="11188038" y="6644640"/>
            <a:ext cx="9390000" cy="229209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4" name="Google Shape;24;p3"/>
          <p:cNvSpPr txBox="1"/>
          <p:nvPr>
            <p:ph idx="5" type="body"/>
          </p:nvPr>
        </p:nvSpPr>
        <p:spPr>
          <a:xfrm>
            <a:off x="21578353" y="6705600"/>
            <a:ext cx="9054900" cy="66447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5" name="Google Shape;25;p3"/>
          <p:cNvSpPr txBox="1"/>
          <p:nvPr>
            <p:ph idx="6" type="body"/>
          </p:nvPr>
        </p:nvSpPr>
        <p:spPr>
          <a:xfrm>
            <a:off x="31670009" y="6705600"/>
            <a:ext cx="9390000" cy="99366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6" name="Google Shape;26;p3"/>
          <p:cNvSpPr txBox="1"/>
          <p:nvPr>
            <p:ph idx="7" type="body"/>
          </p:nvPr>
        </p:nvSpPr>
        <p:spPr>
          <a:xfrm>
            <a:off x="31670009" y="25130235"/>
            <a:ext cx="9390000" cy="42525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3"/>
          <p:cNvSpPr/>
          <p:nvPr>
            <p:ph idx="8" type="chart"/>
          </p:nvPr>
        </p:nvSpPr>
        <p:spPr>
          <a:xfrm>
            <a:off x="21575458" y="14194529"/>
            <a:ext cx="9060300" cy="6942000"/>
          </a:xfrm>
          <a:prstGeom prst="rect">
            <a:avLst/>
          </a:prstGeom>
          <a:noFill/>
          <a:ln>
            <a:noFill/>
          </a:ln>
        </p:spPr>
        <p:txBody>
          <a:bodyPr anchorCtr="0" anchor="t" bIns="52225" lIns="104475" spcFirstLastPara="1" rIns="104475" wrap="square" tIns="52225">
            <a:noAutofit/>
          </a:bodyPr>
          <a:lstStyle>
            <a:lvl1pPr lvl="0" marR="0" algn="l">
              <a:lnSpc>
                <a:spcPct val="90000"/>
              </a:lnSpc>
              <a:spcBef>
                <a:spcPts val="10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1pPr>
            <a:lvl2pPr lvl="1" marR="0" algn="l">
              <a:lnSpc>
                <a:spcPct val="90000"/>
              </a:lnSpc>
              <a:spcBef>
                <a:spcPts val="500"/>
              </a:spcBef>
              <a:spcAft>
                <a:spcPts val="0"/>
              </a:spcAft>
              <a:buClr>
                <a:schemeClr val="dk1"/>
              </a:buClr>
              <a:buSzPts val="2300"/>
              <a:buFont typeface="Arial"/>
              <a:buChar char="•"/>
              <a:defRPr b="0" i="0" sz="2300" u="none" cap="none" strike="noStrike">
                <a:solidFill>
                  <a:schemeClr val="dk1"/>
                </a:solidFill>
                <a:latin typeface="Arial"/>
                <a:ea typeface="Arial"/>
                <a:cs typeface="Arial"/>
                <a:sym typeface="Arial"/>
              </a:defRPr>
            </a:lvl2pPr>
            <a:lvl3pPr lvl="2"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8" name="Google Shape;28;p3"/>
          <p:cNvSpPr txBox="1"/>
          <p:nvPr>
            <p:ph idx="9" type="body"/>
          </p:nvPr>
        </p:nvSpPr>
        <p:spPr>
          <a:xfrm>
            <a:off x="21575459" y="21847581"/>
            <a:ext cx="9025200" cy="75963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2020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p:nvPr/>
        </p:nvSpPr>
        <p:spPr>
          <a:xfrm>
            <a:off x="0" y="0"/>
            <a:ext cx="42062400" cy="5486400"/>
          </a:xfrm>
          <a:prstGeom prst="rect">
            <a:avLst/>
          </a:prstGeom>
          <a:solidFill>
            <a:srgbClr val="5D0025"/>
          </a:solidFill>
          <a:ln>
            <a:noFill/>
          </a:ln>
        </p:spPr>
        <p:txBody>
          <a:bodyPr anchorCtr="0" anchor="ctr" bIns="52225" lIns="104475" spcFirstLastPara="1" rIns="104475" wrap="square" tIns="52225">
            <a:noAutofit/>
          </a:bodyPr>
          <a:lstStyle/>
          <a:p>
            <a:pPr indent="0" lvl="0" marL="0" marR="0" rtl="0" algn="l">
              <a:lnSpc>
                <a:spcPct val="100000"/>
              </a:lnSpc>
              <a:spcBef>
                <a:spcPts val="0"/>
              </a:spcBef>
              <a:spcAft>
                <a:spcPts val="0"/>
              </a:spcAft>
              <a:buClr>
                <a:srgbClr val="000000"/>
              </a:buClr>
              <a:buSzPts val="3300"/>
              <a:buFont typeface="Arial"/>
              <a:buNone/>
            </a:pPr>
            <a:r>
              <a:t/>
            </a:r>
            <a:endParaRPr b="0" i="0" sz="3300" u="none" cap="none" strike="noStrike">
              <a:solidFill>
                <a:schemeClr val="dk1"/>
              </a:solidFill>
              <a:latin typeface="Arial"/>
              <a:ea typeface="Arial"/>
              <a:cs typeface="Arial"/>
              <a:sym typeface="Arial"/>
            </a:endParaRPr>
          </a:p>
        </p:txBody>
      </p:sp>
      <p:sp>
        <p:nvSpPr>
          <p:cNvPr id="7" name="Google Shape;7;p2"/>
          <p:cNvSpPr/>
          <p:nvPr/>
        </p:nvSpPr>
        <p:spPr>
          <a:xfrm>
            <a:off x="0" y="5257801"/>
            <a:ext cx="42062400" cy="265200"/>
          </a:xfrm>
          <a:prstGeom prst="rect">
            <a:avLst/>
          </a:prstGeom>
          <a:solidFill>
            <a:srgbClr val="8D5067"/>
          </a:solidFill>
          <a:ln>
            <a:noFill/>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000000"/>
              </a:buClr>
              <a:buSzPts val="8300"/>
              <a:buFont typeface="Arial"/>
              <a:buNone/>
            </a:pPr>
            <a:r>
              <a:t/>
            </a:r>
            <a:endParaRPr b="0" i="0" sz="8300" u="none" cap="none" strike="noStrike">
              <a:solidFill>
                <a:schemeClr val="lt1"/>
              </a:solidFill>
              <a:latin typeface="Arial"/>
              <a:ea typeface="Arial"/>
              <a:cs typeface="Arial"/>
              <a:sym typeface="Arial"/>
            </a:endParaRPr>
          </a:p>
        </p:txBody>
      </p:sp>
      <p:sp>
        <p:nvSpPr>
          <p:cNvPr id="8" name="Google Shape;8;p2"/>
          <p:cNvSpPr/>
          <p:nvPr/>
        </p:nvSpPr>
        <p:spPr>
          <a:xfrm>
            <a:off x="0" y="31470600"/>
            <a:ext cx="42062400" cy="1447800"/>
          </a:xfrm>
          <a:prstGeom prst="rect">
            <a:avLst/>
          </a:prstGeom>
          <a:solidFill>
            <a:srgbClr val="5D0025"/>
          </a:solidFill>
          <a:ln>
            <a:noFill/>
          </a:ln>
        </p:spPr>
        <p:txBody>
          <a:bodyPr anchorCtr="0" anchor="ctr" bIns="52225" lIns="104475" spcFirstLastPara="1" rIns="104475" wrap="square" tIns="52225">
            <a:noAutofit/>
          </a:bodyPr>
          <a:lstStyle/>
          <a:p>
            <a:pPr indent="0" lvl="0" marL="0" marR="0" rtl="0" algn="l">
              <a:lnSpc>
                <a:spcPct val="100000"/>
              </a:lnSpc>
              <a:spcBef>
                <a:spcPts val="0"/>
              </a:spcBef>
              <a:spcAft>
                <a:spcPts val="0"/>
              </a:spcAft>
              <a:buClr>
                <a:srgbClr val="000000"/>
              </a:buClr>
              <a:buSzPts val="3300"/>
              <a:buFont typeface="Arial"/>
              <a:buNone/>
            </a:pPr>
            <a:r>
              <a:t/>
            </a:r>
            <a:endParaRPr b="0" i="0" sz="3300" u="none" cap="none" strike="noStrike">
              <a:solidFill>
                <a:schemeClr val="dk1"/>
              </a:solidFill>
              <a:latin typeface="Arial"/>
              <a:ea typeface="Arial"/>
              <a:cs typeface="Arial"/>
              <a:sym typeface="Arial"/>
            </a:endParaRPr>
          </a:p>
        </p:txBody>
      </p:sp>
      <p:cxnSp>
        <p:nvCxnSpPr>
          <p:cNvPr id="9" name="Google Shape;9;p2"/>
          <p:cNvCxnSpPr/>
          <p:nvPr/>
        </p:nvCxnSpPr>
        <p:spPr>
          <a:xfrm>
            <a:off x="30228959" y="30837464"/>
            <a:ext cx="0" cy="1588200"/>
          </a:xfrm>
          <a:prstGeom prst="straightConnector1">
            <a:avLst/>
          </a:prstGeom>
          <a:noFill/>
          <a:ln cap="flat" cmpd="sng" w="25400">
            <a:solidFill>
              <a:schemeClr val="lt1"/>
            </a:solidFill>
            <a:prstDash val="dash"/>
            <a:miter lim="800000"/>
            <a:headEnd len="sm" w="sm" type="none"/>
            <a:tailEnd len="sm" w="sm" type="none"/>
          </a:ln>
        </p:spPr>
      </p:cxnSp>
      <p:pic>
        <p:nvPicPr>
          <p:cNvPr id="10" name="Google Shape;10;p2"/>
          <p:cNvPicPr preferRelativeResize="0"/>
          <p:nvPr/>
        </p:nvPicPr>
        <p:blipFill rotWithShape="1">
          <a:blip r:embed="rId1">
            <a:alphaModFix/>
          </a:blip>
          <a:srcRect b="0" l="0" r="0" t="0"/>
          <a:stretch/>
        </p:blipFill>
        <p:spPr>
          <a:xfrm>
            <a:off x="1" y="0"/>
            <a:ext cx="35767025" cy="2503724"/>
          </a:xfrm>
          <a:prstGeom prst="rect">
            <a:avLst/>
          </a:prstGeom>
          <a:noFill/>
          <a:ln>
            <a:noFill/>
          </a:ln>
        </p:spPr>
      </p:pic>
      <p:pic>
        <p:nvPicPr>
          <p:cNvPr id="11" name="Google Shape;11;p2"/>
          <p:cNvPicPr preferRelativeResize="0"/>
          <p:nvPr/>
        </p:nvPicPr>
        <p:blipFill rotWithShape="1">
          <a:blip r:embed="rId1">
            <a:alphaModFix/>
          </a:blip>
          <a:srcRect b="0" l="65059" r="0" t="0"/>
          <a:stretch/>
        </p:blipFill>
        <p:spPr>
          <a:xfrm>
            <a:off x="1" y="31434024"/>
            <a:ext cx="42109031" cy="1471433"/>
          </a:xfrm>
          <a:prstGeom prst="rect">
            <a:avLst/>
          </a:prstGeom>
          <a:noFill/>
          <a:ln>
            <a:noFill/>
          </a:ln>
        </p:spPr>
      </p:pic>
      <p:pic>
        <p:nvPicPr>
          <p:cNvPr id="12" name="Google Shape;12;p2"/>
          <p:cNvPicPr preferRelativeResize="0"/>
          <p:nvPr/>
        </p:nvPicPr>
        <p:blipFill rotWithShape="1">
          <a:blip r:embed="rId1">
            <a:alphaModFix/>
          </a:blip>
          <a:srcRect b="0" l="65059" r="0" t="0"/>
          <a:stretch/>
        </p:blipFill>
        <p:spPr>
          <a:xfrm>
            <a:off x="1" y="2503724"/>
            <a:ext cx="38404800" cy="2982676"/>
          </a:xfrm>
          <a:prstGeom prst="rect">
            <a:avLst/>
          </a:prstGeom>
          <a:noFill/>
          <a:ln>
            <a:noFill/>
          </a:ln>
        </p:spPr>
      </p:pic>
      <p:pic>
        <p:nvPicPr>
          <p:cNvPr id="13" name="Google Shape;13;p2"/>
          <p:cNvPicPr preferRelativeResize="0"/>
          <p:nvPr/>
        </p:nvPicPr>
        <p:blipFill rotWithShape="1">
          <a:blip r:embed="rId1">
            <a:alphaModFix/>
          </a:blip>
          <a:srcRect b="0" l="65059" r="0" t="0"/>
          <a:stretch/>
        </p:blipFill>
        <p:spPr>
          <a:xfrm>
            <a:off x="34650619" y="0"/>
            <a:ext cx="7411781" cy="2982676"/>
          </a:xfrm>
          <a:prstGeom prst="rect">
            <a:avLst/>
          </a:prstGeom>
          <a:noFill/>
          <a:ln>
            <a:noFill/>
          </a:ln>
        </p:spPr>
      </p:pic>
      <p:pic>
        <p:nvPicPr>
          <p:cNvPr id="14" name="Google Shape;14;p2"/>
          <p:cNvPicPr preferRelativeResize="0"/>
          <p:nvPr/>
        </p:nvPicPr>
        <p:blipFill rotWithShape="1">
          <a:blip r:embed="rId1">
            <a:alphaModFix/>
          </a:blip>
          <a:srcRect b="0" l="65059" r="0" t="0"/>
          <a:stretch/>
        </p:blipFill>
        <p:spPr>
          <a:xfrm>
            <a:off x="1" y="31470601"/>
            <a:ext cx="42062400" cy="9550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1.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6.png"/><Relationship Id="rId1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14.png"/><Relationship Id="rId7" Type="http://schemas.openxmlformats.org/officeDocument/2006/relationships/image" Target="../media/image2.png"/><Relationship Id="rId8"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 name="Shape 32"/>
        <p:cNvGrpSpPr/>
        <p:nvPr/>
      </p:nvGrpSpPr>
      <p:grpSpPr>
        <a:xfrm>
          <a:off x="0" y="0"/>
          <a:ext cx="0" cy="0"/>
          <a:chOff x="0" y="0"/>
          <a:chExt cx="0" cy="0"/>
        </a:xfrm>
      </p:grpSpPr>
      <p:pic>
        <p:nvPicPr>
          <p:cNvPr id="33" name="Google Shape;33;p1"/>
          <p:cNvPicPr preferRelativeResize="0"/>
          <p:nvPr/>
        </p:nvPicPr>
        <p:blipFill rotWithShape="1">
          <a:blip r:embed="rId3">
            <a:alphaModFix/>
          </a:blip>
          <a:srcRect b="0" l="0" r="0" t="8466"/>
          <a:stretch/>
        </p:blipFill>
        <p:spPr>
          <a:xfrm>
            <a:off x="15806292" y="18382487"/>
            <a:ext cx="4915758" cy="4389725"/>
          </a:xfrm>
          <a:prstGeom prst="rect">
            <a:avLst/>
          </a:prstGeom>
          <a:noFill/>
          <a:ln>
            <a:noFill/>
          </a:ln>
        </p:spPr>
      </p:pic>
      <p:sp>
        <p:nvSpPr>
          <p:cNvPr id="34" name="Google Shape;34;p1"/>
          <p:cNvSpPr/>
          <p:nvPr/>
        </p:nvSpPr>
        <p:spPr>
          <a:xfrm>
            <a:off x="1618457" y="1207050"/>
            <a:ext cx="38984700" cy="3423600"/>
          </a:xfrm>
          <a:prstGeom prst="rect">
            <a:avLst/>
          </a:prstGeom>
          <a:noFill/>
          <a:ln>
            <a:noFill/>
          </a:ln>
        </p:spPr>
        <p:txBody>
          <a:bodyPr anchorCtr="0" anchor="t" bIns="44525" lIns="89050" spcFirstLastPara="1" rIns="89050" wrap="square" tIns="44525">
            <a:spAutoFit/>
          </a:bodyPr>
          <a:lstStyle/>
          <a:p>
            <a:pPr indent="0" lvl="0" marL="0" marR="0" rtl="0" algn="ctr">
              <a:lnSpc>
                <a:spcPct val="100000"/>
              </a:lnSpc>
              <a:spcBef>
                <a:spcPts val="0"/>
              </a:spcBef>
              <a:spcAft>
                <a:spcPts val="0"/>
              </a:spcAft>
              <a:buClr>
                <a:srgbClr val="000000"/>
              </a:buClr>
              <a:buSzPts val="10100"/>
              <a:buFont typeface="Arial"/>
              <a:buNone/>
            </a:pPr>
            <a:r>
              <a:rPr b="1" lang="en-US" sz="10100">
                <a:solidFill>
                  <a:schemeClr val="lt1"/>
                </a:solidFill>
                <a:latin typeface="Times New Roman"/>
                <a:ea typeface="Times New Roman"/>
                <a:cs typeface="Times New Roman"/>
                <a:sym typeface="Times New Roman"/>
              </a:rPr>
              <a:t>SolarEye Security System</a:t>
            </a:r>
            <a:r>
              <a:rPr b="1" i="0" lang="en-US" sz="10100" u="none" cap="none" strike="noStrike">
                <a:solidFill>
                  <a:schemeClr val="lt1"/>
                </a:solidFill>
                <a:latin typeface="Times New Roman"/>
                <a:ea typeface="Times New Roman"/>
                <a:cs typeface="Times New Roman"/>
                <a:sym typeface="Times New Roman"/>
              </a:rPr>
              <a:t> </a:t>
            </a:r>
            <a:endParaRPr b="1" sz="10100">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100"/>
              <a:buFont typeface="Arial"/>
              <a:buNone/>
            </a:pPr>
            <a:r>
              <a:rPr b="1" lang="en-US" sz="6200">
                <a:solidFill>
                  <a:schemeClr val="lt1"/>
                </a:solidFill>
                <a:latin typeface="Times New Roman"/>
                <a:ea typeface="Times New Roman"/>
                <a:cs typeface="Times New Roman"/>
                <a:sym typeface="Times New Roman"/>
              </a:rPr>
              <a:t>Alex Allahar, Zayan Prasla, Jackson Kitchel, Victor Igbokwe</a:t>
            </a:r>
            <a:endParaRPr b="1" i="0" sz="62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2300"/>
              </a:spcBef>
              <a:spcAft>
                <a:spcPts val="0"/>
              </a:spcAft>
              <a:buClr>
                <a:srgbClr val="000000"/>
              </a:buClr>
              <a:buSzPts val="6200"/>
              <a:buFont typeface="Arial"/>
              <a:buNone/>
            </a:pPr>
            <a:r>
              <a:rPr b="1" lang="en-US" sz="6200">
                <a:solidFill>
                  <a:schemeClr val="lt1"/>
                </a:solidFill>
                <a:latin typeface="Times New Roman"/>
                <a:ea typeface="Times New Roman"/>
                <a:cs typeface="Times New Roman"/>
                <a:sym typeface="Times New Roman"/>
              </a:rPr>
              <a:t>Wonhyeok Jang</a:t>
            </a:r>
            <a:r>
              <a:rPr b="1" i="0" lang="en-US" sz="6200" u="none" cap="none" strike="noStrike">
                <a:solidFill>
                  <a:schemeClr val="lt1"/>
                </a:solidFill>
                <a:latin typeface="Times New Roman"/>
                <a:ea typeface="Times New Roman"/>
                <a:cs typeface="Times New Roman"/>
                <a:sym typeface="Times New Roman"/>
              </a:rPr>
              <a:t> </a:t>
            </a:r>
            <a:endParaRPr i="0" sz="1600" u="none" cap="none" strike="noStrike">
              <a:solidFill>
                <a:srgbClr val="000000"/>
              </a:solidFill>
              <a:latin typeface="Times New Roman"/>
              <a:ea typeface="Times New Roman"/>
              <a:cs typeface="Times New Roman"/>
              <a:sym typeface="Times New Roman"/>
            </a:endParaRPr>
          </a:p>
        </p:txBody>
      </p:sp>
      <p:sp>
        <p:nvSpPr>
          <p:cNvPr id="35" name="Google Shape;35;p1"/>
          <p:cNvSpPr txBox="1"/>
          <p:nvPr/>
        </p:nvSpPr>
        <p:spPr>
          <a:xfrm>
            <a:off x="876300" y="7003709"/>
            <a:ext cx="9420600" cy="536400"/>
          </a:xfrm>
          <a:prstGeom prst="rect">
            <a:avLst/>
          </a:prstGeom>
          <a:noFill/>
          <a:ln>
            <a:noFill/>
          </a:ln>
        </p:spPr>
        <p:txBody>
          <a:bodyPr anchorCtr="0" anchor="t" bIns="52225" lIns="104475" spcFirstLastPara="1" rIns="104475" wrap="square" tIns="522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36" name="Google Shape;36;p1"/>
          <p:cNvSpPr/>
          <p:nvPr/>
        </p:nvSpPr>
        <p:spPr>
          <a:xfrm>
            <a:off x="16922336" y="15705536"/>
            <a:ext cx="238275" cy="976818"/>
          </a:xfrm>
          <a:custGeom>
            <a:rect b="b" l="l" r="r" t="t"/>
            <a:pathLst>
              <a:path extrusionOk="0" h="1641711" w="387439">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000000"/>
              </a:buClr>
              <a:buSzPts val="7100"/>
              <a:buFont typeface="Arial"/>
              <a:buNone/>
            </a:pPr>
            <a:r>
              <a:t/>
            </a:r>
            <a:endParaRPr b="0" i="0" sz="7100" u="none" cap="none" strike="noStrike">
              <a:solidFill>
                <a:schemeClr val="lt1"/>
              </a:solidFill>
              <a:latin typeface="Arial"/>
              <a:ea typeface="Arial"/>
              <a:cs typeface="Arial"/>
              <a:sym typeface="Arial"/>
            </a:endParaRPr>
          </a:p>
        </p:txBody>
      </p:sp>
      <p:sp>
        <p:nvSpPr>
          <p:cNvPr id="37" name="Google Shape;37;p1"/>
          <p:cNvSpPr/>
          <p:nvPr/>
        </p:nvSpPr>
        <p:spPr>
          <a:xfrm rot="10800000">
            <a:off x="19066719" y="14719040"/>
            <a:ext cx="238275" cy="976818"/>
          </a:xfrm>
          <a:custGeom>
            <a:rect b="b" l="l" r="r" t="t"/>
            <a:pathLst>
              <a:path extrusionOk="0" h="1641711" w="387439">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000000"/>
              </a:buClr>
              <a:buSzPts val="7100"/>
              <a:buFont typeface="Arial"/>
              <a:buNone/>
            </a:pPr>
            <a:r>
              <a:t/>
            </a:r>
            <a:endParaRPr b="0" i="0" sz="7100" u="none" cap="none" strike="noStrike">
              <a:solidFill>
                <a:schemeClr val="lt1"/>
              </a:solidFill>
              <a:latin typeface="Arial"/>
              <a:ea typeface="Arial"/>
              <a:cs typeface="Arial"/>
              <a:sym typeface="Arial"/>
            </a:endParaRPr>
          </a:p>
        </p:txBody>
      </p:sp>
      <p:pic>
        <p:nvPicPr>
          <p:cNvPr id="38" name="Google Shape;38;p1"/>
          <p:cNvPicPr preferRelativeResize="0"/>
          <p:nvPr/>
        </p:nvPicPr>
        <p:blipFill rotWithShape="1">
          <a:blip r:embed="rId4">
            <a:alphaModFix/>
          </a:blip>
          <a:srcRect b="0" l="0" r="0" t="0"/>
          <a:stretch/>
        </p:blipFill>
        <p:spPr>
          <a:xfrm>
            <a:off x="11164028" y="17701809"/>
            <a:ext cx="604330" cy="604330"/>
          </a:xfrm>
          <a:prstGeom prst="rect">
            <a:avLst/>
          </a:prstGeom>
          <a:noFill/>
          <a:ln>
            <a:noFill/>
          </a:ln>
        </p:spPr>
      </p:pic>
      <p:pic>
        <p:nvPicPr>
          <p:cNvPr id="39" name="Google Shape;39;p1"/>
          <p:cNvPicPr preferRelativeResize="0"/>
          <p:nvPr/>
        </p:nvPicPr>
        <p:blipFill rotWithShape="1">
          <a:blip r:embed="rId5">
            <a:alphaModFix/>
          </a:blip>
          <a:srcRect b="0" l="0" r="0" t="0"/>
          <a:stretch/>
        </p:blipFill>
        <p:spPr>
          <a:xfrm>
            <a:off x="15723071" y="17701812"/>
            <a:ext cx="678029" cy="604330"/>
          </a:xfrm>
          <a:prstGeom prst="rect">
            <a:avLst/>
          </a:prstGeom>
          <a:noFill/>
          <a:ln>
            <a:noFill/>
          </a:ln>
        </p:spPr>
      </p:pic>
      <p:cxnSp>
        <p:nvCxnSpPr>
          <p:cNvPr id="40" name="Google Shape;40;p1"/>
          <p:cNvCxnSpPr/>
          <p:nvPr/>
        </p:nvCxnSpPr>
        <p:spPr>
          <a:xfrm>
            <a:off x="670923" y="16682345"/>
            <a:ext cx="9376500" cy="0"/>
          </a:xfrm>
          <a:prstGeom prst="straightConnector1">
            <a:avLst/>
          </a:prstGeom>
          <a:noFill/>
          <a:ln cap="flat" cmpd="sng" w="25400">
            <a:solidFill>
              <a:schemeClr val="dk1"/>
            </a:solidFill>
            <a:prstDash val="dash"/>
            <a:round/>
            <a:headEnd len="sm" w="sm" type="none"/>
            <a:tailEnd len="sm" w="sm" type="none"/>
          </a:ln>
        </p:spPr>
      </p:cxnSp>
      <p:cxnSp>
        <p:nvCxnSpPr>
          <p:cNvPr id="41" name="Google Shape;41;p1"/>
          <p:cNvCxnSpPr/>
          <p:nvPr/>
        </p:nvCxnSpPr>
        <p:spPr>
          <a:xfrm>
            <a:off x="-12773069" y="6404369"/>
            <a:ext cx="9420600" cy="0"/>
          </a:xfrm>
          <a:prstGeom prst="straightConnector1">
            <a:avLst/>
          </a:prstGeom>
          <a:noFill/>
          <a:ln cap="flat" cmpd="sng" w="25400">
            <a:solidFill>
              <a:schemeClr val="dk1"/>
            </a:solidFill>
            <a:prstDash val="dash"/>
            <a:round/>
            <a:headEnd len="sm" w="sm" type="none"/>
            <a:tailEnd len="sm" w="sm" type="none"/>
          </a:ln>
        </p:spPr>
      </p:cxnSp>
      <p:cxnSp>
        <p:nvCxnSpPr>
          <p:cNvPr id="42" name="Google Shape;42;p1"/>
          <p:cNvCxnSpPr/>
          <p:nvPr/>
        </p:nvCxnSpPr>
        <p:spPr>
          <a:xfrm>
            <a:off x="-12697933" y="13105655"/>
            <a:ext cx="9270300" cy="0"/>
          </a:xfrm>
          <a:prstGeom prst="straightConnector1">
            <a:avLst/>
          </a:prstGeom>
          <a:noFill/>
          <a:ln cap="flat" cmpd="sng" w="25400">
            <a:solidFill>
              <a:schemeClr val="dk1"/>
            </a:solidFill>
            <a:prstDash val="dash"/>
            <a:round/>
            <a:headEnd len="sm" w="sm" type="none"/>
            <a:tailEnd len="sm" w="sm" type="none"/>
          </a:ln>
        </p:spPr>
      </p:cxnSp>
      <p:sp>
        <p:nvSpPr>
          <p:cNvPr id="43" name="Google Shape;43;p1"/>
          <p:cNvSpPr txBox="1"/>
          <p:nvPr/>
        </p:nvSpPr>
        <p:spPr>
          <a:xfrm>
            <a:off x="876306" y="15495350"/>
            <a:ext cx="9420600" cy="598200"/>
          </a:xfrm>
          <a:prstGeom prst="rect">
            <a:avLst/>
          </a:prstGeom>
          <a:solidFill>
            <a:schemeClr val="lt1">
              <a:alpha val="41568"/>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1. </a:t>
            </a:r>
            <a:r>
              <a:rPr b="1" i="1" lang="en-US" sz="3200">
                <a:solidFill>
                  <a:schemeClr val="dk1"/>
                </a:solidFill>
                <a:latin typeface="Times New Roman"/>
                <a:ea typeface="Times New Roman"/>
                <a:cs typeface="Times New Roman"/>
                <a:sym typeface="Times New Roman"/>
              </a:rPr>
              <a:t>System Diagram</a:t>
            </a:r>
            <a:r>
              <a:rPr b="1" i="1" lang="en-US" sz="3200" u="none" cap="none" strike="noStrike">
                <a:solidFill>
                  <a:schemeClr val="dk1"/>
                </a:solidFill>
                <a:latin typeface="Times New Roman"/>
                <a:ea typeface="Times New Roman"/>
                <a:cs typeface="Times New Roman"/>
                <a:sym typeface="Times New Roman"/>
              </a:rPr>
              <a:t>  </a:t>
            </a:r>
            <a:endParaRPr b="1" i="0" sz="1600" u="none" cap="none" strike="noStrike">
              <a:solidFill>
                <a:srgbClr val="000000"/>
              </a:solidFill>
              <a:latin typeface="Times New Roman"/>
              <a:ea typeface="Times New Roman"/>
              <a:cs typeface="Times New Roman"/>
              <a:sym typeface="Times New Roman"/>
            </a:endParaRPr>
          </a:p>
        </p:txBody>
      </p:sp>
      <p:sp>
        <p:nvSpPr>
          <p:cNvPr id="44" name="Google Shape;44;p1"/>
          <p:cNvSpPr txBox="1"/>
          <p:nvPr/>
        </p:nvSpPr>
        <p:spPr>
          <a:xfrm>
            <a:off x="396400" y="7037625"/>
            <a:ext cx="9804600" cy="4034400"/>
          </a:xfrm>
          <a:prstGeom prst="rect">
            <a:avLst/>
          </a:prstGeom>
          <a:solidFill>
            <a:schemeClr val="lt1">
              <a:alpha val="62352"/>
            </a:schemeClr>
          </a:solidFill>
          <a:ln>
            <a:noFill/>
          </a:ln>
        </p:spPr>
        <p:txBody>
          <a:bodyPr anchorCtr="0" anchor="t" bIns="52225" lIns="104475" spcFirstLastPara="1" rIns="104475" wrap="square" tIns="52225">
            <a:spAutoFit/>
          </a:bodyPr>
          <a:lstStyle/>
          <a:p>
            <a:pPr indent="0" lvl="0" marL="0" marR="0" rtl="0" algn="l">
              <a:lnSpc>
                <a:spcPct val="95833"/>
              </a:lnSpc>
              <a:spcBef>
                <a:spcPts val="0"/>
              </a:spcBef>
              <a:spcAft>
                <a:spcPts val="0"/>
              </a:spcAft>
              <a:buClr>
                <a:srgbClr val="000000"/>
              </a:buClr>
              <a:buSzPts val="5500"/>
              <a:buFont typeface="Arial"/>
              <a:buNone/>
            </a:pPr>
            <a:r>
              <a:rPr b="1" lang="en-US" sz="5500" u="sng">
                <a:solidFill>
                  <a:srgbClr val="5D0025"/>
                </a:solidFill>
                <a:latin typeface="Times New Roman"/>
                <a:ea typeface="Times New Roman"/>
                <a:cs typeface="Times New Roman"/>
                <a:sym typeface="Times New Roman"/>
              </a:rPr>
              <a:t>System Overiew</a:t>
            </a:r>
            <a:endParaRPr b="1" sz="5500" u="sng">
              <a:solidFill>
                <a:srgbClr val="5D0025"/>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3200"/>
              <a:buFont typeface="Arial"/>
              <a:buNone/>
            </a:pPr>
            <a:r>
              <a:rPr b="1" lang="en-US" sz="3200">
                <a:solidFill>
                  <a:schemeClr val="dk1"/>
                </a:solidFill>
                <a:latin typeface="Times New Roman"/>
                <a:ea typeface="Times New Roman"/>
                <a:cs typeface="Times New Roman"/>
                <a:sym typeface="Times New Roman"/>
              </a:rPr>
              <a:t>The SolarEye Security System uses solar-powered lighting, smart surveillance, and mobile alerts for real-time, automated, and low-maintenance security, ensuring safer, smarter public spaces.</a:t>
            </a:r>
            <a:endParaRPr b="1" sz="3200">
              <a:solidFill>
                <a:schemeClr val="dk1"/>
              </a:solidFill>
              <a:latin typeface="Times New Roman"/>
              <a:ea typeface="Times New Roman"/>
              <a:cs typeface="Times New Roman"/>
              <a:sym typeface="Times New Roman"/>
            </a:endParaRPr>
          </a:p>
          <a:p>
            <a:pPr indent="0" lvl="0" marL="0" marR="0" rtl="0" algn="l">
              <a:lnSpc>
                <a:spcPct val="164285"/>
              </a:lnSpc>
              <a:spcBef>
                <a:spcPts val="1400"/>
              </a:spcBef>
              <a:spcAft>
                <a:spcPts val="0"/>
              </a:spcAft>
              <a:buClr>
                <a:srgbClr val="000000"/>
              </a:buClr>
              <a:buSzPts val="3200"/>
              <a:buFont typeface="Arial"/>
              <a:buNone/>
            </a:pPr>
            <a:r>
              <a:t/>
            </a:r>
            <a:endParaRPr sz="3200">
              <a:solidFill>
                <a:schemeClr val="dk1"/>
              </a:solidFill>
            </a:endParaRPr>
          </a:p>
        </p:txBody>
      </p:sp>
      <p:sp>
        <p:nvSpPr>
          <p:cNvPr id="45" name="Google Shape;45;p1"/>
          <p:cNvSpPr txBox="1"/>
          <p:nvPr/>
        </p:nvSpPr>
        <p:spPr>
          <a:xfrm>
            <a:off x="11164025" y="7003700"/>
            <a:ext cx="9350700" cy="9803400"/>
          </a:xfrm>
          <a:prstGeom prst="rect">
            <a:avLst/>
          </a:prstGeom>
          <a:solidFill>
            <a:schemeClr val="lt1">
              <a:alpha val="62352"/>
            </a:schemeClr>
          </a:solidFill>
          <a:ln cap="flat" cmpd="sng" w="9525">
            <a:solidFill>
              <a:schemeClr val="lt1"/>
            </a:solidFill>
            <a:prstDash val="solid"/>
            <a:round/>
            <a:headEnd len="sm" w="sm" type="none"/>
            <a:tailEnd len="sm" w="sm" type="none"/>
          </a:ln>
        </p:spPr>
        <p:txBody>
          <a:bodyPr anchorCtr="0" anchor="t" bIns="52225" lIns="104475" spcFirstLastPara="1" rIns="104475" wrap="square" tIns="52225">
            <a:spAutoFit/>
          </a:bodyPr>
          <a:lstStyle/>
          <a:p>
            <a:pPr indent="0" lvl="0" marL="0" marR="0" rtl="0" algn="l">
              <a:lnSpc>
                <a:spcPct val="95833"/>
              </a:lnSpc>
              <a:spcBef>
                <a:spcPts val="0"/>
              </a:spcBef>
              <a:spcAft>
                <a:spcPts val="0"/>
              </a:spcAft>
              <a:buClr>
                <a:srgbClr val="000000"/>
              </a:buClr>
              <a:buSzPts val="5500"/>
              <a:buFont typeface="Arial"/>
              <a:buNone/>
            </a:pPr>
            <a:r>
              <a:rPr b="1" lang="en-US" sz="5500" u="sng">
                <a:solidFill>
                  <a:srgbClr val="5D0025"/>
                </a:solidFill>
                <a:latin typeface="Times New Roman"/>
                <a:ea typeface="Times New Roman"/>
                <a:cs typeface="Times New Roman"/>
                <a:sym typeface="Times New Roman"/>
              </a:rPr>
              <a:t>Power Distribution </a:t>
            </a:r>
            <a:endParaRPr sz="3200">
              <a:solidFill>
                <a:schemeClr val="dk2"/>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US" sz="3200">
                <a:solidFill>
                  <a:schemeClr val="dk1"/>
                </a:solidFill>
                <a:latin typeface="Times New Roman"/>
                <a:ea typeface="Times New Roman"/>
                <a:cs typeface="Times New Roman"/>
                <a:sym typeface="Times New Roman"/>
              </a:rPr>
              <a:t>The Power Distribution system draws from a 12-volt battery, the system employs a buck converter </a:t>
            </a:r>
            <a:r>
              <a:rPr b="1" lang="en-US" sz="3200">
                <a:solidFill>
                  <a:schemeClr val="dk2"/>
                </a:solidFill>
                <a:latin typeface="Times New Roman"/>
                <a:ea typeface="Times New Roman"/>
                <a:cs typeface="Times New Roman"/>
                <a:sym typeface="Times New Roman"/>
              </a:rPr>
              <a:t>[see Figure 3(A)]</a:t>
            </a:r>
            <a:r>
              <a:rPr b="1" lang="en-US" sz="3200">
                <a:solidFill>
                  <a:schemeClr val="dk1"/>
                </a:solidFill>
                <a:latin typeface="Times New Roman"/>
                <a:ea typeface="Times New Roman"/>
                <a:cs typeface="Times New Roman"/>
                <a:sym typeface="Times New Roman"/>
              </a:rPr>
              <a:t> to step down the voltage to 5 volts, ensuring stable and efficient power delivery. This regulated 5-volt supply is essential for operating key components, including the charging ports and the Raspberry Pi. To enhance functionality, the LED lights are integrated through a dedicated PCB </a:t>
            </a:r>
            <a:r>
              <a:rPr b="1" lang="en-US" sz="3200">
                <a:solidFill>
                  <a:schemeClr val="dk2"/>
                </a:solidFill>
                <a:latin typeface="Times New Roman"/>
                <a:ea typeface="Times New Roman"/>
                <a:cs typeface="Times New Roman"/>
                <a:sym typeface="Times New Roman"/>
              </a:rPr>
              <a:t>[see Figure 3(B)]</a:t>
            </a:r>
            <a:r>
              <a:rPr b="1" lang="en-US" sz="3200">
                <a:solidFill>
                  <a:schemeClr val="dk1"/>
                </a:solidFill>
                <a:latin typeface="Times New Roman"/>
                <a:ea typeface="Times New Roman"/>
                <a:cs typeface="Times New Roman"/>
                <a:sym typeface="Times New Roman"/>
              </a:rPr>
              <a:t>, which allows the Raspberry Pi to precisely control their operation. This setup enables seamless coordination between power distribution and system control, optimizing performance and efficiency.</a:t>
            </a:r>
            <a:endParaRPr b="1" sz="3200">
              <a:solidFill>
                <a:schemeClr val="dk1"/>
              </a:solidFill>
              <a:latin typeface="Times New Roman"/>
              <a:ea typeface="Times New Roman"/>
              <a:cs typeface="Times New Roman"/>
              <a:sym typeface="Times New Roman"/>
            </a:endParaRPr>
          </a:p>
          <a:p>
            <a:pPr indent="457200" lvl="0" marL="0" marR="0" rtl="0" algn="l">
              <a:lnSpc>
                <a:spcPct val="100000"/>
              </a:lnSpc>
              <a:spcBef>
                <a:spcPts val="1400"/>
              </a:spcBef>
              <a:spcAft>
                <a:spcPts val="0"/>
              </a:spcAft>
              <a:buNone/>
            </a:pPr>
            <a:r>
              <a:rPr b="1" lang="en-US" sz="3200">
                <a:solidFill>
                  <a:schemeClr val="dk1"/>
                </a:solidFill>
                <a:latin typeface="Times New Roman"/>
                <a:ea typeface="Times New Roman"/>
                <a:cs typeface="Times New Roman"/>
                <a:sym typeface="Times New Roman"/>
              </a:rPr>
              <a:t>A: Buck Converter PCB – Efficiently steps down 12V to a stable 5V supply.</a:t>
            </a:r>
            <a:endParaRPr b="1" sz="3200">
              <a:solidFill>
                <a:schemeClr val="dk1"/>
              </a:solidFill>
              <a:latin typeface="Times New Roman"/>
              <a:ea typeface="Times New Roman"/>
              <a:cs typeface="Times New Roman"/>
              <a:sym typeface="Times New Roman"/>
            </a:endParaRPr>
          </a:p>
          <a:p>
            <a:pPr indent="457200" lvl="0" marL="0" marR="0" rtl="0" algn="l">
              <a:lnSpc>
                <a:spcPct val="100000"/>
              </a:lnSpc>
              <a:spcBef>
                <a:spcPts val="1400"/>
              </a:spcBef>
              <a:spcAft>
                <a:spcPts val="0"/>
              </a:spcAft>
              <a:buNone/>
            </a:pPr>
            <a:r>
              <a:rPr b="1" lang="en-US" sz="3200">
                <a:solidFill>
                  <a:schemeClr val="dk1"/>
                </a:solidFill>
                <a:latin typeface="Times New Roman"/>
                <a:ea typeface="Times New Roman"/>
                <a:cs typeface="Times New Roman"/>
                <a:sym typeface="Times New Roman"/>
              </a:rPr>
              <a:t>B: Boost Converter PCB – Enables voltage regulation and control via the Raspberry Pi. </a:t>
            </a:r>
            <a:endParaRPr b="1" i="0" sz="3200" u="none" cap="none" strike="noStrike">
              <a:solidFill>
                <a:srgbClr val="000000"/>
              </a:solidFill>
            </a:endParaRPr>
          </a:p>
        </p:txBody>
      </p:sp>
      <p:sp>
        <p:nvSpPr>
          <p:cNvPr id="46" name="Google Shape;46;p1"/>
          <p:cNvSpPr txBox="1"/>
          <p:nvPr/>
        </p:nvSpPr>
        <p:spPr>
          <a:xfrm>
            <a:off x="31600225" y="7003700"/>
            <a:ext cx="9804600" cy="6687000"/>
          </a:xfrm>
          <a:prstGeom prst="rect">
            <a:avLst/>
          </a:prstGeom>
          <a:solidFill>
            <a:schemeClr val="lt1">
              <a:alpha val="62352"/>
            </a:schemeClr>
          </a:solidFill>
          <a:ln>
            <a:noFill/>
          </a:ln>
        </p:spPr>
        <p:txBody>
          <a:bodyPr anchorCtr="0" anchor="t" bIns="52225" lIns="104475" spcFirstLastPara="1" rIns="104475" wrap="square" tIns="52225">
            <a:spAutoFit/>
          </a:bodyPr>
          <a:lstStyle/>
          <a:p>
            <a:pPr indent="0" lvl="0" marL="0" marR="0" rtl="0" algn="l">
              <a:lnSpc>
                <a:spcPct val="95833"/>
              </a:lnSpc>
              <a:spcBef>
                <a:spcPts val="0"/>
              </a:spcBef>
              <a:spcAft>
                <a:spcPts val="0"/>
              </a:spcAft>
              <a:buClr>
                <a:srgbClr val="000000"/>
              </a:buClr>
              <a:buSzPts val="5500"/>
              <a:buFont typeface="Arial"/>
              <a:buNone/>
            </a:pPr>
            <a:r>
              <a:rPr b="1" lang="en-US" sz="5500" u="sng">
                <a:solidFill>
                  <a:srgbClr val="5D0025"/>
                </a:solidFill>
                <a:latin typeface="Times New Roman"/>
                <a:ea typeface="Times New Roman"/>
                <a:cs typeface="Times New Roman"/>
                <a:sym typeface="Times New Roman"/>
              </a:rPr>
              <a:t>SolarEye App</a:t>
            </a:r>
            <a:endParaRPr i="0" sz="16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3200"/>
              <a:buFont typeface="Arial"/>
              <a:buNone/>
            </a:pPr>
            <a:r>
              <a:rPr b="1" lang="en-US" sz="3200">
                <a:solidFill>
                  <a:schemeClr val="dk1"/>
                </a:solidFill>
                <a:latin typeface="Times New Roman"/>
                <a:ea typeface="Times New Roman"/>
                <a:cs typeface="Times New Roman"/>
                <a:sym typeface="Times New Roman"/>
              </a:rPr>
              <a:t>The SolarEye App interfaces with the SolarEye Security System via Firebase, allowing comprehensive control over the system's camera and LED deterrence features. The home page provides an overview of Event History and Charging Statistics for the Solar Panel and Battery. In the Event History section, all recorded events are listed, complete with timestamps and event types. To ensure maximum security, the app's backend is fortified with email verification, two-step authentication, and SMS verification.</a:t>
            </a:r>
            <a:endParaRPr b="1" i="0" sz="3200" u="none" cap="none" strike="noStrike">
              <a:solidFill>
                <a:srgbClr val="000000"/>
              </a:solidFill>
              <a:latin typeface="Times New Roman"/>
              <a:ea typeface="Times New Roman"/>
              <a:cs typeface="Times New Roman"/>
              <a:sym typeface="Times New Roman"/>
            </a:endParaRPr>
          </a:p>
        </p:txBody>
      </p:sp>
      <p:sp>
        <p:nvSpPr>
          <p:cNvPr id="47" name="Google Shape;47;p1"/>
          <p:cNvSpPr txBox="1"/>
          <p:nvPr/>
        </p:nvSpPr>
        <p:spPr>
          <a:xfrm>
            <a:off x="11351783" y="22848528"/>
            <a:ext cx="9420600" cy="598200"/>
          </a:xfrm>
          <a:prstGeom prst="rect">
            <a:avLst/>
          </a:prstGeom>
          <a:solidFill>
            <a:schemeClr val="lt1">
              <a:alpha val="41568"/>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a:t>
            </a:r>
            <a:r>
              <a:rPr b="1" i="1" lang="en-US" sz="3200">
                <a:solidFill>
                  <a:schemeClr val="dk1"/>
                </a:solidFill>
                <a:latin typeface="Times New Roman"/>
                <a:ea typeface="Times New Roman"/>
                <a:cs typeface="Times New Roman"/>
                <a:sym typeface="Times New Roman"/>
              </a:rPr>
              <a:t>3</a:t>
            </a:r>
            <a:r>
              <a:rPr b="1" i="1" lang="en-US" sz="3200" u="none" cap="none" strike="noStrike">
                <a:solidFill>
                  <a:schemeClr val="dk1"/>
                </a:solidFill>
                <a:latin typeface="Times New Roman"/>
                <a:ea typeface="Times New Roman"/>
                <a:cs typeface="Times New Roman"/>
                <a:sym typeface="Times New Roman"/>
              </a:rPr>
              <a:t>.</a:t>
            </a:r>
            <a:r>
              <a:rPr b="1" i="1" lang="en-US" sz="3200">
                <a:solidFill>
                  <a:schemeClr val="dk1"/>
                </a:solidFill>
                <a:latin typeface="Times New Roman"/>
                <a:ea typeface="Times New Roman"/>
                <a:cs typeface="Times New Roman"/>
                <a:sym typeface="Times New Roman"/>
              </a:rPr>
              <a:t> View of Printed Circuit Boards</a:t>
            </a:r>
            <a:endParaRPr b="1" i="0" sz="1600" u="none" cap="none" strike="noStrike">
              <a:solidFill>
                <a:srgbClr val="000000"/>
              </a:solidFill>
              <a:latin typeface="Times New Roman"/>
              <a:ea typeface="Times New Roman"/>
              <a:cs typeface="Times New Roman"/>
              <a:sym typeface="Times New Roman"/>
            </a:endParaRPr>
          </a:p>
        </p:txBody>
      </p:sp>
      <p:sp>
        <p:nvSpPr>
          <p:cNvPr id="48" name="Google Shape;48;p1"/>
          <p:cNvSpPr txBox="1"/>
          <p:nvPr/>
        </p:nvSpPr>
        <p:spPr>
          <a:xfrm>
            <a:off x="21347172" y="30030110"/>
            <a:ext cx="9420600" cy="10905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a:t>
            </a:r>
            <a:r>
              <a:rPr b="1" i="1" lang="en-US" sz="3200">
                <a:solidFill>
                  <a:schemeClr val="dk1"/>
                </a:solidFill>
                <a:latin typeface="Times New Roman"/>
                <a:ea typeface="Times New Roman"/>
                <a:cs typeface="Times New Roman"/>
                <a:sym typeface="Times New Roman"/>
              </a:rPr>
              <a:t>6.</a:t>
            </a:r>
            <a:r>
              <a:rPr b="1" i="1" lang="en-US" sz="3200" u="none" cap="none" strike="noStrike">
                <a:solidFill>
                  <a:schemeClr val="dk1"/>
                </a:solidFill>
                <a:latin typeface="Times New Roman"/>
                <a:ea typeface="Times New Roman"/>
                <a:cs typeface="Times New Roman"/>
                <a:sym typeface="Times New Roman"/>
              </a:rPr>
              <a:t> </a:t>
            </a:r>
            <a:r>
              <a:rPr b="1" i="1" lang="en-US" sz="3200">
                <a:solidFill>
                  <a:schemeClr val="dk1"/>
                </a:solidFill>
                <a:latin typeface="Times New Roman"/>
                <a:ea typeface="Times New Roman"/>
                <a:cs typeface="Times New Roman"/>
                <a:sym typeface="Times New Roman"/>
              </a:rPr>
              <a:t>Solar Power Charging Circuit Efficiency vs Output Voltage</a:t>
            </a:r>
            <a:r>
              <a:rPr b="1" i="1" lang="en-US" sz="3200" u="none" cap="none" strike="noStrike">
                <a:solidFill>
                  <a:schemeClr val="dk1"/>
                </a:solidFill>
                <a:latin typeface="Times New Roman"/>
                <a:ea typeface="Times New Roman"/>
                <a:cs typeface="Times New Roman"/>
                <a:sym typeface="Times New Roman"/>
              </a:rPr>
              <a:t>  (Taken from MPPT Spec Sheet)</a:t>
            </a:r>
            <a:endParaRPr b="1" i="0" sz="1600" u="none" cap="none" strike="noStrike">
              <a:solidFill>
                <a:srgbClr val="000000"/>
              </a:solidFill>
              <a:latin typeface="Times New Roman"/>
              <a:ea typeface="Times New Roman"/>
              <a:cs typeface="Times New Roman"/>
              <a:sym typeface="Times New Roman"/>
            </a:endParaRPr>
          </a:p>
        </p:txBody>
      </p:sp>
      <p:pic>
        <p:nvPicPr>
          <p:cNvPr id="49" name="Google Shape;49;p1"/>
          <p:cNvPicPr preferRelativeResize="0"/>
          <p:nvPr/>
        </p:nvPicPr>
        <p:blipFill rotWithShape="1">
          <a:blip r:embed="rId6">
            <a:alphaModFix/>
          </a:blip>
          <a:srcRect b="0" l="0" r="0" t="0"/>
          <a:stretch/>
        </p:blipFill>
        <p:spPr>
          <a:xfrm>
            <a:off x="37230627" y="478000"/>
            <a:ext cx="3982200" cy="3982200"/>
          </a:xfrm>
          <a:prstGeom prst="rect">
            <a:avLst/>
          </a:prstGeom>
          <a:noFill/>
          <a:ln>
            <a:noFill/>
          </a:ln>
        </p:spPr>
      </p:pic>
      <p:sp>
        <p:nvSpPr>
          <p:cNvPr id="50" name="Google Shape;50;p1"/>
          <p:cNvSpPr txBox="1"/>
          <p:nvPr/>
        </p:nvSpPr>
        <p:spPr>
          <a:xfrm>
            <a:off x="33286078" y="22848525"/>
            <a:ext cx="64329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a:solidFill>
                  <a:schemeClr val="dk1"/>
                </a:solidFill>
                <a:latin typeface="Times New Roman"/>
                <a:ea typeface="Times New Roman"/>
                <a:cs typeface="Times New Roman"/>
                <a:sym typeface="Times New Roman"/>
              </a:rPr>
              <a:t>Figure 7. SolarEye App Home Page</a:t>
            </a:r>
            <a:endParaRPr b="1" i="0" sz="1600" u="none" cap="none" strike="noStrike">
              <a:solidFill>
                <a:srgbClr val="000000"/>
              </a:solidFill>
              <a:latin typeface="Times New Roman"/>
              <a:ea typeface="Times New Roman"/>
              <a:cs typeface="Times New Roman"/>
              <a:sym typeface="Times New Roman"/>
            </a:endParaRPr>
          </a:p>
        </p:txBody>
      </p:sp>
      <p:sp>
        <p:nvSpPr>
          <p:cNvPr id="51" name="Google Shape;51;p1"/>
          <p:cNvSpPr txBox="1"/>
          <p:nvPr/>
        </p:nvSpPr>
        <p:spPr>
          <a:xfrm>
            <a:off x="332787" y="30061885"/>
            <a:ext cx="94206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a:solidFill>
                  <a:schemeClr val="dk1"/>
                </a:solidFill>
                <a:latin typeface="Times New Roman"/>
                <a:ea typeface="Times New Roman"/>
                <a:cs typeface="Times New Roman"/>
                <a:sym typeface="Times New Roman"/>
              </a:rPr>
              <a:t>Figure 2: Livestream Layout </a:t>
            </a:r>
            <a:endParaRPr b="1" i="0" sz="1600" u="none" cap="none" strike="noStrike">
              <a:solidFill>
                <a:srgbClr val="000000"/>
              </a:solidFill>
              <a:latin typeface="Times New Roman"/>
              <a:ea typeface="Times New Roman"/>
              <a:cs typeface="Times New Roman"/>
              <a:sym typeface="Times New Roman"/>
            </a:endParaRPr>
          </a:p>
        </p:txBody>
      </p:sp>
      <p:pic>
        <p:nvPicPr>
          <p:cNvPr id="52" name="Google Shape;52;p1"/>
          <p:cNvPicPr preferRelativeResize="0"/>
          <p:nvPr/>
        </p:nvPicPr>
        <p:blipFill>
          <a:blip r:embed="rId7">
            <a:alphaModFix/>
          </a:blip>
          <a:stretch>
            <a:fillRect/>
          </a:stretch>
        </p:blipFill>
        <p:spPr>
          <a:xfrm>
            <a:off x="11164022" y="18360600"/>
            <a:ext cx="3982199" cy="4433463"/>
          </a:xfrm>
          <a:prstGeom prst="rect">
            <a:avLst/>
          </a:prstGeom>
          <a:noFill/>
          <a:ln>
            <a:noFill/>
          </a:ln>
        </p:spPr>
      </p:pic>
      <p:pic>
        <p:nvPicPr>
          <p:cNvPr id="53" name="Google Shape;53;p1"/>
          <p:cNvPicPr preferRelativeResize="0"/>
          <p:nvPr/>
        </p:nvPicPr>
        <p:blipFill rotWithShape="1">
          <a:blip r:embed="rId8">
            <a:alphaModFix/>
          </a:blip>
          <a:srcRect b="0" l="0" r="0" t="-9541"/>
          <a:stretch/>
        </p:blipFill>
        <p:spPr>
          <a:xfrm>
            <a:off x="283950" y="23180526"/>
            <a:ext cx="10029502" cy="6881350"/>
          </a:xfrm>
          <a:prstGeom prst="rect">
            <a:avLst/>
          </a:prstGeom>
          <a:noFill/>
          <a:ln>
            <a:noFill/>
          </a:ln>
        </p:spPr>
      </p:pic>
      <p:sp>
        <p:nvSpPr>
          <p:cNvPr id="54" name="Google Shape;54;p1"/>
          <p:cNvSpPr txBox="1"/>
          <p:nvPr/>
        </p:nvSpPr>
        <p:spPr>
          <a:xfrm>
            <a:off x="21382114" y="7037613"/>
            <a:ext cx="9350700" cy="12323700"/>
          </a:xfrm>
          <a:prstGeom prst="rect">
            <a:avLst/>
          </a:prstGeom>
          <a:solidFill>
            <a:schemeClr val="lt1">
              <a:alpha val="62350"/>
            </a:schemeClr>
          </a:solidFill>
          <a:ln cap="flat" cmpd="sng" w="9525">
            <a:solidFill>
              <a:schemeClr val="lt1"/>
            </a:solidFill>
            <a:prstDash val="solid"/>
            <a:round/>
            <a:headEnd len="sm" w="sm" type="none"/>
            <a:tailEnd len="sm" w="sm" type="none"/>
          </a:ln>
        </p:spPr>
        <p:txBody>
          <a:bodyPr anchorCtr="0" anchor="t" bIns="52225" lIns="104475" spcFirstLastPara="1" rIns="104475" wrap="square" tIns="52225">
            <a:spAutoFit/>
          </a:bodyPr>
          <a:lstStyle/>
          <a:p>
            <a:pPr indent="0" lvl="0" marL="0" marR="0" rtl="0" algn="l">
              <a:lnSpc>
                <a:spcPct val="95833"/>
              </a:lnSpc>
              <a:spcBef>
                <a:spcPts val="0"/>
              </a:spcBef>
              <a:spcAft>
                <a:spcPts val="0"/>
              </a:spcAft>
              <a:buClr>
                <a:srgbClr val="000000"/>
              </a:buClr>
              <a:buSzPts val="5500"/>
              <a:buFont typeface="Arial"/>
              <a:buNone/>
            </a:pPr>
            <a:r>
              <a:rPr b="1" lang="en-US" sz="5500" u="sng">
                <a:solidFill>
                  <a:srgbClr val="5D0025"/>
                </a:solidFill>
                <a:latin typeface="Times New Roman"/>
                <a:ea typeface="Times New Roman"/>
                <a:cs typeface="Times New Roman"/>
                <a:sym typeface="Times New Roman"/>
              </a:rPr>
              <a:t>Solar Generation</a:t>
            </a:r>
            <a:endParaRPr sz="3200">
              <a:solidFill>
                <a:schemeClr val="dk2"/>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None/>
            </a:pPr>
            <a:r>
              <a:rPr b="1" lang="en-US" sz="3200">
                <a:solidFill>
                  <a:schemeClr val="dk1"/>
                </a:solidFill>
              </a:rPr>
              <a:t>T</a:t>
            </a:r>
            <a:r>
              <a:rPr b="1" lang="en-US" sz="3200">
                <a:solidFill>
                  <a:schemeClr val="dk1"/>
                </a:solidFill>
                <a:latin typeface="Times New Roman"/>
                <a:ea typeface="Times New Roman"/>
                <a:cs typeface="Times New Roman"/>
                <a:sym typeface="Times New Roman"/>
              </a:rPr>
              <a:t>he Solar power generation subsystem serves as the central power source within our project. The subsystem is responsible for the solar panel, charging circuit PCB and supplying power to the 12-volt battery. The 100W solar panel is connected directly to the charging circuit PCB which regulates the power and supplies the 12-volt battery with a safe and efficient supply voltage. Additionally, the voltage and current supply from the solar panel as well as the battery are monitored by the charging circuit. These data points are then output by the PCB to be read and processed by the Raspberry Pi 4B. The main components of the schematic below are as follows:</a:t>
            </a:r>
            <a:endParaRPr b="1" sz="3200">
              <a:solidFill>
                <a:schemeClr val="dk1"/>
              </a:solidFill>
              <a:latin typeface="Times New Roman"/>
              <a:ea typeface="Times New Roman"/>
              <a:cs typeface="Times New Roman"/>
              <a:sym typeface="Times New Roman"/>
            </a:endParaRPr>
          </a:p>
          <a:p>
            <a:pPr indent="457200" lvl="0" marL="0" marR="0" rtl="0" algn="l">
              <a:lnSpc>
                <a:spcPct val="115000"/>
              </a:lnSpc>
              <a:spcBef>
                <a:spcPts val="1400"/>
              </a:spcBef>
              <a:spcAft>
                <a:spcPts val="0"/>
              </a:spcAft>
              <a:buNone/>
            </a:pPr>
            <a:r>
              <a:rPr b="1" lang="en-US" sz="3200">
                <a:solidFill>
                  <a:schemeClr val="dk1"/>
                </a:solidFill>
                <a:latin typeface="Times New Roman"/>
                <a:ea typeface="Times New Roman"/>
                <a:cs typeface="Times New Roman"/>
                <a:sym typeface="Times New Roman"/>
              </a:rPr>
              <a:t>A:  BQ24650, which serves as the Maximum Power Point Tracking (MPPT) aspect of the circuit</a:t>
            </a:r>
            <a:endParaRPr b="1" sz="3200">
              <a:solidFill>
                <a:schemeClr val="dk1"/>
              </a:solidFill>
              <a:latin typeface="Times New Roman"/>
              <a:ea typeface="Times New Roman"/>
              <a:cs typeface="Times New Roman"/>
              <a:sym typeface="Times New Roman"/>
            </a:endParaRPr>
          </a:p>
          <a:p>
            <a:pPr indent="457200" lvl="0" marL="0" marR="0" rtl="0" algn="l">
              <a:lnSpc>
                <a:spcPct val="115000"/>
              </a:lnSpc>
              <a:spcBef>
                <a:spcPts val="1400"/>
              </a:spcBef>
              <a:spcAft>
                <a:spcPts val="0"/>
              </a:spcAft>
              <a:buNone/>
            </a:pPr>
            <a:r>
              <a:rPr b="1" lang="en-US" sz="3200">
                <a:solidFill>
                  <a:schemeClr val="dk1"/>
                </a:solidFill>
                <a:latin typeface="Times New Roman"/>
                <a:ea typeface="Times New Roman"/>
                <a:cs typeface="Times New Roman"/>
                <a:sym typeface="Times New Roman"/>
              </a:rPr>
              <a:t>B:  ACS723 current sensor IC chips, placed at the </a:t>
            </a:r>
            <a:r>
              <a:rPr b="1" lang="en-US" sz="3200">
                <a:solidFill>
                  <a:schemeClr val="dk1"/>
                </a:solidFill>
                <a:latin typeface="Times New Roman"/>
                <a:ea typeface="Times New Roman"/>
                <a:cs typeface="Times New Roman"/>
                <a:sym typeface="Times New Roman"/>
              </a:rPr>
              <a:t>input</a:t>
            </a:r>
            <a:r>
              <a:rPr b="1" lang="en-US" sz="3200">
                <a:solidFill>
                  <a:schemeClr val="dk1"/>
                </a:solidFill>
                <a:latin typeface="Times New Roman"/>
                <a:ea typeface="Times New Roman"/>
                <a:cs typeface="Times New Roman"/>
                <a:sym typeface="Times New Roman"/>
              </a:rPr>
              <a:t> and output of </a:t>
            </a:r>
            <a:r>
              <a:rPr b="1" lang="en-US" sz="3200">
                <a:solidFill>
                  <a:schemeClr val="dk1"/>
                </a:solidFill>
                <a:latin typeface="Times New Roman"/>
                <a:ea typeface="Times New Roman"/>
                <a:cs typeface="Times New Roman"/>
                <a:sym typeface="Times New Roman"/>
              </a:rPr>
              <a:t>the circuit</a:t>
            </a:r>
            <a:endParaRPr b="1" sz="3200">
              <a:solidFill>
                <a:schemeClr val="dk1"/>
              </a:solidFill>
              <a:latin typeface="Times New Roman"/>
              <a:ea typeface="Times New Roman"/>
              <a:cs typeface="Times New Roman"/>
              <a:sym typeface="Times New Roman"/>
            </a:endParaRPr>
          </a:p>
          <a:p>
            <a:pPr indent="0" lvl="0" marL="0" marR="0" rtl="0" algn="l">
              <a:lnSpc>
                <a:spcPct val="100000"/>
              </a:lnSpc>
              <a:spcBef>
                <a:spcPts val="1400"/>
              </a:spcBef>
              <a:spcAft>
                <a:spcPts val="0"/>
              </a:spcAft>
              <a:buNone/>
            </a:pPr>
            <a:r>
              <a:t/>
            </a:r>
            <a:endParaRPr sz="3200">
              <a:solidFill>
                <a:schemeClr val="dk1"/>
              </a:solidFill>
            </a:endParaRPr>
          </a:p>
        </p:txBody>
      </p:sp>
      <p:sp>
        <p:nvSpPr>
          <p:cNvPr id="55" name="Google Shape;55;p1"/>
          <p:cNvSpPr txBox="1"/>
          <p:nvPr/>
        </p:nvSpPr>
        <p:spPr>
          <a:xfrm>
            <a:off x="11351772" y="30061873"/>
            <a:ext cx="94206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a:t>
            </a:r>
            <a:r>
              <a:rPr b="1" i="1" lang="en-US" sz="3200">
                <a:solidFill>
                  <a:schemeClr val="dk1"/>
                </a:solidFill>
                <a:latin typeface="Times New Roman"/>
                <a:ea typeface="Times New Roman"/>
                <a:cs typeface="Times New Roman"/>
                <a:sym typeface="Times New Roman"/>
              </a:rPr>
              <a:t>4</a:t>
            </a:r>
            <a:r>
              <a:rPr b="1" i="1" lang="en-US" sz="3200" u="none" cap="none" strike="noStrike">
                <a:solidFill>
                  <a:schemeClr val="dk1"/>
                </a:solidFill>
                <a:latin typeface="Times New Roman"/>
                <a:ea typeface="Times New Roman"/>
                <a:cs typeface="Times New Roman"/>
                <a:sym typeface="Times New Roman"/>
              </a:rPr>
              <a:t>.</a:t>
            </a:r>
            <a:r>
              <a:rPr b="1" i="1" lang="en-US" sz="3200">
                <a:solidFill>
                  <a:schemeClr val="dk1"/>
                </a:solidFill>
                <a:latin typeface="Times New Roman"/>
                <a:ea typeface="Times New Roman"/>
                <a:cs typeface="Times New Roman"/>
                <a:sym typeface="Times New Roman"/>
              </a:rPr>
              <a:t>Simulation Results for the Buck Converter</a:t>
            </a:r>
            <a:endParaRPr b="1" i="0" sz="1600" u="none" cap="none" strike="noStrike">
              <a:solidFill>
                <a:srgbClr val="000000"/>
              </a:solidFill>
              <a:latin typeface="Times New Roman"/>
              <a:ea typeface="Times New Roman"/>
              <a:cs typeface="Times New Roman"/>
              <a:sym typeface="Times New Roman"/>
            </a:endParaRPr>
          </a:p>
        </p:txBody>
      </p:sp>
      <p:sp>
        <p:nvSpPr>
          <p:cNvPr id="56" name="Google Shape;56;p1"/>
          <p:cNvSpPr txBox="1"/>
          <p:nvPr/>
        </p:nvSpPr>
        <p:spPr>
          <a:xfrm>
            <a:off x="613850" y="17271150"/>
            <a:ext cx="9420600" cy="5553900"/>
          </a:xfrm>
          <a:prstGeom prst="rect">
            <a:avLst/>
          </a:prstGeom>
          <a:solidFill>
            <a:schemeClr val="lt1">
              <a:alpha val="62350"/>
            </a:schemeClr>
          </a:solidFill>
          <a:ln cap="flat" cmpd="sng" w="9525">
            <a:solidFill>
              <a:schemeClr val="lt1"/>
            </a:solidFill>
            <a:prstDash val="solid"/>
            <a:round/>
            <a:headEnd len="sm" w="sm" type="none"/>
            <a:tailEnd len="sm" w="sm" type="none"/>
          </a:ln>
        </p:spPr>
        <p:txBody>
          <a:bodyPr anchorCtr="0" anchor="t" bIns="52225" lIns="104475" spcFirstLastPara="1" rIns="104475" wrap="square" tIns="52225">
            <a:spAutoFit/>
          </a:bodyPr>
          <a:lstStyle/>
          <a:p>
            <a:pPr indent="0" lvl="0" marL="0" rtl="0" algn="l">
              <a:lnSpc>
                <a:spcPct val="95833"/>
              </a:lnSpc>
              <a:spcBef>
                <a:spcPts val="0"/>
              </a:spcBef>
              <a:spcAft>
                <a:spcPts val="0"/>
              </a:spcAft>
              <a:buClr>
                <a:srgbClr val="000000"/>
              </a:buClr>
              <a:buSzPts val="5500"/>
              <a:buFont typeface="Arial"/>
              <a:buNone/>
            </a:pPr>
            <a:r>
              <a:rPr b="1" lang="en-US" sz="5500" u="sng">
                <a:solidFill>
                  <a:schemeClr val="dk2"/>
                </a:solidFill>
                <a:latin typeface="Times New Roman"/>
                <a:ea typeface="Times New Roman"/>
                <a:cs typeface="Times New Roman"/>
                <a:sym typeface="Times New Roman"/>
              </a:rPr>
              <a:t>Security</a:t>
            </a:r>
            <a:endParaRPr b="1" sz="5500" u="sng">
              <a:solidFill>
                <a:srgbClr val="5D0025"/>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None/>
            </a:pPr>
            <a:r>
              <a:rPr b="1" lang="en-US" sz="3200">
                <a:solidFill>
                  <a:schemeClr val="dk1"/>
                </a:solidFill>
                <a:latin typeface="Times New Roman"/>
                <a:ea typeface="Times New Roman"/>
                <a:cs typeface="Times New Roman"/>
                <a:sym typeface="Times New Roman"/>
              </a:rPr>
              <a:t>The SolarEye Security System has two modes: Passive Security and Active Surveillance. In Passive Mode, a PIR sensor triggers automated video capture, event logging, and Firebase storage. In Active Mode, users enable real-time streaming with OpenCV motion detection, sending alerts to Firebase for immediate response. This ensures efficient, continuous monitoring with optimized power use.</a:t>
            </a:r>
            <a:endParaRPr b="1" i="0" sz="1600" u="none" cap="none" strike="noStrike">
              <a:solidFill>
                <a:srgbClr val="000000"/>
              </a:solidFill>
              <a:latin typeface="Times New Roman"/>
              <a:ea typeface="Times New Roman"/>
              <a:cs typeface="Times New Roman"/>
              <a:sym typeface="Times New Roman"/>
            </a:endParaRPr>
          </a:p>
        </p:txBody>
      </p:sp>
      <p:pic>
        <p:nvPicPr>
          <p:cNvPr id="57" name="Google Shape;57;p1"/>
          <p:cNvPicPr preferRelativeResize="0"/>
          <p:nvPr/>
        </p:nvPicPr>
        <p:blipFill>
          <a:blip r:embed="rId9">
            <a:alphaModFix/>
          </a:blip>
          <a:stretch>
            <a:fillRect/>
          </a:stretch>
        </p:blipFill>
        <p:spPr>
          <a:xfrm>
            <a:off x="21422325" y="18516777"/>
            <a:ext cx="9270298" cy="4340911"/>
          </a:xfrm>
          <a:prstGeom prst="rect">
            <a:avLst/>
          </a:prstGeom>
          <a:noFill/>
          <a:ln>
            <a:noFill/>
          </a:ln>
        </p:spPr>
      </p:pic>
      <p:pic>
        <p:nvPicPr>
          <p:cNvPr id="58" name="Google Shape;58;p1"/>
          <p:cNvPicPr preferRelativeResize="0"/>
          <p:nvPr/>
        </p:nvPicPr>
        <p:blipFill>
          <a:blip r:embed="rId10">
            <a:alphaModFix/>
          </a:blip>
          <a:stretch>
            <a:fillRect/>
          </a:stretch>
        </p:blipFill>
        <p:spPr>
          <a:xfrm>
            <a:off x="22971367" y="24524001"/>
            <a:ext cx="6172200" cy="4972050"/>
          </a:xfrm>
          <a:prstGeom prst="rect">
            <a:avLst/>
          </a:prstGeom>
          <a:noFill/>
          <a:ln>
            <a:noFill/>
          </a:ln>
        </p:spPr>
      </p:pic>
      <p:sp>
        <p:nvSpPr>
          <p:cNvPr id="59" name="Google Shape;59;p1"/>
          <p:cNvSpPr txBox="1"/>
          <p:nvPr/>
        </p:nvSpPr>
        <p:spPr>
          <a:xfrm>
            <a:off x="21347172" y="23391760"/>
            <a:ext cx="94206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a:t>
            </a:r>
            <a:r>
              <a:rPr b="1" i="1" lang="en-US" sz="3200">
                <a:solidFill>
                  <a:schemeClr val="dk1"/>
                </a:solidFill>
                <a:latin typeface="Times New Roman"/>
                <a:ea typeface="Times New Roman"/>
                <a:cs typeface="Times New Roman"/>
                <a:sym typeface="Times New Roman"/>
              </a:rPr>
              <a:t>5</a:t>
            </a:r>
            <a:r>
              <a:rPr b="1" i="1" lang="en-US" sz="3200" u="none" cap="none" strike="noStrike">
                <a:solidFill>
                  <a:schemeClr val="dk1"/>
                </a:solidFill>
                <a:latin typeface="Times New Roman"/>
                <a:ea typeface="Times New Roman"/>
                <a:cs typeface="Times New Roman"/>
                <a:sym typeface="Times New Roman"/>
              </a:rPr>
              <a:t>. </a:t>
            </a:r>
            <a:r>
              <a:rPr b="1" i="1" lang="en-US" sz="3200">
                <a:solidFill>
                  <a:schemeClr val="dk1"/>
                </a:solidFill>
                <a:latin typeface="Times New Roman"/>
                <a:ea typeface="Times New Roman"/>
                <a:cs typeface="Times New Roman"/>
                <a:sym typeface="Times New Roman"/>
              </a:rPr>
              <a:t>Solar Power Charging Circuit Schematic</a:t>
            </a:r>
            <a:endParaRPr b="1" i="0" sz="1600" u="none" cap="none" strike="noStrike">
              <a:solidFill>
                <a:srgbClr val="000000"/>
              </a:solidFill>
              <a:latin typeface="Times New Roman"/>
              <a:ea typeface="Times New Roman"/>
              <a:cs typeface="Times New Roman"/>
              <a:sym typeface="Times New Roman"/>
            </a:endParaRPr>
          </a:p>
        </p:txBody>
      </p:sp>
      <p:pic>
        <p:nvPicPr>
          <p:cNvPr id="60" name="Google Shape;60;p1"/>
          <p:cNvPicPr preferRelativeResize="0"/>
          <p:nvPr/>
        </p:nvPicPr>
        <p:blipFill rotWithShape="1">
          <a:blip r:embed="rId11">
            <a:alphaModFix/>
          </a:blip>
          <a:srcRect b="89" l="0" r="0" t="149"/>
          <a:stretch/>
        </p:blipFill>
        <p:spPr>
          <a:xfrm>
            <a:off x="34331563" y="13690700"/>
            <a:ext cx="4341918" cy="9167000"/>
          </a:xfrm>
          <a:prstGeom prst="rect">
            <a:avLst/>
          </a:prstGeom>
          <a:noFill/>
          <a:ln>
            <a:noFill/>
          </a:ln>
        </p:spPr>
      </p:pic>
      <p:pic>
        <p:nvPicPr>
          <p:cNvPr id="61" name="Google Shape;61;p1"/>
          <p:cNvPicPr preferRelativeResize="0"/>
          <p:nvPr/>
        </p:nvPicPr>
        <p:blipFill>
          <a:blip r:embed="rId12">
            <a:alphaModFix/>
          </a:blip>
          <a:stretch>
            <a:fillRect/>
          </a:stretch>
        </p:blipFill>
        <p:spPr>
          <a:xfrm>
            <a:off x="492025" y="11339975"/>
            <a:ext cx="9804600" cy="3566587"/>
          </a:xfrm>
          <a:prstGeom prst="rect">
            <a:avLst/>
          </a:prstGeom>
          <a:noFill/>
          <a:ln>
            <a:noFill/>
          </a:ln>
        </p:spPr>
      </p:pic>
      <p:pic>
        <p:nvPicPr>
          <p:cNvPr id="62" name="Google Shape;62;p1"/>
          <p:cNvPicPr preferRelativeResize="0"/>
          <p:nvPr/>
        </p:nvPicPr>
        <p:blipFill>
          <a:blip r:embed="rId13">
            <a:alphaModFix/>
          </a:blip>
          <a:stretch>
            <a:fillRect/>
          </a:stretch>
        </p:blipFill>
        <p:spPr>
          <a:xfrm>
            <a:off x="12080300" y="23434225"/>
            <a:ext cx="7734396" cy="6525900"/>
          </a:xfrm>
          <a:prstGeom prst="rect">
            <a:avLst/>
          </a:prstGeom>
          <a:noFill/>
          <a:ln>
            <a:noFill/>
          </a:ln>
        </p:spPr>
      </p:pic>
      <p:pic>
        <p:nvPicPr>
          <p:cNvPr id="63" name="Google Shape;63;p1"/>
          <p:cNvPicPr preferRelativeResize="0"/>
          <p:nvPr/>
        </p:nvPicPr>
        <p:blipFill rotWithShape="1">
          <a:blip r:embed="rId14">
            <a:alphaModFix/>
          </a:blip>
          <a:srcRect b="58404" l="139" r="149" t="0"/>
          <a:stretch/>
        </p:blipFill>
        <p:spPr>
          <a:xfrm>
            <a:off x="32046237" y="24097038"/>
            <a:ext cx="8912574" cy="5825974"/>
          </a:xfrm>
          <a:prstGeom prst="rect">
            <a:avLst/>
          </a:prstGeom>
          <a:noFill/>
          <a:ln>
            <a:noFill/>
          </a:ln>
        </p:spPr>
      </p:pic>
      <p:sp>
        <p:nvSpPr>
          <p:cNvPr id="64" name="Google Shape;64;p1"/>
          <p:cNvSpPr txBox="1"/>
          <p:nvPr/>
        </p:nvSpPr>
        <p:spPr>
          <a:xfrm>
            <a:off x="32224076" y="30276250"/>
            <a:ext cx="85569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a:solidFill>
                  <a:schemeClr val="dk1"/>
                </a:solidFill>
                <a:latin typeface="Times New Roman"/>
                <a:ea typeface="Times New Roman"/>
                <a:cs typeface="Times New Roman"/>
                <a:sym typeface="Times New Roman"/>
              </a:rPr>
              <a:t>Figure 8. SolarEye App Event History Page</a:t>
            </a:r>
            <a:endParaRPr b="1" i="0" sz="1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search Poster Template">
  <a:themeElements>
    <a:clrScheme name="Custom 2">
      <a:dk1>
        <a:srgbClr val="333333"/>
      </a:dk1>
      <a:lt1>
        <a:srgbClr val="FFFFFF"/>
      </a:lt1>
      <a:dk2>
        <a:srgbClr val="5D0025"/>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2016-09-29T18:43:16Z</dcterms:created>
  <dc:creator>Lagoudas, Magdalini Z</dc:creator>
</cp:coreProperties>
</file>