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/TAqrAZbWfP/jIrd8sJXPg/Md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680012f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This is where task partition is stated, Alex</a:t>
            </a:r>
            <a:endParaRPr/>
          </a:p>
        </p:txBody>
      </p:sp>
      <p:sp>
        <p:nvSpPr>
          <p:cNvPr id="68" name="Google Shape;68;g31680012f4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680012f4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g31680012f4f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680012f4f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680012f4f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680012f4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1680012f4f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680012f4f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1680012f4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82a696c7c_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182a696c7c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834c7be5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1834c7be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680012f4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1680012f4f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182a696c7c_1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182a696c7c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82a696c7c_1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182a696c7c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c3d30bde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1c3d30bd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c3d30bdec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1c3d30bde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3" name="Google Shape;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9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" name="Google Shape;27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9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0" name="Google Shape;4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Relationship Id="rId4" Type="http://schemas.openxmlformats.org/officeDocument/2006/relationships/image" Target="../media/image3.png"/><Relationship Id="rId5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9.png"/><Relationship Id="rId5" Type="http://schemas.openxmlformats.org/officeDocument/2006/relationships/image" Target="../media/image16.jpg"/><Relationship Id="rId6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jpg"/><Relationship Id="rId4" Type="http://schemas.openxmlformats.org/officeDocument/2006/relationships/image" Target="../media/image32.jpg"/><Relationship Id="rId5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30.jpg"/><Relationship Id="rId6" Type="http://schemas.openxmlformats.org/officeDocument/2006/relationships/image" Target="../media/image2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1619250" y="4244975"/>
            <a:ext cx="7302500" cy="160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/>
              <a:t>ECEN 403 Final Presentation</a:t>
            </a:r>
            <a:br>
              <a:rPr lang="en-US"/>
            </a:br>
            <a:r>
              <a:rPr lang="en-US"/>
              <a:t>SolarEye Security System</a:t>
            </a:r>
            <a:br>
              <a:rPr lang="en-US"/>
            </a:b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6129"/>
              <a:buFont typeface="Arial"/>
              <a:buNone/>
            </a:pPr>
            <a:r>
              <a:rPr lang="en-US" sz="3100"/>
              <a:t>Team members: Alex Allahar, Victor Igbokwe, Jackson Kitchel, Zayan Prasla</a:t>
            </a:r>
            <a:endParaRPr sz="3100"/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6129"/>
              <a:buFont typeface="Arial"/>
              <a:buNone/>
            </a:pPr>
            <a:r>
              <a:t/>
            </a:r>
            <a:endParaRPr sz="31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br>
              <a:rPr lang="en-US"/>
            </a:br>
            <a:r>
              <a:rPr lang="en-US" sz="3100"/>
              <a:t>Sponsor: Dr. Jang</a:t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Problem Overview</a:t>
            </a:r>
            <a:endParaRPr/>
          </a:p>
        </p:txBody>
      </p:sp>
      <p:sp>
        <p:nvSpPr>
          <p:cNvPr id="62" name="Google Shape;62;p2"/>
          <p:cNvSpPr txBox="1"/>
          <p:nvPr>
            <p:ph idx="1" type="body"/>
          </p:nvPr>
        </p:nvSpPr>
        <p:spPr>
          <a:xfrm>
            <a:off x="457200" y="2049270"/>
            <a:ext cx="82296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➢"/>
            </a:pPr>
            <a:r>
              <a:rPr lang="en-US" sz="2800"/>
              <a:t>A solar-powered security system with a motion-detecting camera. This system provides near real-time video feeds and send automated alerts for suspicious activity through a mobile app, enhancing safety in these areas.</a:t>
            </a:r>
            <a:endParaRPr/>
          </a:p>
        </p:txBody>
      </p:sp>
      <p:pic>
        <p:nvPicPr>
          <p:cNvPr id="63" name="Google Shape;6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2600" y="4885775"/>
            <a:ext cx="1800776" cy="1800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625" y="4885775"/>
            <a:ext cx="2641425" cy="18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2"/>
          <p:cNvPicPr preferRelativeResize="0"/>
          <p:nvPr/>
        </p:nvPicPr>
        <p:blipFill rotWithShape="1">
          <a:blip r:embed="rId5">
            <a:alphaModFix/>
          </a:blip>
          <a:srcRect b="0" l="15237" r="12887" t="21470"/>
          <a:stretch/>
        </p:blipFill>
        <p:spPr>
          <a:xfrm>
            <a:off x="6262925" y="4829850"/>
            <a:ext cx="2423875" cy="180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680012f4f_0_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System Diagram</a:t>
            </a:r>
            <a:endParaRPr/>
          </a:p>
        </p:txBody>
      </p:sp>
      <p:sp>
        <p:nvSpPr>
          <p:cNvPr id="71" name="Google Shape;71;g31680012f4f_0_5"/>
          <p:cNvSpPr txBox="1"/>
          <p:nvPr>
            <p:ph idx="1" type="body"/>
          </p:nvPr>
        </p:nvSpPr>
        <p:spPr>
          <a:xfrm>
            <a:off x="457200" y="1895946"/>
            <a:ext cx="82296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1400">
                <a:solidFill>
                  <a:srgbClr val="FF0000"/>
                </a:solidFill>
              </a:rPr>
              <a:t>Red - Jackson Kitchel (Power Generation)</a:t>
            </a:r>
            <a:endParaRPr sz="1400">
              <a:solidFill>
                <a:srgbClr val="FF0000"/>
              </a:solidFill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1400">
              <a:solidFill>
                <a:srgbClr val="FF0000"/>
              </a:solidFill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1400">
                <a:solidFill>
                  <a:srgbClr val="F1C232"/>
                </a:solidFill>
              </a:rPr>
              <a:t>Yellow - Victor Igbokwe (Power Distribution)</a:t>
            </a:r>
            <a:endParaRPr sz="1400">
              <a:solidFill>
                <a:srgbClr val="F1C232"/>
              </a:solidFill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1400">
              <a:solidFill>
                <a:srgbClr val="F1C232"/>
              </a:solidFill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1400">
                <a:solidFill>
                  <a:srgbClr val="1155CC"/>
                </a:solidFill>
              </a:rPr>
              <a:t>Blue - Alex Allahar (Microprocessor &amp; Detection)</a:t>
            </a:r>
            <a:endParaRPr sz="1400">
              <a:solidFill>
                <a:srgbClr val="1155CC"/>
              </a:solidFill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1400">
              <a:solidFill>
                <a:srgbClr val="1155CC"/>
              </a:solidFill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1400">
                <a:solidFill>
                  <a:srgbClr val="38761D"/>
                </a:solidFill>
              </a:rPr>
              <a:t>Green - Zayan Prasla (Network &amp; Application)</a:t>
            </a:r>
            <a:endParaRPr sz="1400">
              <a:solidFill>
                <a:srgbClr val="F1C232"/>
              </a:solidFill>
            </a:endParaRPr>
          </a:p>
        </p:txBody>
      </p:sp>
      <p:pic>
        <p:nvPicPr>
          <p:cNvPr id="72" name="Google Shape;72;g31680012f4f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76700"/>
            <a:ext cx="9144003" cy="275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680012f4f_0_5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Subsystem 1: Power Generation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g31680012f4f_0_56"/>
          <p:cNvSpPr txBox="1"/>
          <p:nvPr>
            <p:ph idx="1" type="body"/>
          </p:nvPr>
        </p:nvSpPr>
        <p:spPr>
          <a:xfrm>
            <a:off x="457200" y="2049270"/>
            <a:ext cx="82296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PCB responsible for power generation from the solar panel to the battery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Battery supplies power 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distribution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PCP with 12V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Charging circuit automatically cuts on/off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Provides MCU with voltage and current readings at the solar panel and battery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" name="Google Shape;79;g31680012f4f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100" y="3555027"/>
            <a:ext cx="3869873" cy="25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1680012f4f_0_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4300" y="3867650"/>
            <a:ext cx="1939950" cy="192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680012f4f_0_15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Subsystem 1: Power Generation</a:t>
            </a:r>
            <a:endParaRPr/>
          </a:p>
        </p:txBody>
      </p:sp>
      <p:sp>
        <p:nvSpPr>
          <p:cNvPr id="86" name="Google Shape;86;g31680012f4f_0_150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Ongoing Tasks: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First PCB scrapped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Soldering and testing PCB (ie. short circuit, continuity)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To do in 403</a:t>
            </a:r>
            <a:r>
              <a:rPr lang="en-US" sz="1800"/>
              <a:t>: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Battery charging test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Cut on/off test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Demo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To do in 404: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Integrate power with distribution subsystem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Integrate voltage/current readings with MCU subsystem</a:t>
            </a:r>
            <a:endParaRPr sz="1800"/>
          </a:p>
        </p:txBody>
      </p:sp>
      <p:pic>
        <p:nvPicPr>
          <p:cNvPr id="87" name="Google Shape;87;g31680012f4f_0_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4850" y="5053173"/>
            <a:ext cx="2154300" cy="1440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1680012f4f_0_6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Subsystem 2: Power Distribution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g31680012f4f_0_63"/>
          <p:cNvSpPr txBox="1"/>
          <p:nvPr>
            <p:ph idx="1" type="body"/>
          </p:nvPr>
        </p:nvSpPr>
        <p:spPr>
          <a:xfrm>
            <a:off x="580450" y="1684795"/>
            <a:ext cx="82296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94" name="Google Shape;94;g31680012f4f_0_63"/>
          <p:cNvPicPr preferRelativeResize="0"/>
          <p:nvPr/>
        </p:nvPicPr>
        <p:blipFill rotWithShape="1">
          <a:blip r:embed="rId3">
            <a:alphaModFix/>
          </a:blip>
          <a:srcRect b="0" l="7819" r="-7819" t="0"/>
          <a:stretch/>
        </p:blipFill>
        <p:spPr>
          <a:xfrm>
            <a:off x="669025" y="1684800"/>
            <a:ext cx="7926150" cy="49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680012f4f_0_14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Power Distribution Cont.</a:t>
            </a:r>
            <a:endParaRPr/>
          </a:p>
        </p:txBody>
      </p:sp>
      <p:sp>
        <p:nvSpPr>
          <p:cNvPr id="100" name="Google Shape;100;g31680012f4f_0_145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-US" sz="1275" u="sng"/>
              <a:t>Completed Tests</a:t>
            </a:r>
            <a:endParaRPr b="1" sz="1275" u="sng"/>
          </a:p>
          <a:p>
            <a:pPr indent="-309562" lvl="0" marL="4572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275"/>
              <a:buChar char="❖"/>
            </a:pPr>
            <a:r>
              <a:rPr b="1" lang="en-US" sz="1275"/>
              <a:t>Continuity Test</a:t>
            </a:r>
            <a:r>
              <a:rPr lang="en-US" sz="1275"/>
              <a:t>: Use a multimeter to check continuity between connected pads and traces to ensure no open connections exist.</a:t>
            </a:r>
            <a:endParaRPr sz="1275"/>
          </a:p>
          <a:p>
            <a:pPr indent="-3095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75"/>
              <a:buChar char="❖"/>
            </a:pPr>
            <a:r>
              <a:rPr b="1" lang="en-US" sz="1275"/>
              <a:t>Short Circuit Test</a:t>
            </a:r>
            <a:r>
              <a:rPr lang="en-US" sz="1275"/>
              <a:t>: Verify there are no shorts between the power (5V and 12V rails) and ground. Measure resistance between </a:t>
            </a:r>
            <a:r>
              <a:rPr b="1" lang="en-US" sz="1275"/>
              <a:t>5V</a:t>
            </a:r>
            <a:r>
              <a:rPr lang="en-US" sz="1275"/>
              <a:t> and </a:t>
            </a:r>
            <a:r>
              <a:rPr b="1" lang="en-US" sz="1275"/>
              <a:t>GND</a:t>
            </a:r>
            <a:r>
              <a:rPr lang="en-US" sz="1275"/>
              <a:t> and </a:t>
            </a:r>
            <a:r>
              <a:rPr b="1" lang="en-US" sz="1275"/>
              <a:t>12V</a:t>
            </a:r>
            <a:r>
              <a:rPr lang="en-US" sz="1275"/>
              <a:t> and </a:t>
            </a:r>
            <a:r>
              <a:rPr b="1" lang="en-US" sz="1275"/>
              <a:t>GND</a:t>
            </a:r>
            <a:r>
              <a:rPr lang="en-US" sz="1275"/>
              <a:t>. It should not show a short (low resistance).</a:t>
            </a:r>
            <a:endParaRPr sz="1275"/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-US" sz="1275" u="sng"/>
              <a:t>Concerns</a:t>
            </a:r>
            <a:endParaRPr b="1" sz="1275" u="sng"/>
          </a:p>
          <a:p>
            <a:pPr indent="-309562" lvl="0" marL="4572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275"/>
              <a:buChar char="❖"/>
            </a:pPr>
            <a:r>
              <a:rPr b="1" lang="en-US" sz="1275"/>
              <a:t>Vin Connection:</a:t>
            </a:r>
            <a:r>
              <a:rPr lang="en-US" sz="1275"/>
              <a:t> Experiencing difficulties with the connection between the MOSFET and the Vin pin of the IC chip</a:t>
            </a:r>
            <a:r>
              <a:rPr b="1" lang="en-US" sz="1275"/>
              <a:t>.</a:t>
            </a:r>
            <a:endParaRPr b="1" sz="1275"/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-US" sz="1275" u="sng"/>
              <a:t>Proposed</a:t>
            </a:r>
            <a:r>
              <a:rPr b="1" lang="en-US" sz="1275" u="sng"/>
              <a:t> Solution</a:t>
            </a:r>
            <a:endParaRPr b="1" sz="1275" u="sng"/>
          </a:p>
          <a:p>
            <a:pPr indent="-309562" lvl="0" marL="4572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275"/>
              <a:buChar char="❖"/>
            </a:pPr>
            <a:r>
              <a:rPr b="1" lang="en-US" sz="1275"/>
              <a:t>Perf Board: </a:t>
            </a:r>
            <a:r>
              <a:rPr lang="en-US" sz="1275"/>
              <a:t>Use an external Perf board to solder a connection between the mosfet and Vin.</a:t>
            </a:r>
            <a:endParaRPr sz="1275"/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-US" sz="1275" u="sng"/>
              <a:t>To Do (403)</a:t>
            </a:r>
            <a:endParaRPr b="1" sz="1275" u="sng"/>
          </a:p>
          <a:p>
            <a:pPr indent="-309562" lvl="0" marL="4572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275"/>
              <a:buChar char="❖"/>
            </a:pPr>
            <a:r>
              <a:rPr b="1" lang="en-US" sz="1275"/>
              <a:t>Output Voltage Test</a:t>
            </a:r>
            <a:endParaRPr b="1" sz="1275"/>
          </a:p>
          <a:p>
            <a:pPr indent="-3095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75"/>
              <a:buChar char="❖"/>
            </a:pPr>
            <a:r>
              <a:rPr b="1" lang="en-US" sz="1275"/>
              <a:t>Load Test</a:t>
            </a:r>
            <a:endParaRPr b="1" sz="1275"/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-US" sz="1275" u="sng"/>
              <a:t>To Do (404)</a:t>
            </a:r>
            <a:endParaRPr b="1" sz="1275" u="sng"/>
          </a:p>
          <a:p>
            <a:pPr indent="-309562" lvl="0" marL="4572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275"/>
              <a:buChar char="❖"/>
            </a:pPr>
            <a:r>
              <a:rPr b="1" lang="en-US" sz="1275"/>
              <a:t>Voltage Regulator load Components</a:t>
            </a:r>
            <a:endParaRPr b="1" sz="1275"/>
          </a:p>
          <a:p>
            <a:pPr indent="-3095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75"/>
              <a:buChar char="❖"/>
            </a:pPr>
            <a:r>
              <a:rPr b="1" lang="en-US" sz="1275"/>
              <a:t>Integration with other subsystems</a:t>
            </a:r>
            <a:endParaRPr b="1" sz="1275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2000"/>
          </a:p>
        </p:txBody>
      </p:sp>
      <p:pic>
        <p:nvPicPr>
          <p:cNvPr id="101" name="Google Shape;101;g31680012f4f_0_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152325" y="4572449"/>
            <a:ext cx="2006976" cy="2564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82a696c7c_1_24"/>
          <p:cNvSpPr txBox="1"/>
          <p:nvPr>
            <p:ph type="title"/>
          </p:nvPr>
        </p:nvSpPr>
        <p:spPr>
          <a:xfrm>
            <a:off x="457200" y="1049175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Detection: </a:t>
            </a:r>
            <a:r>
              <a:rPr lang="en-US"/>
              <a:t>Modes of Operations</a:t>
            </a:r>
            <a:endParaRPr/>
          </a:p>
        </p:txBody>
      </p:sp>
      <p:sp>
        <p:nvSpPr>
          <p:cNvPr id="107" name="Google Shape;107;g3182a696c7c_1_24"/>
          <p:cNvSpPr txBox="1"/>
          <p:nvPr>
            <p:ph idx="1" type="body"/>
          </p:nvPr>
        </p:nvSpPr>
        <p:spPr>
          <a:xfrm>
            <a:off x="457200" y="1852869"/>
            <a:ext cx="4038600" cy="4150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Low-Power Mode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Passive (Security)</a:t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PIR Sensor Activated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Automated Video Capture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Fixed / Variable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Generate Thumbnails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Send Video Capture</a:t>
            </a:r>
            <a:endParaRPr sz="1600"/>
          </a:p>
        </p:txBody>
      </p:sp>
      <p:sp>
        <p:nvSpPr>
          <p:cNvPr id="108" name="Google Shape;108;g3182a696c7c_1_24"/>
          <p:cNvSpPr txBox="1"/>
          <p:nvPr>
            <p:ph idx="4294967295" type="body"/>
          </p:nvPr>
        </p:nvSpPr>
        <p:spPr>
          <a:xfrm>
            <a:off x="4648200" y="1852869"/>
            <a:ext cx="4038600" cy="4150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400"/>
              <a:t>Operational Mode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Active (Surveillance)</a:t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Motion / User Activated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Real-Time Video Stream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OpenCV Motion Detection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Send Alert to Firebase </a:t>
            </a:r>
            <a:endParaRPr sz="1600"/>
          </a:p>
        </p:txBody>
      </p:sp>
      <p:pic>
        <p:nvPicPr>
          <p:cNvPr id="109" name="Google Shape;109;g3182a696c7c_1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8324" y="5536775"/>
            <a:ext cx="6827349" cy="89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182a696c7c_1_24"/>
          <p:cNvSpPr txBox="1"/>
          <p:nvPr/>
        </p:nvSpPr>
        <p:spPr>
          <a:xfrm>
            <a:off x="2635200" y="6336425"/>
            <a:ext cx="38736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1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Low-Power</a:t>
            </a:r>
            <a:r>
              <a:rPr lang="en-US" sz="1500">
                <a:solidFill>
                  <a:schemeClr val="dk1"/>
                </a:solidFill>
              </a:rPr>
              <a:t> Mode Output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111" name="Google Shape;111;g3182a696c7c_1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5350" y="3835601"/>
            <a:ext cx="1066474" cy="158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182a696c7c_1_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2813" y="4159775"/>
            <a:ext cx="1178376" cy="125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182a696c7c_1_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36898" y="4156561"/>
            <a:ext cx="1496375" cy="1259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834c7be55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Detection: Tasks</a:t>
            </a:r>
            <a:endParaRPr/>
          </a:p>
        </p:txBody>
      </p:sp>
      <p:sp>
        <p:nvSpPr>
          <p:cNvPr id="119" name="Google Shape;119;g31834c7be55_0_0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b="1" lang="en-US" sz="1462"/>
              <a:t>Completed:</a:t>
            </a:r>
            <a:endParaRPr b="1" sz="1462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b="1" sz="1462"/>
          </a:p>
          <a:p>
            <a:pPr indent="-321468" lvl="1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Char char="➢"/>
            </a:pPr>
            <a:r>
              <a:rPr lang="en-US" sz="1462"/>
              <a:t>PIR Sensor functional up to  5 ft Range, with a FOV of 120°</a:t>
            </a:r>
            <a:endParaRPr sz="1462"/>
          </a:p>
          <a:p>
            <a:pPr indent="-321468" lvl="1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Char char="➢"/>
            </a:pPr>
            <a:r>
              <a:rPr lang="en-US" sz="1462"/>
              <a:t>Minimize </a:t>
            </a:r>
            <a:r>
              <a:rPr lang="en-US" sz="1462"/>
              <a:t>delay between motion detection and video capture stored on Firebase. </a:t>
            </a:r>
            <a:endParaRPr sz="1462"/>
          </a:p>
          <a:p>
            <a:pPr indent="-321468" lvl="1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Char char="➢"/>
            </a:pPr>
            <a:r>
              <a:rPr lang="en-US" sz="1462"/>
              <a:t>Thumbnail Generation </a:t>
            </a:r>
            <a:r>
              <a:rPr lang="en-US" sz="1462"/>
              <a:t>accessible</a:t>
            </a:r>
            <a:r>
              <a:rPr lang="en-US" sz="1462"/>
              <a:t> by Firebase.</a:t>
            </a:r>
            <a:endParaRPr sz="1462"/>
          </a:p>
          <a:p>
            <a:pPr indent="-321468" lvl="1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Char char="➢"/>
            </a:pPr>
            <a:r>
              <a:rPr lang="en-US" sz="1462"/>
              <a:t>Event History Local and Firebase Storage.</a:t>
            </a:r>
            <a:endParaRPr sz="1462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462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b="1" lang="en-US" sz="1462"/>
              <a:t>To-Do (403):</a:t>
            </a:r>
            <a:endParaRPr b="1" sz="1462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b="1" sz="1462"/>
          </a:p>
          <a:p>
            <a:pPr indent="-321468" lvl="1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Char char="➢"/>
            </a:pPr>
            <a:r>
              <a:rPr lang="en-US" sz="1462"/>
              <a:t>Measure Raspberry PI Memory and CPU Usage during Modes of Operation.</a:t>
            </a:r>
            <a:endParaRPr sz="1462"/>
          </a:p>
          <a:p>
            <a:pPr indent="-321468" lvl="1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Char char="➢"/>
            </a:pPr>
            <a:r>
              <a:rPr lang="en-US" sz="1462"/>
              <a:t>Verify MPU can stream to local network via HTTP Protocol. </a:t>
            </a:r>
            <a:endParaRPr sz="1462"/>
          </a:p>
          <a:p>
            <a:pPr indent="-321468" lvl="1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Char char="➢"/>
            </a:pPr>
            <a:r>
              <a:rPr lang="en-US" sz="1462"/>
              <a:t>Fine Tune Yolo V4-Tiny model for better performance on object detection. </a:t>
            </a:r>
            <a:endParaRPr sz="1462"/>
          </a:p>
          <a:p>
            <a:pPr indent="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462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b="1" lang="en-US" sz="1462"/>
              <a:t>To-Do (404):</a:t>
            </a:r>
            <a:endParaRPr b="1" sz="1462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b="1" sz="1462"/>
          </a:p>
          <a:p>
            <a:pPr indent="-321468" lvl="1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Char char="➢"/>
            </a:pPr>
            <a:r>
              <a:rPr lang="en-US" sz="1462"/>
              <a:t>Connect Detection Database with SolarEye Android App</a:t>
            </a:r>
            <a:endParaRPr sz="1462"/>
          </a:p>
          <a:p>
            <a:pPr indent="-321468" lvl="1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Char char="➢"/>
            </a:pPr>
            <a:r>
              <a:rPr lang="en-US" sz="1462"/>
              <a:t>Implement Listener Functions to allow app to control modes of operation. </a:t>
            </a:r>
            <a:endParaRPr sz="1462"/>
          </a:p>
          <a:p>
            <a:pPr indent="-321468" lvl="1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Char char="➢"/>
            </a:pPr>
            <a:r>
              <a:rPr lang="en-US" sz="1462"/>
              <a:t>Integrate MPU and Camera with Power Distribution Subsystem. </a:t>
            </a:r>
            <a:endParaRPr sz="1462"/>
          </a:p>
          <a:p>
            <a:pPr indent="-321468" lvl="1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Char char="➢"/>
            </a:pPr>
            <a:r>
              <a:rPr lang="en-US" sz="1462"/>
              <a:t>Install trained Yolo V4-Tiny Object Detection Model on MPU.  </a:t>
            </a:r>
            <a:endParaRPr sz="1462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462"/>
          </a:p>
          <a:p>
            <a:pPr indent="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462"/>
          </a:p>
          <a:p>
            <a:pPr indent="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385"/>
          </a:p>
        </p:txBody>
      </p:sp>
      <p:pic>
        <p:nvPicPr>
          <p:cNvPr id="120" name="Google Shape;120;g31834c7be5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9900" y="5071300"/>
            <a:ext cx="1784099" cy="178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1680012f4f_0_79"/>
          <p:cNvSpPr txBox="1"/>
          <p:nvPr>
            <p:ph type="title"/>
          </p:nvPr>
        </p:nvSpPr>
        <p:spPr>
          <a:xfrm>
            <a:off x="457200" y="86275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Subsystem 4: Software/App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g31680012f4f_0_79"/>
          <p:cNvSpPr txBox="1"/>
          <p:nvPr/>
        </p:nvSpPr>
        <p:spPr>
          <a:xfrm>
            <a:off x="2523938" y="1713900"/>
            <a:ext cx="1931400" cy="27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</a:rPr>
              <a:t>Login Page:</a:t>
            </a:r>
            <a:endParaRPr b="1" sz="2000" u="sng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-US" sz="1600">
                <a:solidFill>
                  <a:schemeClr val="dk1"/>
                </a:solidFill>
              </a:rPr>
              <a:t>User Login saved on Firebase Auth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-US" sz="1600">
                <a:solidFill>
                  <a:schemeClr val="dk1"/>
                </a:solidFill>
              </a:rPr>
              <a:t>Email must be verified to login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-US" sz="1600">
                <a:solidFill>
                  <a:schemeClr val="dk1"/>
                </a:solidFill>
              </a:rPr>
              <a:t>User remains </a:t>
            </a:r>
            <a:r>
              <a:rPr lang="en-US" sz="1600">
                <a:solidFill>
                  <a:schemeClr val="dk1"/>
                </a:solidFill>
              </a:rPr>
              <a:t>logged in</a:t>
            </a:r>
            <a:r>
              <a:rPr lang="en-US" sz="1600">
                <a:solidFill>
                  <a:schemeClr val="dk1"/>
                </a:solidFill>
              </a:rPr>
              <a:t> until they manually log out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27" name="Google Shape;127;g31680012f4f_0_79"/>
          <p:cNvPicPr preferRelativeResize="0"/>
          <p:nvPr/>
        </p:nvPicPr>
        <p:blipFill rotWithShape="1">
          <a:blip r:embed="rId3">
            <a:alphaModFix/>
          </a:blip>
          <a:srcRect b="0" l="524" r="534" t="0"/>
          <a:stretch/>
        </p:blipFill>
        <p:spPr>
          <a:xfrm>
            <a:off x="6394675" y="5280950"/>
            <a:ext cx="2387474" cy="137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1680012f4f_0_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3363" y="248325"/>
            <a:ext cx="2205800" cy="4886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1680012f4f_0_79"/>
          <p:cNvPicPr preferRelativeResize="0"/>
          <p:nvPr/>
        </p:nvPicPr>
        <p:blipFill rotWithShape="1">
          <a:blip r:embed="rId5">
            <a:alphaModFix/>
          </a:blip>
          <a:srcRect b="6228" l="0" r="0" t="8795"/>
          <a:stretch/>
        </p:blipFill>
        <p:spPr>
          <a:xfrm>
            <a:off x="25" y="1617450"/>
            <a:ext cx="2205900" cy="416557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1680012f4f_0_79"/>
          <p:cNvSpPr txBox="1"/>
          <p:nvPr/>
        </p:nvSpPr>
        <p:spPr>
          <a:xfrm>
            <a:off x="7055725" y="1713900"/>
            <a:ext cx="1931400" cy="25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</a:rPr>
              <a:t>Account Creation:</a:t>
            </a:r>
            <a:endParaRPr b="1" sz="2000" u="sng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➢"/>
            </a:pPr>
            <a:r>
              <a:rPr lang="en-US" sz="1700">
                <a:solidFill>
                  <a:schemeClr val="dk1"/>
                </a:solidFill>
              </a:rPr>
              <a:t>Email Verification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➢"/>
            </a:pPr>
            <a:r>
              <a:rPr lang="en-US" sz="1700">
                <a:solidFill>
                  <a:schemeClr val="dk1"/>
                </a:solidFill>
              </a:rPr>
              <a:t>Verification Link expiration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➢"/>
            </a:pPr>
            <a:r>
              <a:rPr lang="en-US" sz="1700">
                <a:solidFill>
                  <a:schemeClr val="dk1"/>
                </a:solidFill>
              </a:rPr>
              <a:t>Password Policy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31" name="Google Shape;131;g31680012f4f_0_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74150" y="5134986"/>
            <a:ext cx="3608324" cy="166478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1680012f4f_0_79"/>
          <p:cNvSpPr txBox="1"/>
          <p:nvPr/>
        </p:nvSpPr>
        <p:spPr>
          <a:xfrm>
            <a:off x="2523950" y="4495550"/>
            <a:ext cx="16542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</a:rPr>
              <a:t>Email Verification: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82a696c7c_1_50"/>
          <p:cNvSpPr txBox="1"/>
          <p:nvPr>
            <p:ph type="title"/>
          </p:nvPr>
        </p:nvSpPr>
        <p:spPr>
          <a:xfrm>
            <a:off x="457200" y="677702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Subsystem 4: App Main Page</a:t>
            </a:r>
            <a:endParaRPr/>
          </a:p>
        </p:txBody>
      </p:sp>
      <p:pic>
        <p:nvPicPr>
          <p:cNvPr id="138" name="Google Shape;138;g3182a696c7c_1_50"/>
          <p:cNvPicPr preferRelativeResize="0"/>
          <p:nvPr/>
        </p:nvPicPr>
        <p:blipFill rotWithShape="1">
          <a:blip r:embed="rId3">
            <a:alphaModFix/>
          </a:blip>
          <a:srcRect b="5429" l="0" r="0" t="8932"/>
          <a:stretch/>
        </p:blipFill>
        <p:spPr>
          <a:xfrm>
            <a:off x="457200" y="1416325"/>
            <a:ext cx="2115149" cy="402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182a696c7c_1_50"/>
          <p:cNvPicPr preferRelativeResize="0"/>
          <p:nvPr/>
        </p:nvPicPr>
        <p:blipFill rotWithShape="1">
          <a:blip r:embed="rId4">
            <a:alphaModFix/>
          </a:blip>
          <a:srcRect b="10315" l="0" r="0" t="8463"/>
          <a:stretch/>
        </p:blipFill>
        <p:spPr>
          <a:xfrm>
            <a:off x="3415239" y="1514738"/>
            <a:ext cx="2313529" cy="4025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182a696c7c_1_50"/>
          <p:cNvPicPr preferRelativeResize="0"/>
          <p:nvPr/>
        </p:nvPicPr>
        <p:blipFill rotWithShape="1">
          <a:blip r:embed="rId5">
            <a:alphaModFix/>
          </a:blip>
          <a:srcRect b="5515" l="0" r="3128" t="8838"/>
          <a:stretch/>
        </p:blipFill>
        <p:spPr>
          <a:xfrm>
            <a:off x="6571675" y="1481400"/>
            <a:ext cx="2115150" cy="401292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182a696c7c_1_50"/>
          <p:cNvSpPr txBox="1"/>
          <p:nvPr/>
        </p:nvSpPr>
        <p:spPr>
          <a:xfrm>
            <a:off x="409575" y="5547125"/>
            <a:ext cx="2958000" cy="13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</a:rPr>
              <a:t>Main Page:</a:t>
            </a:r>
            <a:endParaRPr b="1" sz="2000" u="sng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Latest thumbnail displayed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Charging Statistics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System Controls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42" name="Google Shape;142;g3182a696c7c_1_50"/>
          <p:cNvSpPr txBox="1"/>
          <p:nvPr/>
        </p:nvSpPr>
        <p:spPr>
          <a:xfrm>
            <a:off x="3367575" y="5533925"/>
            <a:ext cx="28785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</a:rPr>
              <a:t>Event History:</a:t>
            </a:r>
            <a:endParaRPr b="1" sz="2000" u="sng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Events sectioned by date recorded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Event Type and Time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43" name="Google Shape;143;g3182a696c7c_1_50"/>
          <p:cNvSpPr txBox="1"/>
          <p:nvPr/>
        </p:nvSpPr>
        <p:spPr>
          <a:xfrm>
            <a:off x="6476425" y="5494325"/>
            <a:ext cx="2572200" cy="13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</a:rPr>
              <a:t>Settings:</a:t>
            </a:r>
            <a:endParaRPr b="1" sz="2000" u="sng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Log Out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Email Change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Password Reset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FAQ (TBC)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82a696c7c_1_66"/>
          <p:cNvSpPr txBox="1"/>
          <p:nvPr>
            <p:ph type="title"/>
          </p:nvPr>
        </p:nvSpPr>
        <p:spPr>
          <a:xfrm>
            <a:off x="457200" y="868802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Subsystem 4: App System Controls</a:t>
            </a:r>
            <a:endParaRPr/>
          </a:p>
        </p:txBody>
      </p:sp>
      <p:pic>
        <p:nvPicPr>
          <p:cNvPr id="149" name="Google Shape;149;g3182a696c7c_1_66"/>
          <p:cNvPicPr preferRelativeResize="0"/>
          <p:nvPr/>
        </p:nvPicPr>
        <p:blipFill rotWithShape="1">
          <a:blip r:embed="rId3">
            <a:alphaModFix/>
          </a:blip>
          <a:srcRect b="40863" l="0" r="0" t="37362"/>
          <a:stretch/>
        </p:blipFill>
        <p:spPr>
          <a:xfrm>
            <a:off x="457200" y="3597763"/>
            <a:ext cx="2196326" cy="106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182a696c7c_1_66"/>
          <p:cNvPicPr preferRelativeResize="0"/>
          <p:nvPr/>
        </p:nvPicPr>
        <p:blipFill rotWithShape="1">
          <a:blip r:embed="rId4">
            <a:alphaModFix/>
          </a:blip>
          <a:srcRect b="40863" l="0" r="0" t="37362"/>
          <a:stretch/>
        </p:blipFill>
        <p:spPr>
          <a:xfrm>
            <a:off x="3473850" y="3597763"/>
            <a:ext cx="2196301" cy="106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182a696c7c_1_66"/>
          <p:cNvPicPr preferRelativeResize="0"/>
          <p:nvPr/>
        </p:nvPicPr>
        <p:blipFill rotWithShape="1">
          <a:blip r:embed="rId5">
            <a:alphaModFix/>
          </a:blip>
          <a:srcRect b="40863" l="0" r="0" t="37362"/>
          <a:stretch/>
        </p:blipFill>
        <p:spPr>
          <a:xfrm>
            <a:off x="6490475" y="3597774"/>
            <a:ext cx="2196326" cy="106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182a696c7c_1_66"/>
          <p:cNvPicPr preferRelativeResize="0"/>
          <p:nvPr/>
        </p:nvPicPr>
        <p:blipFill rotWithShape="1">
          <a:blip r:embed="rId6">
            <a:alphaModFix/>
          </a:blip>
          <a:srcRect b="12507" l="0" r="0" t="70393"/>
          <a:stretch/>
        </p:blipFill>
        <p:spPr>
          <a:xfrm>
            <a:off x="2456013" y="1530573"/>
            <a:ext cx="4231975" cy="16080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g3182a696c7c_1_66"/>
          <p:cNvCxnSpPr/>
          <p:nvPr/>
        </p:nvCxnSpPr>
        <p:spPr>
          <a:xfrm flipH="1">
            <a:off x="2340125" y="2797225"/>
            <a:ext cx="987600" cy="78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cxnSp>
      <p:cxnSp>
        <p:nvCxnSpPr>
          <p:cNvPr id="154" name="Google Shape;154;g3182a696c7c_1_66"/>
          <p:cNvCxnSpPr>
            <a:endCxn id="150" idx="0"/>
          </p:cNvCxnSpPr>
          <p:nvPr/>
        </p:nvCxnSpPr>
        <p:spPr>
          <a:xfrm flipH="1">
            <a:off x="4572000" y="2838163"/>
            <a:ext cx="18900" cy="75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cxnSp>
      <p:cxnSp>
        <p:nvCxnSpPr>
          <p:cNvPr id="155" name="Google Shape;155;g3182a696c7c_1_66"/>
          <p:cNvCxnSpPr/>
          <p:nvPr/>
        </p:nvCxnSpPr>
        <p:spPr>
          <a:xfrm>
            <a:off x="5844200" y="2763075"/>
            <a:ext cx="1032900" cy="81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cxnSp>
      <p:sp>
        <p:nvSpPr>
          <p:cNvPr id="156" name="Google Shape;156;g3182a696c7c_1_66"/>
          <p:cNvSpPr txBox="1"/>
          <p:nvPr/>
        </p:nvSpPr>
        <p:spPr>
          <a:xfrm>
            <a:off x="457200" y="4943475"/>
            <a:ext cx="8248800" cy="14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➢"/>
            </a:pPr>
            <a:r>
              <a:rPr lang="en-US" sz="2500">
                <a:solidFill>
                  <a:schemeClr val="dk1"/>
                </a:solidFill>
              </a:rPr>
              <a:t>On/Off controls for Camera and LED Light (Ready to be Connected)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➢"/>
            </a:pPr>
            <a:r>
              <a:rPr lang="en-US" sz="2500">
                <a:solidFill>
                  <a:schemeClr val="dk1"/>
                </a:solidFill>
              </a:rPr>
              <a:t>SOS Emergency Call (Connected Directly to Device)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c3d30bdec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1c3d30bdec_0_0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1c3d30bdec_0_5"/>
          <p:cNvPicPr preferRelativeResize="0"/>
          <p:nvPr/>
        </p:nvPicPr>
        <p:blipFill rotWithShape="1">
          <a:blip r:embed="rId3">
            <a:alphaModFix/>
          </a:blip>
          <a:srcRect b="0" l="0" r="16093" t="0"/>
          <a:stretch/>
        </p:blipFill>
        <p:spPr>
          <a:xfrm>
            <a:off x="2989175" y="2053525"/>
            <a:ext cx="21907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1c3d30bdec_0_5"/>
          <p:cNvPicPr preferRelativeResize="0"/>
          <p:nvPr/>
        </p:nvPicPr>
        <p:blipFill rotWithShape="1">
          <a:blip r:embed="rId4">
            <a:alphaModFix/>
          </a:blip>
          <a:srcRect b="0" l="524" r="534" t="0"/>
          <a:stretch/>
        </p:blipFill>
        <p:spPr>
          <a:xfrm>
            <a:off x="2890813" y="3272725"/>
            <a:ext cx="2387474" cy="137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Status</a:t>
            </a:r>
            <a:endParaRPr/>
          </a:p>
        </p:txBody>
      </p:sp>
      <p:pic>
        <p:nvPicPr>
          <p:cNvPr id="174" name="Google Shape;17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802850"/>
            <a:ext cx="7974774" cy="41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200" y="5974250"/>
            <a:ext cx="7981776" cy="49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Brian Gardner</dc:creator>
</cp:coreProperties>
</file>