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Lst>
  <p:sldSz cy="32918400" cx="438912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1808">
          <p15:clr>
            <a:srgbClr val="A4A3A4"/>
          </p15:clr>
        </p15:guide>
        <p15:guide id="3"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1808"/>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19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US"/>
              <a:t>A battery-powered IoT security system offering three operation modes that balance power consumption against functionality.</a:t>
            </a:r>
            <a:endParaRPr/>
          </a:p>
          <a:p>
            <a:pPr indent="0" lvl="0" marL="0" rtl="0" algn="l">
              <a:lnSpc>
                <a:spcPct val="100000"/>
              </a:lnSpc>
              <a:spcBef>
                <a:spcPts val="0"/>
              </a:spcBef>
              <a:spcAft>
                <a:spcPts val="0"/>
              </a:spcAft>
              <a:buSzPts val="1100"/>
              <a:buNone/>
            </a:pPr>
            <a:r>
              <a:t/>
            </a:r>
            <a:endParaRPr/>
          </a:p>
        </p:txBody>
      </p:sp>
      <p:sp>
        <p:nvSpPr>
          <p:cNvPr id="31" name="Google Shape;31;p1:notes"/>
          <p:cNvSpPr/>
          <p:nvPr>
            <p:ph idx="2" type="sldImg"/>
          </p:nvPr>
        </p:nvSpPr>
        <p:spPr>
          <a:xfrm>
            <a:off x="1143008"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Image">
  <p:cSld name="Background Image">
    <p:spTree>
      <p:nvGrpSpPr>
        <p:cNvPr id="15" name="Shape 15"/>
        <p:cNvGrpSpPr/>
        <p:nvPr/>
      </p:nvGrpSpPr>
      <p:grpSpPr>
        <a:xfrm>
          <a:off x="0" y="0"/>
          <a:ext cx="0" cy="0"/>
          <a:chOff x="0" y="0"/>
          <a:chExt cx="0" cy="0"/>
        </a:xfrm>
      </p:grpSpPr>
      <p:cxnSp>
        <p:nvCxnSpPr>
          <p:cNvPr id="16" name="Google Shape;16;p2"/>
          <p:cNvCxnSpPr/>
          <p:nvPr/>
        </p:nvCxnSpPr>
        <p:spPr>
          <a:xfrm>
            <a:off x="11169060" y="6431836"/>
            <a:ext cx="0" cy="24886200"/>
          </a:xfrm>
          <a:prstGeom prst="straightConnector1">
            <a:avLst/>
          </a:prstGeom>
          <a:noFill/>
          <a:ln cap="flat" cmpd="tri" w="76200">
            <a:solidFill>
              <a:schemeClr val="dk1"/>
            </a:solidFill>
            <a:prstDash val="solid"/>
            <a:round/>
            <a:headEnd len="med" w="med" type="oval"/>
            <a:tailEnd len="med" w="med" type="oval"/>
          </a:ln>
        </p:spPr>
      </p:cxnSp>
      <p:cxnSp>
        <p:nvCxnSpPr>
          <p:cNvPr id="17" name="Google Shape;17;p2"/>
          <p:cNvCxnSpPr/>
          <p:nvPr/>
        </p:nvCxnSpPr>
        <p:spPr>
          <a:xfrm>
            <a:off x="11307763" y="7009765"/>
            <a:ext cx="914400" cy="914400"/>
          </a:xfrm>
          <a:prstGeom prst="straightConnector1">
            <a:avLst/>
          </a:prstGeom>
          <a:noFill/>
          <a:ln>
            <a:noFill/>
          </a:ln>
        </p:spPr>
      </p:cxnSp>
      <p:cxnSp>
        <p:nvCxnSpPr>
          <p:cNvPr id="18" name="Google Shape;18;p2"/>
          <p:cNvCxnSpPr/>
          <p:nvPr/>
        </p:nvCxnSpPr>
        <p:spPr>
          <a:xfrm>
            <a:off x="21945600" y="6431836"/>
            <a:ext cx="0" cy="24886200"/>
          </a:xfrm>
          <a:prstGeom prst="straightConnector1">
            <a:avLst/>
          </a:prstGeom>
          <a:noFill/>
          <a:ln cap="flat" cmpd="tri" w="76200">
            <a:solidFill>
              <a:schemeClr val="dk1"/>
            </a:solidFill>
            <a:prstDash val="solid"/>
            <a:round/>
            <a:headEnd len="med" w="med" type="oval"/>
            <a:tailEnd len="med" w="med" type="oval"/>
          </a:ln>
        </p:spPr>
      </p:cxnSp>
      <p:cxnSp>
        <p:nvCxnSpPr>
          <p:cNvPr id="19" name="Google Shape;19;p2"/>
          <p:cNvCxnSpPr/>
          <p:nvPr/>
        </p:nvCxnSpPr>
        <p:spPr>
          <a:xfrm>
            <a:off x="32577212" y="6431836"/>
            <a:ext cx="0" cy="24886200"/>
          </a:xfrm>
          <a:prstGeom prst="straightConnector1">
            <a:avLst/>
          </a:prstGeom>
          <a:noFill/>
          <a:ln cap="flat" cmpd="tri" w="88900">
            <a:solidFill>
              <a:schemeClr val="dk1"/>
            </a:solidFill>
            <a:prstDash val="solid"/>
            <a:round/>
            <a:headEnd len="med" w="med" type="oval"/>
            <a:tailEnd len="med" w="med" type="oval"/>
          </a:ln>
        </p:spPr>
      </p:cxnSp>
      <p:sp>
        <p:nvSpPr>
          <p:cNvPr id="20" name="Google Shape;20;p2"/>
          <p:cNvSpPr txBox="1"/>
          <p:nvPr>
            <p:ph idx="1" type="body"/>
          </p:nvPr>
        </p:nvSpPr>
        <p:spPr>
          <a:xfrm>
            <a:off x="914400" y="6644640"/>
            <a:ext cx="9798300" cy="148743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1" name="Google Shape;21;p2"/>
          <p:cNvSpPr/>
          <p:nvPr>
            <p:ph idx="2" type="pic"/>
          </p:nvPr>
        </p:nvSpPr>
        <p:spPr>
          <a:xfrm>
            <a:off x="914400" y="21843852"/>
            <a:ext cx="9798300" cy="7452600"/>
          </a:xfrm>
          <a:prstGeom prst="rect">
            <a:avLst/>
          </a:prstGeom>
          <a:solidFill>
            <a:srgbClr val="D8D8D8"/>
          </a:solidFill>
          <a:ln>
            <a:noFill/>
          </a:ln>
        </p:spPr>
      </p:sp>
      <p:sp>
        <p:nvSpPr>
          <p:cNvPr id="22" name="Google Shape;22;p2"/>
          <p:cNvSpPr/>
          <p:nvPr>
            <p:ph idx="3" type="pic"/>
          </p:nvPr>
        </p:nvSpPr>
        <p:spPr>
          <a:xfrm>
            <a:off x="33046966" y="17186910"/>
            <a:ext cx="9798300" cy="7452600"/>
          </a:xfrm>
          <a:prstGeom prst="rect">
            <a:avLst/>
          </a:prstGeom>
          <a:solidFill>
            <a:srgbClr val="D8D8D8"/>
          </a:solidFill>
          <a:ln>
            <a:noFill/>
          </a:ln>
        </p:spPr>
      </p:sp>
      <p:sp>
        <p:nvSpPr>
          <p:cNvPr id="23" name="Google Shape;23;p2"/>
          <p:cNvSpPr txBox="1"/>
          <p:nvPr>
            <p:ph idx="4" type="body"/>
          </p:nvPr>
        </p:nvSpPr>
        <p:spPr>
          <a:xfrm>
            <a:off x="11674474" y="6644640"/>
            <a:ext cx="9798300" cy="229209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2"/>
          <p:cNvSpPr txBox="1"/>
          <p:nvPr>
            <p:ph idx="5" type="body"/>
          </p:nvPr>
        </p:nvSpPr>
        <p:spPr>
          <a:xfrm>
            <a:off x="22516542" y="6705600"/>
            <a:ext cx="9448500" cy="66447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5" name="Google Shape;25;p2"/>
          <p:cNvSpPr txBox="1"/>
          <p:nvPr>
            <p:ph idx="6" type="body"/>
          </p:nvPr>
        </p:nvSpPr>
        <p:spPr>
          <a:xfrm>
            <a:off x="33046966" y="6705600"/>
            <a:ext cx="9798300" cy="99366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6" name="Google Shape;26;p2"/>
          <p:cNvSpPr txBox="1"/>
          <p:nvPr>
            <p:ph idx="7" type="body"/>
          </p:nvPr>
        </p:nvSpPr>
        <p:spPr>
          <a:xfrm>
            <a:off x="33046966" y="25130235"/>
            <a:ext cx="9798300" cy="42525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2"/>
          <p:cNvSpPr/>
          <p:nvPr>
            <p:ph idx="8" type="chart"/>
          </p:nvPr>
        </p:nvSpPr>
        <p:spPr>
          <a:xfrm>
            <a:off x="22513521" y="14194529"/>
            <a:ext cx="9454200" cy="6942000"/>
          </a:xfrm>
          <a:prstGeom prst="rect">
            <a:avLst/>
          </a:prstGeom>
          <a:noFill/>
          <a:ln>
            <a:noFill/>
          </a:ln>
        </p:spPr>
        <p:txBody>
          <a:bodyPr anchorCtr="0" anchor="t" bIns="52225" lIns="104475" spcFirstLastPara="1" rIns="104475" wrap="square" tIns="52225">
            <a:noAutofit/>
          </a:bodyPr>
          <a:lstStyle>
            <a:lvl1pPr lvl="0" marR="0" algn="l">
              <a:lnSpc>
                <a:spcPct val="90000"/>
              </a:lnSpc>
              <a:spcBef>
                <a:spcPts val="1000"/>
              </a:spcBef>
              <a:spcAft>
                <a:spcPts val="0"/>
              </a:spcAft>
              <a:buClr>
                <a:schemeClr val="dk1"/>
              </a:buClr>
              <a:buSzPts val="2700"/>
              <a:buFont typeface="Arial"/>
              <a:buChar char="•"/>
              <a:defRPr b="0" i="0" sz="2700" u="none" cap="none" strike="noStrike">
                <a:solidFill>
                  <a:schemeClr val="dk1"/>
                </a:solidFill>
                <a:latin typeface="Arial"/>
                <a:ea typeface="Arial"/>
                <a:cs typeface="Arial"/>
                <a:sym typeface="Arial"/>
              </a:defRPr>
            </a:lvl1pPr>
            <a:lvl2pPr lvl="1" marR="0" algn="l">
              <a:lnSpc>
                <a:spcPct val="90000"/>
              </a:lnSpc>
              <a:spcBef>
                <a:spcPts val="500"/>
              </a:spcBef>
              <a:spcAft>
                <a:spcPts val="0"/>
              </a:spcAft>
              <a:buClr>
                <a:schemeClr val="dk1"/>
              </a:buClr>
              <a:buSzPts val="2300"/>
              <a:buFont typeface="Arial"/>
              <a:buChar char="•"/>
              <a:defRPr b="0" i="0" sz="2300" u="none" cap="none" strike="noStrike">
                <a:solidFill>
                  <a:schemeClr val="dk1"/>
                </a:solidFill>
                <a:latin typeface="Arial"/>
                <a:ea typeface="Arial"/>
                <a:cs typeface="Arial"/>
                <a:sym typeface="Arial"/>
              </a:defRPr>
            </a:lvl2pPr>
            <a:lvl3pPr lvl="2" marR="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lvl="3"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lvl="4"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lvl="5"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8" name="Google Shape;28;p2"/>
          <p:cNvSpPr txBox="1"/>
          <p:nvPr>
            <p:ph idx="9" type="body"/>
          </p:nvPr>
        </p:nvSpPr>
        <p:spPr>
          <a:xfrm>
            <a:off x="22513522" y="21847581"/>
            <a:ext cx="9417600" cy="7596300"/>
          </a:xfrm>
          <a:prstGeom prst="rect">
            <a:avLst/>
          </a:prstGeom>
          <a:noFill/>
          <a:ln>
            <a:noFill/>
          </a:ln>
        </p:spPr>
        <p:txBody>
          <a:bodyPr anchorCtr="0" anchor="t" bIns="52225" lIns="104475" spcFirstLastPara="1" rIns="104475" wrap="square" tIns="52225">
            <a:noAutofit/>
          </a:bodyPr>
          <a:lstStyle>
            <a:lvl1pPr indent="-400050" lvl="0" marL="4572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1pPr>
            <a:lvl2pPr indent="-400050" lvl="1" marL="9144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2pPr>
            <a:lvl3pPr indent="-400050" lvl="2" marL="13716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3pPr>
            <a:lvl4pPr indent="-400050" lvl="3" marL="1828800" marR="0" algn="l">
              <a:lnSpc>
                <a:spcPct val="164255"/>
              </a:lnSpc>
              <a:spcBef>
                <a:spcPts val="0"/>
              </a:spcBef>
              <a:spcAft>
                <a:spcPts val="0"/>
              </a:spcAft>
              <a:buClr>
                <a:srgbClr val="7F7F7F"/>
              </a:buClr>
              <a:buSzPts val="2700"/>
              <a:buFont typeface="Arial"/>
              <a:buChar char="•"/>
              <a:defRPr b="0" i="0" sz="2700" u="none" cap="none" strike="noStrike">
                <a:solidFill>
                  <a:srgbClr val="7F7F7F"/>
                </a:solidFill>
                <a:latin typeface="Arial"/>
                <a:ea typeface="Arial"/>
                <a:cs typeface="Arial"/>
                <a:sym typeface="Arial"/>
              </a:defRPr>
            </a:lvl4pPr>
            <a:lvl5pPr indent="-400050" lvl="4" marL="2286000" marR="0" algn="l">
              <a:lnSpc>
                <a:spcPct val="164255"/>
              </a:lnSpc>
              <a:spcBef>
                <a:spcPts val="0"/>
              </a:spcBef>
              <a:spcAft>
                <a:spcPts val="0"/>
              </a:spcAft>
              <a:buClr>
                <a:srgbClr val="245EAC"/>
              </a:buClr>
              <a:buSzPts val="2700"/>
              <a:buFont typeface="Arial"/>
              <a:buChar char="•"/>
              <a:defRPr b="0" i="0" sz="2700" u="none" cap="none" strike="noStrike">
                <a:solidFill>
                  <a:srgbClr val="7F7F7F"/>
                </a:solidFill>
                <a:latin typeface="Arial"/>
                <a:ea typeface="Arial"/>
                <a:cs typeface="Arial"/>
                <a:sym typeface="Arial"/>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20208">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43891200" cy="5486400"/>
          </a:xfrm>
          <a:prstGeom prst="rect">
            <a:avLst/>
          </a:prstGeom>
          <a:solidFill>
            <a:srgbClr val="5D0025"/>
          </a:solidFill>
          <a:ln>
            <a:noFill/>
          </a:ln>
        </p:spPr>
        <p:txBody>
          <a:bodyPr anchorCtr="0" anchor="ctr" bIns="52225" lIns="104475" spcFirstLastPara="1" rIns="104475" wrap="square" tIns="52225">
            <a:noAutofit/>
          </a:bodyPr>
          <a:lstStyle/>
          <a:p>
            <a:pPr indent="0" lvl="0" marL="0" marR="0" rtl="0" algn="l">
              <a:lnSpc>
                <a:spcPct val="100000"/>
              </a:lnSpc>
              <a:spcBef>
                <a:spcPts val="0"/>
              </a:spcBef>
              <a:spcAft>
                <a:spcPts val="0"/>
              </a:spcAft>
              <a:buClr>
                <a:srgbClr val="000000"/>
              </a:buClr>
              <a:buSzPts val="3300"/>
              <a:buFont typeface="Arial"/>
              <a:buNone/>
            </a:pPr>
            <a:r>
              <a:t/>
            </a:r>
            <a:endParaRPr b="0" i="0" sz="3300" u="none" cap="none" strike="noStrike">
              <a:solidFill>
                <a:schemeClr val="dk1"/>
              </a:solidFill>
              <a:latin typeface="Arial"/>
              <a:ea typeface="Arial"/>
              <a:cs typeface="Arial"/>
              <a:sym typeface="Arial"/>
            </a:endParaRPr>
          </a:p>
        </p:txBody>
      </p:sp>
      <p:sp>
        <p:nvSpPr>
          <p:cNvPr id="7" name="Google Shape;7;p1"/>
          <p:cNvSpPr/>
          <p:nvPr/>
        </p:nvSpPr>
        <p:spPr>
          <a:xfrm>
            <a:off x="0" y="5257801"/>
            <a:ext cx="43891200" cy="265200"/>
          </a:xfrm>
          <a:prstGeom prst="rect">
            <a:avLst/>
          </a:prstGeom>
          <a:solidFill>
            <a:srgbClr val="8D5067"/>
          </a:solidFill>
          <a:ln>
            <a:noFill/>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000000"/>
              </a:buClr>
              <a:buSzPts val="8300"/>
              <a:buFont typeface="Arial"/>
              <a:buNone/>
            </a:pPr>
            <a:r>
              <a:t/>
            </a:r>
            <a:endParaRPr b="0" i="0" sz="8300" u="none" cap="none" strike="noStrike">
              <a:solidFill>
                <a:schemeClr val="lt1"/>
              </a:solidFill>
              <a:latin typeface="Arial"/>
              <a:ea typeface="Arial"/>
              <a:cs typeface="Arial"/>
              <a:sym typeface="Arial"/>
            </a:endParaRPr>
          </a:p>
        </p:txBody>
      </p:sp>
      <p:sp>
        <p:nvSpPr>
          <p:cNvPr id="8" name="Google Shape;8;p1"/>
          <p:cNvSpPr/>
          <p:nvPr/>
        </p:nvSpPr>
        <p:spPr>
          <a:xfrm>
            <a:off x="0" y="31470600"/>
            <a:ext cx="43891200" cy="1447800"/>
          </a:xfrm>
          <a:prstGeom prst="rect">
            <a:avLst/>
          </a:prstGeom>
          <a:solidFill>
            <a:srgbClr val="5D0025"/>
          </a:solidFill>
          <a:ln>
            <a:noFill/>
          </a:ln>
        </p:spPr>
        <p:txBody>
          <a:bodyPr anchorCtr="0" anchor="ctr" bIns="52225" lIns="104475" spcFirstLastPara="1" rIns="104475" wrap="square" tIns="52225">
            <a:noAutofit/>
          </a:bodyPr>
          <a:lstStyle/>
          <a:p>
            <a:pPr indent="0" lvl="0" marL="0" marR="0" rtl="0" algn="l">
              <a:lnSpc>
                <a:spcPct val="100000"/>
              </a:lnSpc>
              <a:spcBef>
                <a:spcPts val="0"/>
              </a:spcBef>
              <a:spcAft>
                <a:spcPts val="0"/>
              </a:spcAft>
              <a:buClr>
                <a:srgbClr val="000000"/>
              </a:buClr>
              <a:buSzPts val="3300"/>
              <a:buFont typeface="Arial"/>
              <a:buNone/>
            </a:pPr>
            <a:r>
              <a:t/>
            </a:r>
            <a:endParaRPr b="0" i="0" sz="3300" u="none" cap="none" strike="noStrike">
              <a:solidFill>
                <a:schemeClr val="dk1"/>
              </a:solidFill>
              <a:latin typeface="Arial"/>
              <a:ea typeface="Arial"/>
              <a:cs typeface="Arial"/>
              <a:sym typeface="Arial"/>
            </a:endParaRPr>
          </a:p>
        </p:txBody>
      </p:sp>
      <p:cxnSp>
        <p:nvCxnSpPr>
          <p:cNvPr id="9" name="Google Shape;9;p1"/>
          <p:cNvCxnSpPr/>
          <p:nvPr/>
        </p:nvCxnSpPr>
        <p:spPr>
          <a:xfrm>
            <a:off x="31543262" y="30837464"/>
            <a:ext cx="0" cy="1588200"/>
          </a:xfrm>
          <a:prstGeom prst="straightConnector1">
            <a:avLst/>
          </a:prstGeom>
          <a:noFill/>
          <a:ln cap="flat" cmpd="sng" w="25400">
            <a:solidFill>
              <a:schemeClr val="lt1"/>
            </a:solidFill>
            <a:prstDash val="dash"/>
            <a:miter lim="800000"/>
            <a:headEnd len="sm" w="sm" type="none"/>
            <a:tailEnd len="sm" w="sm" type="none"/>
          </a:ln>
        </p:spPr>
      </p:cxnSp>
      <p:pic>
        <p:nvPicPr>
          <p:cNvPr id="10" name="Google Shape;10;p1"/>
          <p:cNvPicPr preferRelativeResize="0"/>
          <p:nvPr/>
        </p:nvPicPr>
        <p:blipFill rotWithShape="1">
          <a:blip r:embed="rId1">
            <a:alphaModFix/>
          </a:blip>
          <a:srcRect b="0" l="0" r="0" t="0"/>
          <a:stretch/>
        </p:blipFill>
        <p:spPr>
          <a:xfrm>
            <a:off x="1" y="0"/>
            <a:ext cx="37322113" cy="2503724"/>
          </a:xfrm>
          <a:prstGeom prst="rect">
            <a:avLst/>
          </a:prstGeom>
          <a:noFill/>
          <a:ln>
            <a:noFill/>
          </a:ln>
        </p:spPr>
      </p:pic>
      <p:pic>
        <p:nvPicPr>
          <p:cNvPr id="11" name="Google Shape;11;p1"/>
          <p:cNvPicPr preferRelativeResize="0"/>
          <p:nvPr/>
        </p:nvPicPr>
        <p:blipFill rotWithShape="1">
          <a:blip r:embed="rId1">
            <a:alphaModFix/>
          </a:blip>
          <a:srcRect b="0" l="65059" r="0" t="0"/>
          <a:stretch/>
        </p:blipFill>
        <p:spPr>
          <a:xfrm>
            <a:off x="1" y="31434024"/>
            <a:ext cx="43939856" cy="1471433"/>
          </a:xfrm>
          <a:prstGeom prst="rect">
            <a:avLst/>
          </a:prstGeom>
          <a:noFill/>
          <a:ln>
            <a:noFill/>
          </a:ln>
        </p:spPr>
      </p:pic>
      <p:pic>
        <p:nvPicPr>
          <p:cNvPr id="12" name="Google Shape;12;p1"/>
          <p:cNvPicPr preferRelativeResize="0"/>
          <p:nvPr/>
        </p:nvPicPr>
        <p:blipFill rotWithShape="1">
          <a:blip r:embed="rId1">
            <a:alphaModFix/>
          </a:blip>
          <a:srcRect b="0" l="65059" r="0" t="0"/>
          <a:stretch/>
        </p:blipFill>
        <p:spPr>
          <a:xfrm>
            <a:off x="1" y="2503724"/>
            <a:ext cx="38404800" cy="2982676"/>
          </a:xfrm>
          <a:prstGeom prst="rect">
            <a:avLst/>
          </a:prstGeom>
          <a:noFill/>
          <a:ln>
            <a:noFill/>
          </a:ln>
        </p:spPr>
      </p:pic>
      <p:pic>
        <p:nvPicPr>
          <p:cNvPr id="13" name="Google Shape;13;p1"/>
          <p:cNvPicPr preferRelativeResize="0"/>
          <p:nvPr/>
        </p:nvPicPr>
        <p:blipFill rotWithShape="1">
          <a:blip r:embed="rId1">
            <a:alphaModFix/>
          </a:blip>
          <a:srcRect b="0" l="65059" r="0" t="0"/>
          <a:stretch/>
        </p:blipFill>
        <p:spPr>
          <a:xfrm>
            <a:off x="36157168" y="0"/>
            <a:ext cx="7734031" cy="2982676"/>
          </a:xfrm>
          <a:prstGeom prst="rect">
            <a:avLst/>
          </a:prstGeom>
          <a:noFill/>
          <a:ln>
            <a:noFill/>
          </a:ln>
        </p:spPr>
      </p:pic>
      <p:pic>
        <p:nvPicPr>
          <p:cNvPr id="14" name="Google Shape;14;p1"/>
          <p:cNvPicPr preferRelativeResize="0"/>
          <p:nvPr/>
        </p:nvPicPr>
        <p:blipFill rotWithShape="1">
          <a:blip r:embed="rId1">
            <a:alphaModFix/>
          </a:blip>
          <a:srcRect b="0" l="65059" r="0" t="0"/>
          <a:stretch/>
        </p:blipFill>
        <p:spPr>
          <a:xfrm>
            <a:off x="1" y="31470601"/>
            <a:ext cx="43891200" cy="9550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3.png"/><Relationship Id="rId13" Type="http://schemas.openxmlformats.org/officeDocument/2006/relationships/image" Target="../media/image10.png"/><Relationship Id="rId12"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5.png"/><Relationship Id="rId9" Type="http://schemas.openxmlformats.org/officeDocument/2006/relationships/image" Target="../media/image2.png"/><Relationship Id="rId15" Type="http://schemas.openxmlformats.org/officeDocument/2006/relationships/image" Target="../media/image13.png"/><Relationship Id="rId14" Type="http://schemas.openxmlformats.org/officeDocument/2006/relationships/image" Target="../media/image14.png"/><Relationship Id="rId5" Type="http://schemas.openxmlformats.org/officeDocument/2006/relationships/image" Target="../media/image4.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 name="Shape 32"/>
        <p:cNvGrpSpPr/>
        <p:nvPr/>
      </p:nvGrpSpPr>
      <p:grpSpPr>
        <a:xfrm>
          <a:off x="0" y="0"/>
          <a:ext cx="0" cy="0"/>
          <a:chOff x="0" y="0"/>
          <a:chExt cx="0" cy="0"/>
        </a:xfrm>
      </p:grpSpPr>
      <p:sp>
        <p:nvSpPr>
          <p:cNvPr id="33" name="Google Shape;33;p3"/>
          <p:cNvSpPr/>
          <p:nvPr/>
        </p:nvSpPr>
        <p:spPr>
          <a:xfrm>
            <a:off x="1688825" y="1207050"/>
            <a:ext cx="40679700" cy="3423600"/>
          </a:xfrm>
          <a:prstGeom prst="rect">
            <a:avLst/>
          </a:prstGeom>
          <a:noFill/>
          <a:ln>
            <a:noFill/>
          </a:ln>
        </p:spPr>
        <p:txBody>
          <a:bodyPr anchorCtr="0" anchor="t" bIns="44525" lIns="89050" spcFirstLastPara="1" rIns="89050" wrap="square" tIns="44525">
            <a:noAutofit/>
          </a:bodyPr>
          <a:lstStyle/>
          <a:p>
            <a:pPr indent="0" lvl="0" marL="0" marR="0" rtl="0" algn="ctr">
              <a:lnSpc>
                <a:spcPct val="100000"/>
              </a:lnSpc>
              <a:spcBef>
                <a:spcPts val="0"/>
              </a:spcBef>
              <a:spcAft>
                <a:spcPts val="0"/>
              </a:spcAft>
              <a:buClr>
                <a:srgbClr val="000000"/>
              </a:buClr>
              <a:buSzPts val="10100"/>
              <a:buFont typeface="Arial"/>
              <a:buNone/>
            </a:pPr>
            <a:r>
              <a:rPr b="1" lang="en-US" sz="10100">
                <a:solidFill>
                  <a:schemeClr val="lt1"/>
                </a:solidFill>
                <a:latin typeface="Times New Roman"/>
                <a:ea typeface="Times New Roman"/>
                <a:cs typeface="Times New Roman"/>
                <a:sym typeface="Times New Roman"/>
              </a:rPr>
              <a:t>SolarEye Security System</a:t>
            </a:r>
            <a:r>
              <a:rPr b="1" i="0" lang="en-US" sz="10100" u="none" cap="none" strike="noStrike">
                <a:solidFill>
                  <a:schemeClr val="lt1"/>
                </a:solidFill>
                <a:latin typeface="Times New Roman"/>
                <a:ea typeface="Times New Roman"/>
                <a:cs typeface="Times New Roman"/>
                <a:sym typeface="Times New Roman"/>
              </a:rPr>
              <a:t> </a:t>
            </a:r>
            <a:endParaRPr b="1" sz="10100">
              <a:solidFill>
                <a:schemeClr val="lt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0100"/>
              <a:buFont typeface="Arial"/>
              <a:buNone/>
            </a:pPr>
            <a:r>
              <a:rPr b="1" lang="en-US" sz="6200">
                <a:solidFill>
                  <a:schemeClr val="lt1"/>
                </a:solidFill>
                <a:latin typeface="Times New Roman"/>
                <a:ea typeface="Times New Roman"/>
                <a:cs typeface="Times New Roman"/>
                <a:sym typeface="Times New Roman"/>
              </a:rPr>
              <a:t>Alex Allahar, Zayan Prasla, Jackson Kitchel, Victor Igbokwe</a:t>
            </a:r>
            <a:endParaRPr b="1" i="0" sz="6200" u="none" cap="none" strike="noStrike">
              <a:solidFill>
                <a:schemeClr val="lt1"/>
              </a:solidFill>
              <a:latin typeface="Times New Roman"/>
              <a:ea typeface="Times New Roman"/>
              <a:cs typeface="Times New Roman"/>
              <a:sym typeface="Times New Roman"/>
            </a:endParaRPr>
          </a:p>
          <a:p>
            <a:pPr indent="0" lvl="0" marL="0" marR="0" rtl="0" algn="ctr">
              <a:lnSpc>
                <a:spcPct val="100000"/>
              </a:lnSpc>
              <a:spcBef>
                <a:spcPts val="2300"/>
              </a:spcBef>
              <a:spcAft>
                <a:spcPts val="0"/>
              </a:spcAft>
              <a:buClr>
                <a:srgbClr val="000000"/>
              </a:buClr>
              <a:buSzPts val="6200"/>
              <a:buFont typeface="Arial"/>
              <a:buNone/>
            </a:pPr>
            <a:r>
              <a:rPr b="1" lang="en-US" sz="6200">
                <a:solidFill>
                  <a:schemeClr val="lt1"/>
                </a:solidFill>
                <a:latin typeface="Times New Roman"/>
                <a:ea typeface="Times New Roman"/>
                <a:cs typeface="Times New Roman"/>
                <a:sym typeface="Times New Roman"/>
              </a:rPr>
              <a:t>Wonhyeok Jang</a:t>
            </a:r>
            <a:r>
              <a:rPr b="1" i="0" lang="en-US" sz="6200" u="none" cap="none" strike="noStrike">
                <a:solidFill>
                  <a:schemeClr val="lt1"/>
                </a:solidFill>
                <a:latin typeface="Times New Roman"/>
                <a:ea typeface="Times New Roman"/>
                <a:cs typeface="Times New Roman"/>
                <a:sym typeface="Times New Roman"/>
              </a:rPr>
              <a:t> </a:t>
            </a:r>
            <a:endParaRPr i="0" sz="1600" u="none" cap="none" strike="noStrike">
              <a:solidFill>
                <a:srgbClr val="000000"/>
              </a:solidFill>
              <a:latin typeface="Times New Roman"/>
              <a:ea typeface="Times New Roman"/>
              <a:cs typeface="Times New Roman"/>
              <a:sym typeface="Times New Roman"/>
            </a:endParaRPr>
          </a:p>
        </p:txBody>
      </p:sp>
      <p:sp>
        <p:nvSpPr>
          <p:cNvPr id="34" name="Google Shape;34;p3"/>
          <p:cNvSpPr txBox="1"/>
          <p:nvPr/>
        </p:nvSpPr>
        <p:spPr>
          <a:xfrm>
            <a:off x="914400" y="7003709"/>
            <a:ext cx="9830100" cy="536400"/>
          </a:xfrm>
          <a:prstGeom prst="rect">
            <a:avLst/>
          </a:prstGeom>
          <a:noFill/>
          <a:ln>
            <a:noFill/>
          </a:ln>
        </p:spPr>
        <p:txBody>
          <a:bodyPr anchorCtr="0" anchor="t" bIns="52225" lIns="104475" spcFirstLastPara="1" rIns="104475" wrap="square" tIns="522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
        <p:nvSpPr>
          <p:cNvPr id="35" name="Google Shape;35;p3"/>
          <p:cNvSpPr/>
          <p:nvPr/>
        </p:nvSpPr>
        <p:spPr>
          <a:xfrm>
            <a:off x="17658090" y="15705536"/>
            <a:ext cx="248930" cy="976818"/>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000000"/>
              </a:buClr>
              <a:buSzPts val="7100"/>
              <a:buFont typeface="Arial"/>
              <a:buNone/>
            </a:pPr>
            <a:r>
              <a:t/>
            </a:r>
            <a:endParaRPr b="0" i="0" sz="7100" u="none" cap="none" strike="noStrike">
              <a:solidFill>
                <a:schemeClr val="lt1"/>
              </a:solidFill>
              <a:latin typeface="Arial"/>
              <a:ea typeface="Arial"/>
              <a:cs typeface="Arial"/>
              <a:sym typeface="Arial"/>
            </a:endParaRPr>
          </a:p>
        </p:txBody>
      </p:sp>
      <p:sp>
        <p:nvSpPr>
          <p:cNvPr id="36" name="Google Shape;36;p3"/>
          <p:cNvSpPr/>
          <p:nvPr/>
        </p:nvSpPr>
        <p:spPr>
          <a:xfrm rot="10800000">
            <a:off x="19895412" y="14719040"/>
            <a:ext cx="248930" cy="976818"/>
          </a:xfrm>
          <a:custGeom>
            <a:rect b="b" l="l" r="r" t="t"/>
            <a:pathLst>
              <a:path extrusionOk="0" h="1641711" w="387439">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lt1"/>
          </a:solidFill>
          <a:ln cap="flat" cmpd="sng" w="12700">
            <a:solidFill>
              <a:schemeClr val="lt1"/>
            </a:solidFill>
            <a:prstDash val="solid"/>
            <a:miter lim="800000"/>
            <a:headEnd len="sm" w="sm" type="none"/>
            <a:tailEnd len="sm" w="sm" type="none"/>
          </a:ln>
        </p:spPr>
        <p:txBody>
          <a:bodyPr anchorCtr="0" anchor="ctr" bIns="52225" lIns="104475" spcFirstLastPara="1" rIns="104475" wrap="square" tIns="52225">
            <a:noAutofit/>
          </a:bodyPr>
          <a:lstStyle/>
          <a:p>
            <a:pPr indent="0" lvl="0" marL="0" marR="0" rtl="0" algn="ctr">
              <a:lnSpc>
                <a:spcPct val="100000"/>
              </a:lnSpc>
              <a:spcBef>
                <a:spcPts val="0"/>
              </a:spcBef>
              <a:spcAft>
                <a:spcPts val="0"/>
              </a:spcAft>
              <a:buClr>
                <a:srgbClr val="000000"/>
              </a:buClr>
              <a:buSzPts val="7100"/>
              <a:buFont typeface="Arial"/>
              <a:buNone/>
            </a:pPr>
            <a:r>
              <a:t/>
            </a:r>
            <a:endParaRPr b="0" i="0" sz="7100" u="none" cap="none" strike="noStrike">
              <a:solidFill>
                <a:schemeClr val="lt1"/>
              </a:solidFill>
              <a:latin typeface="Arial"/>
              <a:ea typeface="Arial"/>
              <a:cs typeface="Arial"/>
              <a:sym typeface="Arial"/>
            </a:endParaRPr>
          </a:p>
        </p:txBody>
      </p:sp>
      <p:pic>
        <p:nvPicPr>
          <p:cNvPr id="37" name="Google Shape;37;p3"/>
          <p:cNvPicPr preferRelativeResize="0"/>
          <p:nvPr/>
        </p:nvPicPr>
        <p:blipFill rotWithShape="1">
          <a:blip r:embed="rId3">
            <a:alphaModFix/>
          </a:blip>
          <a:srcRect b="0" l="0" r="0" t="0"/>
          <a:stretch/>
        </p:blipFill>
        <p:spPr>
          <a:xfrm>
            <a:off x="16406670" y="17555262"/>
            <a:ext cx="707508" cy="604330"/>
          </a:xfrm>
          <a:prstGeom prst="rect">
            <a:avLst/>
          </a:prstGeom>
          <a:noFill/>
          <a:ln>
            <a:noFill/>
          </a:ln>
        </p:spPr>
      </p:pic>
      <p:cxnSp>
        <p:nvCxnSpPr>
          <p:cNvPr id="38" name="Google Shape;38;p3"/>
          <p:cNvCxnSpPr/>
          <p:nvPr/>
        </p:nvCxnSpPr>
        <p:spPr>
          <a:xfrm>
            <a:off x="605615" y="15506545"/>
            <a:ext cx="9784200" cy="0"/>
          </a:xfrm>
          <a:prstGeom prst="straightConnector1">
            <a:avLst/>
          </a:prstGeom>
          <a:noFill/>
          <a:ln cap="flat" cmpd="sng" w="25400">
            <a:solidFill>
              <a:schemeClr val="dk1"/>
            </a:solidFill>
            <a:prstDash val="dash"/>
            <a:round/>
            <a:headEnd len="sm" w="sm" type="none"/>
            <a:tailEnd len="sm" w="sm" type="none"/>
          </a:ln>
        </p:spPr>
      </p:cxnSp>
      <p:cxnSp>
        <p:nvCxnSpPr>
          <p:cNvPr id="39" name="Google Shape;39;p3"/>
          <p:cNvCxnSpPr/>
          <p:nvPr/>
        </p:nvCxnSpPr>
        <p:spPr>
          <a:xfrm>
            <a:off x="-13328420" y="6404369"/>
            <a:ext cx="9830100" cy="0"/>
          </a:xfrm>
          <a:prstGeom prst="straightConnector1">
            <a:avLst/>
          </a:prstGeom>
          <a:noFill/>
          <a:ln cap="flat" cmpd="sng" w="25400">
            <a:solidFill>
              <a:schemeClr val="dk1"/>
            </a:solidFill>
            <a:prstDash val="dash"/>
            <a:round/>
            <a:headEnd len="sm" w="sm" type="none"/>
            <a:tailEnd len="sm" w="sm" type="none"/>
          </a:ln>
        </p:spPr>
      </p:cxnSp>
      <p:cxnSp>
        <p:nvCxnSpPr>
          <p:cNvPr id="40" name="Google Shape;40;p3"/>
          <p:cNvCxnSpPr/>
          <p:nvPr/>
        </p:nvCxnSpPr>
        <p:spPr>
          <a:xfrm>
            <a:off x="-13250017" y="13105655"/>
            <a:ext cx="9673500" cy="0"/>
          </a:xfrm>
          <a:prstGeom prst="straightConnector1">
            <a:avLst/>
          </a:prstGeom>
          <a:noFill/>
          <a:ln cap="flat" cmpd="sng" w="25400">
            <a:solidFill>
              <a:schemeClr val="dk1"/>
            </a:solidFill>
            <a:prstDash val="dash"/>
            <a:round/>
            <a:headEnd len="sm" w="sm" type="none"/>
            <a:tailEnd len="sm" w="sm" type="none"/>
          </a:ln>
        </p:spPr>
      </p:cxnSp>
      <p:sp>
        <p:nvSpPr>
          <p:cNvPr id="41" name="Google Shape;41;p3"/>
          <p:cNvSpPr txBox="1"/>
          <p:nvPr/>
        </p:nvSpPr>
        <p:spPr>
          <a:xfrm>
            <a:off x="614019" y="14617800"/>
            <a:ext cx="98301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1. </a:t>
            </a:r>
            <a:r>
              <a:rPr b="1" i="1" lang="en-US" sz="3200">
                <a:solidFill>
                  <a:schemeClr val="dk1"/>
                </a:solidFill>
                <a:latin typeface="Times New Roman"/>
                <a:ea typeface="Times New Roman"/>
                <a:cs typeface="Times New Roman"/>
                <a:sym typeface="Times New Roman"/>
              </a:rPr>
              <a:t>System Diagram</a:t>
            </a:r>
            <a:r>
              <a:rPr b="1" i="1" lang="en-US" sz="3200" u="none" cap="none" strike="noStrike">
                <a:solidFill>
                  <a:schemeClr val="dk1"/>
                </a:solidFill>
                <a:latin typeface="Times New Roman"/>
                <a:ea typeface="Times New Roman"/>
                <a:cs typeface="Times New Roman"/>
                <a:sym typeface="Times New Roman"/>
              </a:rPr>
              <a:t>  </a:t>
            </a:r>
            <a:endParaRPr b="1" i="0" sz="1600" u="none" cap="none" strike="noStrike">
              <a:solidFill>
                <a:srgbClr val="000000"/>
              </a:solidFill>
              <a:latin typeface="Times New Roman"/>
              <a:ea typeface="Times New Roman"/>
              <a:cs typeface="Times New Roman"/>
              <a:sym typeface="Times New Roman"/>
            </a:endParaRPr>
          </a:p>
        </p:txBody>
      </p:sp>
      <p:sp>
        <p:nvSpPr>
          <p:cNvPr id="42" name="Google Shape;42;p3"/>
          <p:cNvSpPr txBox="1"/>
          <p:nvPr/>
        </p:nvSpPr>
        <p:spPr>
          <a:xfrm>
            <a:off x="413635" y="7037625"/>
            <a:ext cx="10230900" cy="3467700"/>
          </a:xfrm>
          <a:prstGeom prst="rect">
            <a:avLst/>
          </a:prstGeom>
          <a:solidFill>
            <a:schemeClr val="lt1">
              <a:alpha val="62352"/>
            </a:schemeClr>
          </a:solidFill>
          <a:ln>
            <a:noFill/>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System Overiew</a:t>
            </a:r>
            <a:endParaRPr b="1" sz="5500" u="sng">
              <a:solidFill>
                <a:srgbClr val="5D0025"/>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3200"/>
              <a:buFont typeface="Arial"/>
              <a:buNone/>
            </a:pPr>
            <a:r>
              <a:rPr b="1" lang="en-US" sz="3200">
                <a:solidFill>
                  <a:schemeClr val="dk1"/>
                </a:solidFill>
                <a:latin typeface="Times New Roman"/>
                <a:ea typeface="Times New Roman"/>
                <a:cs typeface="Times New Roman"/>
                <a:sym typeface="Times New Roman"/>
              </a:rPr>
              <a:t>An autonomous solar‑powered, motion‑activated camera system that delivers live video feeds and instant app alerts for reliable off‑grid surveillance.</a:t>
            </a:r>
            <a:endParaRPr b="1" sz="3200">
              <a:solidFill>
                <a:schemeClr val="dk1"/>
              </a:solidFill>
              <a:latin typeface="Times New Roman"/>
              <a:ea typeface="Times New Roman"/>
              <a:cs typeface="Times New Roman"/>
              <a:sym typeface="Times New Roman"/>
            </a:endParaRPr>
          </a:p>
          <a:p>
            <a:pPr indent="0" lvl="0" marL="0" marR="0" rtl="0" algn="l">
              <a:lnSpc>
                <a:spcPct val="164285"/>
              </a:lnSpc>
              <a:spcBef>
                <a:spcPts val="1400"/>
              </a:spcBef>
              <a:spcAft>
                <a:spcPts val="0"/>
              </a:spcAft>
              <a:buClr>
                <a:srgbClr val="000000"/>
              </a:buClr>
              <a:buSzPts val="3200"/>
              <a:buFont typeface="Arial"/>
              <a:buNone/>
            </a:pPr>
            <a:r>
              <a:t/>
            </a:r>
            <a:endParaRPr sz="3200">
              <a:solidFill>
                <a:schemeClr val="dk1"/>
              </a:solidFill>
            </a:endParaRPr>
          </a:p>
        </p:txBody>
      </p:sp>
      <p:sp>
        <p:nvSpPr>
          <p:cNvPr id="43" name="Google Shape;43;p3"/>
          <p:cNvSpPr txBox="1"/>
          <p:nvPr/>
        </p:nvSpPr>
        <p:spPr>
          <a:xfrm>
            <a:off x="11649417" y="7003700"/>
            <a:ext cx="9757200" cy="9310800"/>
          </a:xfrm>
          <a:prstGeom prst="rect">
            <a:avLst/>
          </a:prstGeom>
          <a:solidFill>
            <a:schemeClr val="lt1">
              <a:alpha val="62352"/>
            </a:schemeClr>
          </a:solidFill>
          <a:ln cap="flat" cmpd="sng" w="9525">
            <a:solidFill>
              <a:schemeClr val="lt1"/>
            </a:solidFill>
            <a:prstDash val="solid"/>
            <a:round/>
            <a:headEnd len="sm" w="sm" type="none"/>
            <a:tailEnd len="sm" w="sm" type="none"/>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Power Distribution </a:t>
            </a:r>
            <a:endParaRPr sz="3200">
              <a:solidFill>
                <a:schemeClr val="dk2"/>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b="1" lang="en-US" sz="3200">
                <a:solidFill>
                  <a:schemeClr val="dk1"/>
                </a:solidFill>
                <a:latin typeface="Times New Roman"/>
                <a:ea typeface="Times New Roman"/>
                <a:cs typeface="Times New Roman"/>
                <a:sym typeface="Times New Roman"/>
              </a:rPr>
              <a:t>The Power Distribution system draws from a 12-volt battery, the system employs a buck converter </a:t>
            </a:r>
            <a:r>
              <a:rPr b="1" lang="en-US" sz="3200">
                <a:solidFill>
                  <a:schemeClr val="dk2"/>
                </a:solidFill>
                <a:latin typeface="Times New Roman"/>
                <a:ea typeface="Times New Roman"/>
                <a:cs typeface="Times New Roman"/>
                <a:sym typeface="Times New Roman"/>
              </a:rPr>
              <a:t>[see Figure 3(A)]</a:t>
            </a:r>
            <a:r>
              <a:rPr b="1" lang="en-US" sz="3200">
                <a:solidFill>
                  <a:schemeClr val="dk1"/>
                </a:solidFill>
                <a:latin typeface="Times New Roman"/>
                <a:ea typeface="Times New Roman"/>
                <a:cs typeface="Times New Roman"/>
                <a:sym typeface="Times New Roman"/>
              </a:rPr>
              <a:t> to step down the voltage to 5 volts, ensuring stable and efficient power delivery. This regulated 5-volt supply is essential for supplying adequate power to the Raspberry Pi. To enhance functionality, the LED lights and cooling fans are integrated through a dedicated relay control PCB </a:t>
            </a:r>
            <a:r>
              <a:rPr b="1" lang="en-US" sz="3200">
                <a:solidFill>
                  <a:schemeClr val="dk2"/>
                </a:solidFill>
                <a:latin typeface="Times New Roman"/>
                <a:ea typeface="Times New Roman"/>
                <a:cs typeface="Times New Roman"/>
                <a:sym typeface="Times New Roman"/>
              </a:rPr>
              <a:t>[see Figure 3(B)]</a:t>
            </a:r>
            <a:r>
              <a:rPr b="1" lang="en-US" sz="3200">
                <a:solidFill>
                  <a:schemeClr val="dk1"/>
                </a:solidFill>
                <a:latin typeface="Times New Roman"/>
                <a:ea typeface="Times New Roman"/>
                <a:cs typeface="Times New Roman"/>
                <a:sym typeface="Times New Roman"/>
              </a:rPr>
              <a:t>, which allows the Raspberry Pi to precisely control their operation. This setup enables seamless coordination between power distribution and system control, optimizing performance and efficiency.</a:t>
            </a:r>
            <a:endParaRPr b="1" sz="3200">
              <a:solidFill>
                <a:schemeClr val="dk1"/>
              </a:solidFill>
              <a:latin typeface="Times New Roman"/>
              <a:ea typeface="Times New Roman"/>
              <a:cs typeface="Times New Roman"/>
              <a:sym typeface="Times New Roman"/>
            </a:endParaRPr>
          </a:p>
          <a:p>
            <a:pPr indent="457200" lvl="0" marL="0" marR="0" rtl="0" algn="l">
              <a:lnSpc>
                <a:spcPct val="100000"/>
              </a:lnSpc>
              <a:spcBef>
                <a:spcPts val="1400"/>
              </a:spcBef>
              <a:spcAft>
                <a:spcPts val="0"/>
              </a:spcAft>
              <a:buNone/>
            </a:pPr>
            <a:r>
              <a:rPr b="1" lang="en-US" sz="3200">
                <a:solidFill>
                  <a:schemeClr val="dk1"/>
                </a:solidFill>
                <a:latin typeface="Times New Roman"/>
                <a:ea typeface="Times New Roman"/>
                <a:cs typeface="Times New Roman"/>
                <a:sym typeface="Times New Roman"/>
              </a:rPr>
              <a:t>A: Buck Converter PCB – Efficiently steps down 12V to a stable 5V supply.</a:t>
            </a:r>
            <a:endParaRPr b="1" sz="3200">
              <a:solidFill>
                <a:schemeClr val="dk1"/>
              </a:solidFill>
              <a:latin typeface="Times New Roman"/>
              <a:ea typeface="Times New Roman"/>
              <a:cs typeface="Times New Roman"/>
              <a:sym typeface="Times New Roman"/>
            </a:endParaRPr>
          </a:p>
          <a:p>
            <a:pPr indent="457200" lvl="0" marL="0" marR="0" rtl="0" algn="l">
              <a:lnSpc>
                <a:spcPct val="100000"/>
              </a:lnSpc>
              <a:spcBef>
                <a:spcPts val="1400"/>
              </a:spcBef>
              <a:spcAft>
                <a:spcPts val="0"/>
              </a:spcAft>
              <a:buNone/>
            </a:pPr>
            <a:r>
              <a:rPr b="1" lang="en-US" sz="3200">
                <a:solidFill>
                  <a:schemeClr val="dk1"/>
                </a:solidFill>
                <a:latin typeface="Times New Roman"/>
                <a:ea typeface="Times New Roman"/>
                <a:cs typeface="Times New Roman"/>
                <a:sym typeface="Times New Roman"/>
              </a:rPr>
              <a:t>B: Relay Control PCB – Allows the user to control  via the Raspberry Pi. </a:t>
            </a:r>
            <a:endParaRPr b="1" i="0" sz="3200" u="none" cap="none" strike="noStrike">
              <a:solidFill>
                <a:srgbClr val="000000"/>
              </a:solidFill>
            </a:endParaRPr>
          </a:p>
        </p:txBody>
      </p:sp>
      <p:sp>
        <p:nvSpPr>
          <p:cNvPr id="44" name="Google Shape;44;p3"/>
          <p:cNvSpPr txBox="1"/>
          <p:nvPr/>
        </p:nvSpPr>
        <p:spPr>
          <a:xfrm>
            <a:off x="32974147" y="7003700"/>
            <a:ext cx="10230900" cy="6687000"/>
          </a:xfrm>
          <a:prstGeom prst="rect">
            <a:avLst/>
          </a:prstGeom>
          <a:solidFill>
            <a:schemeClr val="lt1">
              <a:alpha val="62352"/>
            </a:schemeClr>
          </a:solidFill>
          <a:ln>
            <a:noFill/>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SolarEye App</a:t>
            </a:r>
            <a:endParaRPr i="0" sz="1600" u="none" cap="none" strike="noStrike">
              <a:solidFill>
                <a:srgbClr val="000000"/>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3200"/>
              <a:buFont typeface="Arial"/>
              <a:buNone/>
            </a:pPr>
            <a:r>
              <a:rPr b="1" lang="en-US" sz="3200">
                <a:solidFill>
                  <a:schemeClr val="dk1"/>
                </a:solidFill>
                <a:latin typeface="Times New Roman"/>
                <a:ea typeface="Times New Roman"/>
                <a:cs typeface="Times New Roman"/>
                <a:sym typeface="Times New Roman"/>
              </a:rPr>
              <a:t>The SolarEye App interfaces with the SolarEye Security System via Firebase, allowing comprehensive control over the system's camera and LED deterrence features. The home page provides an overview of Event History and Charging Statistics for the Solar Panel and Battery. In the Event History section, all recorded events are listed, complete with timestamps and event types. To ensure maximum security, the app's backend is fortified with email verification, two-step authentication, and SMS verification.</a:t>
            </a:r>
            <a:endParaRPr b="1" i="0" sz="3200" u="none" cap="none" strike="noStrike">
              <a:solidFill>
                <a:srgbClr val="000000"/>
              </a:solidFill>
              <a:latin typeface="Times New Roman"/>
              <a:ea typeface="Times New Roman"/>
              <a:cs typeface="Times New Roman"/>
              <a:sym typeface="Times New Roman"/>
            </a:endParaRPr>
          </a:p>
        </p:txBody>
      </p:sp>
      <p:sp>
        <p:nvSpPr>
          <p:cNvPr id="45" name="Google Shape;45;p3"/>
          <p:cNvSpPr txBox="1"/>
          <p:nvPr/>
        </p:nvSpPr>
        <p:spPr>
          <a:xfrm>
            <a:off x="11845339" y="22848528"/>
            <a:ext cx="9830100" cy="598200"/>
          </a:xfrm>
          <a:prstGeom prst="rect">
            <a:avLst/>
          </a:prstGeom>
          <a:solidFill>
            <a:schemeClr val="lt1">
              <a:alpha val="41568"/>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3</a:t>
            </a:r>
            <a:r>
              <a:rPr b="1" i="1" lang="en-US" sz="3200" u="none" cap="none" strike="noStrike">
                <a:solidFill>
                  <a:schemeClr val="dk1"/>
                </a:solidFill>
                <a:latin typeface="Times New Roman"/>
                <a:ea typeface="Times New Roman"/>
                <a:cs typeface="Times New Roman"/>
                <a:sym typeface="Times New Roman"/>
              </a:rPr>
              <a:t>.</a:t>
            </a:r>
            <a:r>
              <a:rPr b="1" i="1" lang="en-US" sz="3200">
                <a:solidFill>
                  <a:schemeClr val="dk1"/>
                </a:solidFill>
                <a:latin typeface="Times New Roman"/>
                <a:ea typeface="Times New Roman"/>
                <a:cs typeface="Times New Roman"/>
                <a:sym typeface="Times New Roman"/>
              </a:rPr>
              <a:t> View of Printed Circuit Boards</a:t>
            </a:r>
            <a:endParaRPr b="1" i="0" sz="1600" u="none" cap="none" strike="noStrike">
              <a:solidFill>
                <a:srgbClr val="000000"/>
              </a:solidFill>
              <a:latin typeface="Times New Roman"/>
              <a:ea typeface="Times New Roman"/>
              <a:cs typeface="Times New Roman"/>
              <a:sym typeface="Times New Roman"/>
            </a:endParaRPr>
          </a:p>
        </p:txBody>
      </p:sp>
      <p:sp>
        <p:nvSpPr>
          <p:cNvPr id="46" name="Google Shape;46;p3"/>
          <p:cNvSpPr txBox="1"/>
          <p:nvPr/>
        </p:nvSpPr>
        <p:spPr>
          <a:xfrm>
            <a:off x="22275310" y="30030110"/>
            <a:ext cx="9830100" cy="10905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6.</a:t>
            </a:r>
            <a:r>
              <a:rPr b="1" i="1" lang="en-US" sz="3200" u="none" cap="none" strike="noStrike">
                <a:solidFill>
                  <a:schemeClr val="dk1"/>
                </a:solidFill>
                <a:latin typeface="Times New Roman"/>
                <a:ea typeface="Times New Roman"/>
                <a:cs typeface="Times New Roman"/>
                <a:sym typeface="Times New Roman"/>
              </a:rPr>
              <a:t> </a:t>
            </a:r>
            <a:r>
              <a:rPr b="1" i="1" lang="en-US" sz="3200">
                <a:solidFill>
                  <a:schemeClr val="dk1"/>
                </a:solidFill>
                <a:latin typeface="Times New Roman"/>
                <a:ea typeface="Times New Roman"/>
                <a:cs typeface="Times New Roman"/>
                <a:sym typeface="Times New Roman"/>
              </a:rPr>
              <a:t>Solar Power Charging Circuit Efficiency vs Output Voltage</a:t>
            </a:r>
            <a:r>
              <a:rPr b="1" i="1" lang="en-US" sz="3200" u="none" cap="none" strike="noStrike">
                <a:solidFill>
                  <a:schemeClr val="dk1"/>
                </a:solidFill>
                <a:latin typeface="Times New Roman"/>
                <a:ea typeface="Times New Roman"/>
                <a:cs typeface="Times New Roman"/>
                <a:sym typeface="Times New Roman"/>
              </a:rPr>
              <a:t>  (Taken from MPPT Spec Sheet)</a:t>
            </a:r>
            <a:endParaRPr b="1" i="0" sz="1600" u="none" cap="none" strike="noStrike">
              <a:solidFill>
                <a:srgbClr val="000000"/>
              </a:solidFill>
              <a:latin typeface="Times New Roman"/>
              <a:ea typeface="Times New Roman"/>
              <a:cs typeface="Times New Roman"/>
              <a:sym typeface="Times New Roman"/>
            </a:endParaRPr>
          </a:p>
        </p:txBody>
      </p:sp>
      <p:pic>
        <p:nvPicPr>
          <p:cNvPr id="47" name="Google Shape;47;p3"/>
          <p:cNvPicPr preferRelativeResize="0"/>
          <p:nvPr/>
        </p:nvPicPr>
        <p:blipFill rotWithShape="1">
          <a:blip r:embed="rId4">
            <a:alphaModFix/>
          </a:blip>
          <a:srcRect b="0" l="0" r="0" t="0"/>
          <a:stretch/>
        </p:blipFill>
        <p:spPr>
          <a:xfrm>
            <a:off x="34032049" y="1665450"/>
            <a:ext cx="3423600" cy="3423600"/>
          </a:xfrm>
          <a:prstGeom prst="rect">
            <a:avLst/>
          </a:prstGeom>
          <a:noFill/>
          <a:ln>
            <a:noFill/>
          </a:ln>
        </p:spPr>
      </p:pic>
      <p:sp>
        <p:nvSpPr>
          <p:cNvPr id="48" name="Google Shape;48;p3"/>
          <p:cNvSpPr txBox="1"/>
          <p:nvPr/>
        </p:nvSpPr>
        <p:spPr>
          <a:xfrm>
            <a:off x="34733299" y="22848525"/>
            <a:ext cx="67125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a:solidFill>
                  <a:schemeClr val="dk1"/>
                </a:solidFill>
                <a:latin typeface="Times New Roman"/>
                <a:ea typeface="Times New Roman"/>
                <a:cs typeface="Times New Roman"/>
                <a:sym typeface="Times New Roman"/>
              </a:rPr>
              <a:t>Figure 7. SolarEye App Home Page</a:t>
            </a:r>
            <a:endParaRPr b="1" i="0" sz="1600" u="none" cap="none" strike="noStrike">
              <a:solidFill>
                <a:srgbClr val="000000"/>
              </a:solidFill>
              <a:latin typeface="Times New Roman"/>
              <a:ea typeface="Times New Roman"/>
              <a:cs typeface="Times New Roman"/>
              <a:sym typeface="Times New Roman"/>
            </a:endParaRPr>
          </a:p>
        </p:txBody>
      </p:sp>
      <p:sp>
        <p:nvSpPr>
          <p:cNvPr id="49" name="Google Shape;49;p3"/>
          <p:cNvSpPr txBox="1"/>
          <p:nvPr/>
        </p:nvSpPr>
        <p:spPr>
          <a:xfrm>
            <a:off x="22311771" y="7037613"/>
            <a:ext cx="9757200" cy="11757300"/>
          </a:xfrm>
          <a:prstGeom prst="rect">
            <a:avLst/>
          </a:prstGeom>
          <a:solidFill>
            <a:schemeClr val="lt1">
              <a:alpha val="62350"/>
            </a:schemeClr>
          </a:solidFill>
          <a:ln cap="flat" cmpd="sng" w="9525">
            <a:solidFill>
              <a:schemeClr val="lt1"/>
            </a:solidFill>
            <a:prstDash val="solid"/>
            <a:round/>
            <a:headEnd len="sm" w="sm" type="none"/>
            <a:tailEnd len="sm" w="sm" type="none"/>
          </a:ln>
        </p:spPr>
        <p:txBody>
          <a:bodyPr anchorCtr="0" anchor="t" bIns="52225" lIns="104475" spcFirstLastPara="1" rIns="104475" wrap="square" tIns="52225">
            <a:spAutoFit/>
          </a:bodyPr>
          <a:lstStyle/>
          <a:p>
            <a:pPr indent="0" lvl="0" marL="0" marR="0" rtl="0" algn="l">
              <a:lnSpc>
                <a:spcPct val="95833"/>
              </a:lnSpc>
              <a:spcBef>
                <a:spcPts val="0"/>
              </a:spcBef>
              <a:spcAft>
                <a:spcPts val="0"/>
              </a:spcAft>
              <a:buClr>
                <a:srgbClr val="000000"/>
              </a:buClr>
              <a:buSzPts val="5500"/>
              <a:buFont typeface="Arial"/>
              <a:buNone/>
            </a:pPr>
            <a:r>
              <a:rPr b="1" lang="en-US" sz="5500" u="sng">
                <a:solidFill>
                  <a:srgbClr val="5D0025"/>
                </a:solidFill>
                <a:latin typeface="Times New Roman"/>
                <a:ea typeface="Times New Roman"/>
                <a:cs typeface="Times New Roman"/>
                <a:sym typeface="Times New Roman"/>
              </a:rPr>
              <a:t>Solar Generation</a:t>
            </a:r>
            <a:endParaRPr sz="3200">
              <a:solidFill>
                <a:schemeClr val="dk2"/>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rPr b="1" lang="en-US" sz="3200">
                <a:solidFill>
                  <a:schemeClr val="dk1"/>
                </a:solidFill>
              </a:rPr>
              <a:t>T</a:t>
            </a:r>
            <a:r>
              <a:rPr b="1" lang="en-US" sz="3200">
                <a:solidFill>
                  <a:schemeClr val="dk1"/>
                </a:solidFill>
                <a:latin typeface="Times New Roman"/>
                <a:ea typeface="Times New Roman"/>
                <a:cs typeface="Times New Roman"/>
                <a:sym typeface="Times New Roman"/>
              </a:rPr>
              <a:t>he Solar power generation subsystem serves as the central power source within our project. The subsystem is responsible for the solar panel, charging circuit PCB and supplying power to the 12-volt battery. The 100W solar panel is connected directly to the charging circuit PCB which regulates the power and supplies the 12-volt battery with a safe and efficient supply voltage. Additionally, the voltage and current supply from the solar panel as well as the battery are monitored by the charging circuit. These data points are then output by the PCB to be read and processed by the Raspberry Pi 4B. The main components of the schematic below are as follows:</a:t>
            </a:r>
            <a:endParaRPr b="1" sz="3200">
              <a:solidFill>
                <a:schemeClr val="dk1"/>
              </a:solidFill>
              <a:latin typeface="Times New Roman"/>
              <a:ea typeface="Times New Roman"/>
              <a:cs typeface="Times New Roman"/>
              <a:sym typeface="Times New Roman"/>
            </a:endParaRPr>
          </a:p>
          <a:p>
            <a:pPr indent="45720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A:  BQ24650, which serves as the Maximum Power Point Tracking (MPPT) aspect of the circuit</a:t>
            </a:r>
            <a:endParaRPr b="1" sz="3200">
              <a:solidFill>
                <a:schemeClr val="dk1"/>
              </a:solidFill>
              <a:latin typeface="Times New Roman"/>
              <a:ea typeface="Times New Roman"/>
              <a:cs typeface="Times New Roman"/>
              <a:sym typeface="Times New Roman"/>
            </a:endParaRPr>
          </a:p>
          <a:p>
            <a:pPr indent="45720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B:  ACS723 current sensor IC chips, placed at the </a:t>
            </a:r>
            <a:r>
              <a:rPr b="1" lang="en-US" sz="3200">
                <a:solidFill>
                  <a:schemeClr val="dk1"/>
                </a:solidFill>
                <a:latin typeface="Times New Roman"/>
                <a:ea typeface="Times New Roman"/>
                <a:cs typeface="Times New Roman"/>
                <a:sym typeface="Times New Roman"/>
              </a:rPr>
              <a:t>input</a:t>
            </a:r>
            <a:r>
              <a:rPr b="1" lang="en-US" sz="3200">
                <a:solidFill>
                  <a:schemeClr val="dk1"/>
                </a:solidFill>
                <a:latin typeface="Times New Roman"/>
                <a:ea typeface="Times New Roman"/>
                <a:cs typeface="Times New Roman"/>
                <a:sym typeface="Times New Roman"/>
              </a:rPr>
              <a:t> and output of </a:t>
            </a:r>
            <a:r>
              <a:rPr b="1" lang="en-US" sz="3200">
                <a:solidFill>
                  <a:schemeClr val="dk1"/>
                </a:solidFill>
                <a:latin typeface="Times New Roman"/>
                <a:ea typeface="Times New Roman"/>
                <a:cs typeface="Times New Roman"/>
                <a:sym typeface="Times New Roman"/>
              </a:rPr>
              <a:t>the circuit</a:t>
            </a:r>
            <a:endParaRPr b="1" sz="3200">
              <a:solidFill>
                <a:schemeClr val="dk1"/>
              </a:solidFill>
              <a:latin typeface="Times New Roman"/>
              <a:ea typeface="Times New Roman"/>
              <a:cs typeface="Times New Roman"/>
              <a:sym typeface="Times New Roman"/>
            </a:endParaRPr>
          </a:p>
          <a:p>
            <a:pPr indent="0" lvl="0" marL="0" marR="0" rtl="0" algn="l">
              <a:lnSpc>
                <a:spcPct val="100000"/>
              </a:lnSpc>
              <a:spcBef>
                <a:spcPts val="1400"/>
              </a:spcBef>
              <a:spcAft>
                <a:spcPts val="0"/>
              </a:spcAft>
              <a:buNone/>
            </a:pPr>
            <a:r>
              <a:t/>
            </a:r>
            <a:endParaRPr sz="3200">
              <a:solidFill>
                <a:schemeClr val="dk1"/>
              </a:solidFill>
            </a:endParaRPr>
          </a:p>
        </p:txBody>
      </p:sp>
      <p:sp>
        <p:nvSpPr>
          <p:cNvPr id="50" name="Google Shape;50;p3"/>
          <p:cNvSpPr txBox="1"/>
          <p:nvPr/>
        </p:nvSpPr>
        <p:spPr>
          <a:xfrm>
            <a:off x="11845327" y="30061873"/>
            <a:ext cx="98301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4</a:t>
            </a:r>
            <a:r>
              <a:rPr b="1" i="1" lang="en-US" sz="3200" u="none" cap="none" strike="noStrike">
                <a:solidFill>
                  <a:schemeClr val="dk1"/>
                </a:solidFill>
                <a:latin typeface="Times New Roman"/>
                <a:ea typeface="Times New Roman"/>
                <a:cs typeface="Times New Roman"/>
                <a:sym typeface="Times New Roman"/>
              </a:rPr>
              <a:t>. </a:t>
            </a:r>
            <a:r>
              <a:rPr b="1" i="1" lang="en-US" sz="3200">
                <a:solidFill>
                  <a:schemeClr val="dk1"/>
                </a:solidFill>
                <a:latin typeface="Times New Roman"/>
                <a:ea typeface="Times New Roman"/>
                <a:cs typeface="Times New Roman"/>
                <a:sym typeface="Times New Roman"/>
              </a:rPr>
              <a:t>Buck Converter Voltage Regulation graph</a:t>
            </a:r>
            <a:endParaRPr b="1" i="0" sz="1600" u="none" cap="none" strike="noStrike">
              <a:solidFill>
                <a:srgbClr val="000000"/>
              </a:solidFill>
              <a:latin typeface="Times New Roman"/>
              <a:ea typeface="Times New Roman"/>
              <a:cs typeface="Times New Roman"/>
              <a:sym typeface="Times New Roman"/>
            </a:endParaRPr>
          </a:p>
        </p:txBody>
      </p:sp>
      <p:sp>
        <p:nvSpPr>
          <p:cNvPr id="51" name="Google Shape;51;p3"/>
          <p:cNvSpPr txBox="1"/>
          <p:nvPr/>
        </p:nvSpPr>
        <p:spPr>
          <a:xfrm>
            <a:off x="495133" y="15506550"/>
            <a:ext cx="9830100" cy="10416900"/>
          </a:xfrm>
          <a:prstGeom prst="rect">
            <a:avLst/>
          </a:prstGeom>
          <a:solidFill>
            <a:schemeClr val="lt1">
              <a:alpha val="62350"/>
            </a:schemeClr>
          </a:solidFill>
          <a:ln cap="flat" cmpd="sng" w="9525">
            <a:solidFill>
              <a:schemeClr val="lt1"/>
            </a:solidFill>
            <a:prstDash val="solid"/>
            <a:round/>
            <a:headEnd len="sm" w="sm" type="none"/>
            <a:tailEnd len="sm" w="sm" type="none"/>
          </a:ln>
        </p:spPr>
        <p:txBody>
          <a:bodyPr anchorCtr="0" anchor="t" bIns="52225" lIns="104475" spcFirstLastPara="1" rIns="104475" wrap="square" tIns="52225">
            <a:spAutoFit/>
          </a:bodyPr>
          <a:lstStyle/>
          <a:p>
            <a:pPr indent="0" lvl="0" marL="0" rtl="0" algn="l">
              <a:lnSpc>
                <a:spcPct val="95833"/>
              </a:lnSpc>
              <a:spcBef>
                <a:spcPts val="0"/>
              </a:spcBef>
              <a:spcAft>
                <a:spcPts val="0"/>
              </a:spcAft>
              <a:buClr>
                <a:srgbClr val="000000"/>
              </a:buClr>
              <a:buSzPts val="5500"/>
              <a:buFont typeface="Arial"/>
              <a:buNone/>
            </a:pPr>
            <a:r>
              <a:rPr b="1" lang="en-US" sz="5500" u="sng">
                <a:solidFill>
                  <a:schemeClr val="dk2"/>
                </a:solidFill>
                <a:latin typeface="Times New Roman"/>
                <a:ea typeface="Times New Roman"/>
                <a:cs typeface="Times New Roman"/>
                <a:sym typeface="Times New Roman"/>
              </a:rPr>
              <a:t>Modes of Operation</a:t>
            </a:r>
            <a:endParaRPr b="1" sz="5500" u="sng">
              <a:solidFill>
                <a:srgbClr val="5D0025"/>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Low Power Mode (≈ 32.8 h runtime)</a:t>
            </a:r>
            <a:endParaRPr b="1" sz="3200">
              <a:solidFill>
                <a:schemeClr val="dk1"/>
              </a:solidFill>
              <a:latin typeface="Times New Roman"/>
              <a:ea typeface="Times New Roman"/>
              <a:cs typeface="Times New Roman"/>
              <a:sym typeface="Times New Roman"/>
            </a:endParaRPr>
          </a:p>
          <a:p>
            <a:pPr indent="-431800" lvl="0" marL="457200" marR="0" rtl="0" algn="l">
              <a:lnSpc>
                <a:spcPct val="115000"/>
              </a:lnSpc>
              <a:spcBef>
                <a:spcPts val="1400"/>
              </a:spcBef>
              <a:spcAft>
                <a:spcPts val="0"/>
              </a:spcAft>
              <a:buClr>
                <a:schemeClr val="dk1"/>
              </a:buClr>
              <a:buSzPts val="3200"/>
              <a:buFont typeface="Times New Roman"/>
              <a:buChar char="-"/>
            </a:pPr>
            <a:r>
              <a:rPr b="1" lang="en-US" sz="3200">
                <a:solidFill>
                  <a:schemeClr val="dk1"/>
                </a:solidFill>
                <a:latin typeface="Times New Roman"/>
                <a:ea typeface="Times New Roman"/>
                <a:cs typeface="Times New Roman"/>
                <a:sym typeface="Times New Roman"/>
              </a:rPr>
              <a:t>Logs only when an event occurs and its duration (no video). Timestamps and durations available in the app; LED deterrence flashes rapidly.</a:t>
            </a:r>
            <a:endParaRPr b="1" sz="3200">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Motion Detection Mode (</a:t>
            </a:r>
            <a:r>
              <a:rPr b="1" lang="en-US" sz="3200">
                <a:solidFill>
                  <a:schemeClr val="dk1"/>
                </a:solidFill>
                <a:latin typeface="Times New Roman"/>
                <a:ea typeface="Times New Roman"/>
                <a:cs typeface="Times New Roman"/>
                <a:sym typeface="Times New Roman"/>
              </a:rPr>
              <a:t>Default)</a:t>
            </a:r>
            <a:r>
              <a:rPr b="1" lang="en-US" sz="3200">
                <a:solidFill>
                  <a:schemeClr val="dk1"/>
                </a:solidFill>
                <a:latin typeface="Times New Roman"/>
                <a:ea typeface="Times New Roman"/>
                <a:cs typeface="Times New Roman"/>
                <a:sym typeface="Times New Roman"/>
              </a:rPr>
              <a:t> (≈ 30.7 h runtime)</a:t>
            </a:r>
            <a:endParaRPr b="1" sz="3200">
              <a:solidFill>
                <a:schemeClr val="dk1"/>
              </a:solidFill>
              <a:latin typeface="Times New Roman"/>
              <a:ea typeface="Times New Roman"/>
              <a:cs typeface="Times New Roman"/>
              <a:sym typeface="Times New Roman"/>
            </a:endParaRPr>
          </a:p>
          <a:p>
            <a:pPr indent="-431800" lvl="0" marL="457200" marR="0" rtl="0" algn="l">
              <a:lnSpc>
                <a:spcPct val="115000"/>
              </a:lnSpc>
              <a:spcBef>
                <a:spcPts val="1400"/>
              </a:spcBef>
              <a:spcAft>
                <a:spcPts val="0"/>
              </a:spcAft>
              <a:buClr>
                <a:schemeClr val="dk1"/>
              </a:buClr>
              <a:buSzPts val="3200"/>
              <a:buFont typeface="Times New Roman"/>
              <a:buChar char="-"/>
            </a:pPr>
            <a:r>
              <a:rPr b="1" lang="en-US" sz="3200">
                <a:solidFill>
                  <a:schemeClr val="dk1"/>
                </a:solidFill>
                <a:latin typeface="Times New Roman"/>
                <a:ea typeface="Times New Roman"/>
                <a:cs typeface="Times New Roman"/>
                <a:sym typeface="Times New Roman"/>
              </a:rPr>
              <a:t>Continuously monitors via PIR sensor, captures short videos on motion, and uploads them.</a:t>
            </a:r>
            <a:endParaRPr b="1" sz="3200">
              <a:solidFill>
                <a:schemeClr val="dk1"/>
              </a:solidFill>
              <a:latin typeface="Times New Roman"/>
              <a:ea typeface="Times New Roman"/>
              <a:cs typeface="Times New Roman"/>
              <a:sym typeface="Times New Roman"/>
            </a:endParaRPr>
          </a:p>
          <a:p>
            <a:pPr indent="-431800" lvl="0" marL="457200" marR="0" rtl="0" algn="l">
              <a:lnSpc>
                <a:spcPct val="115000"/>
              </a:lnSpc>
              <a:spcBef>
                <a:spcPts val="0"/>
              </a:spcBef>
              <a:spcAft>
                <a:spcPts val="0"/>
              </a:spcAft>
              <a:buClr>
                <a:schemeClr val="dk1"/>
              </a:buClr>
              <a:buSzPts val="3200"/>
              <a:buFont typeface="Times New Roman"/>
              <a:buChar char="-"/>
            </a:pPr>
            <a:r>
              <a:rPr b="1" lang="en-US" sz="3200">
                <a:solidFill>
                  <a:schemeClr val="dk1"/>
                </a:solidFill>
                <a:latin typeface="Times New Roman"/>
                <a:ea typeface="Times New Roman"/>
                <a:cs typeface="Times New Roman"/>
                <a:sym typeface="Times New Roman"/>
              </a:rPr>
              <a:t>Process: PIR → log event → record until 2 s after no motion → save H.264 locally → convert &amp; upload MP4 to Firebase → app shows </a:t>
            </a:r>
            <a:r>
              <a:rPr b="1" lang="en-US" sz="3200">
                <a:solidFill>
                  <a:schemeClr val="dk1"/>
                </a:solidFill>
                <a:latin typeface="Times New Roman"/>
                <a:ea typeface="Times New Roman"/>
                <a:cs typeface="Times New Roman"/>
                <a:sym typeface="Times New Roman"/>
              </a:rPr>
              <a:t>time stamped</a:t>
            </a:r>
            <a:r>
              <a:rPr b="1" lang="en-US" sz="3200">
                <a:solidFill>
                  <a:schemeClr val="dk1"/>
                </a:solidFill>
                <a:latin typeface="Times New Roman"/>
                <a:ea typeface="Times New Roman"/>
                <a:cs typeface="Times New Roman"/>
                <a:sym typeface="Times New Roman"/>
              </a:rPr>
              <a:t> video history.</a:t>
            </a:r>
            <a:endParaRPr b="1" sz="3200">
              <a:solidFill>
                <a:schemeClr val="dk1"/>
              </a:solidFill>
              <a:latin typeface="Times New Roman"/>
              <a:ea typeface="Times New Roman"/>
              <a:cs typeface="Times New Roman"/>
              <a:sym typeface="Times New Roman"/>
            </a:endParaRPr>
          </a:p>
          <a:p>
            <a:pPr indent="0" lvl="0" marL="0" marR="0" rtl="0" algn="l">
              <a:lnSpc>
                <a:spcPct val="115000"/>
              </a:lnSpc>
              <a:spcBef>
                <a:spcPts val="1400"/>
              </a:spcBef>
              <a:spcAft>
                <a:spcPts val="0"/>
              </a:spcAft>
              <a:buNone/>
            </a:pPr>
            <a:r>
              <a:rPr b="1" lang="en-US" sz="3200">
                <a:solidFill>
                  <a:schemeClr val="dk1"/>
                </a:solidFill>
                <a:latin typeface="Times New Roman"/>
                <a:ea typeface="Times New Roman"/>
                <a:cs typeface="Times New Roman"/>
                <a:sym typeface="Times New Roman"/>
              </a:rPr>
              <a:t>Livestream Mode (≈ 22.2 h runtime)</a:t>
            </a:r>
            <a:endParaRPr b="1" sz="3200">
              <a:solidFill>
                <a:schemeClr val="dk1"/>
              </a:solidFill>
              <a:latin typeface="Times New Roman"/>
              <a:ea typeface="Times New Roman"/>
              <a:cs typeface="Times New Roman"/>
              <a:sym typeface="Times New Roman"/>
            </a:endParaRPr>
          </a:p>
          <a:p>
            <a:pPr indent="-431800" lvl="0" marL="457200" marR="0" rtl="0" algn="l">
              <a:lnSpc>
                <a:spcPct val="115000"/>
              </a:lnSpc>
              <a:spcBef>
                <a:spcPts val="1400"/>
              </a:spcBef>
              <a:spcAft>
                <a:spcPts val="0"/>
              </a:spcAft>
              <a:buClr>
                <a:schemeClr val="dk1"/>
              </a:buClr>
              <a:buSzPts val="3200"/>
              <a:buFont typeface="Times New Roman"/>
              <a:buChar char="-"/>
            </a:pPr>
            <a:r>
              <a:rPr b="1" lang="en-US" sz="3200">
                <a:solidFill>
                  <a:schemeClr val="dk1"/>
                </a:solidFill>
                <a:latin typeface="Times New Roman"/>
                <a:ea typeface="Times New Roman"/>
                <a:cs typeface="Times New Roman"/>
                <a:sym typeface="Times New Roman"/>
              </a:rPr>
              <a:t>Provides real‑time video streaming on demand.</a:t>
            </a:r>
            <a:endParaRPr b="1" sz="3200">
              <a:solidFill>
                <a:schemeClr val="dk1"/>
              </a:solidFill>
              <a:latin typeface="Times New Roman"/>
              <a:ea typeface="Times New Roman"/>
              <a:cs typeface="Times New Roman"/>
              <a:sym typeface="Times New Roman"/>
            </a:endParaRPr>
          </a:p>
          <a:p>
            <a:pPr indent="-431800" lvl="0" marL="457200" marR="0" rtl="0" algn="l">
              <a:lnSpc>
                <a:spcPct val="115000"/>
              </a:lnSpc>
              <a:spcBef>
                <a:spcPts val="0"/>
              </a:spcBef>
              <a:spcAft>
                <a:spcPts val="0"/>
              </a:spcAft>
              <a:buClr>
                <a:schemeClr val="dk1"/>
              </a:buClr>
              <a:buSzPts val="3200"/>
              <a:buFont typeface="Times New Roman"/>
              <a:buChar char="-"/>
            </a:pPr>
            <a:r>
              <a:rPr b="1" lang="en-US" sz="3200">
                <a:solidFill>
                  <a:schemeClr val="dk1"/>
                </a:solidFill>
                <a:latin typeface="Times New Roman"/>
                <a:ea typeface="Times New Roman"/>
                <a:cs typeface="Times New Roman"/>
                <a:sym typeface="Times New Roman"/>
              </a:rPr>
              <a:t>Tap “Livestream”; Pi starts HLS streaming and sends the link to the app.</a:t>
            </a:r>
            <a:endParaRPr b="1" sz="3200">
              <a:solidFill>
                <a:schemeClr val="dk1"/>
              </a:solidFill>
              <a:latin typeface="Times New Roman"/>
              <a:ea typeface="Times New Roman"/>
              <a:cs typeface="Times New Roman"/>
              <a:sym typeface="Times New Roman"/>
            </a:endParaRPr>
          </a:p>
        </p:txBody>
      </p:sp>
      <p:pic>
        <p:nvPicPr>
          <p:cNvPr id="52" name="Google Shape;52;p3"/>
          <p:cNvPicPr preferRelativeResize="0"/>
          <p:nvPr/>
        </p:nvPicPr>
        <p:blipFill>
          <a:blip r:embed="rId5">
            <a:alphaModFix/>
          </a:blip>
          <a:stretch>
            <a:fillRect/>
          </a:stretch>
        </p:blipFill>
        <p:spPr>
          <a:xfrm>
            <a:off x="22353730" y="18516777"/>
            <a:ext cx="9270298" cy="4340911"/>
          </a:xfrm>
          <a:prstGeom prst="rect">
            <a:avLst/>
          </a:prstGeom>
          <a:noFill/>
          <a:ln>
            <a:noFill/>
          </a:ln>
        </p:spPr>
      </p:pic>
      <p:pic>
        <p:nvPicPr>
          <p:cNvPr id="53" name="Google Shape;53;p3"/>
          <p:cNvPicPr preferRelativeResize="0"/>
          <p:nvPr/>
        </p:nvPicPr>
        <p:blipFill>
          <a:blip r:embed="rId6">
            <a:alphaModFix/>
          </a:blip>
          <a:stretch>
            <a:fillRect/>
          </a:stretch>
        </p:blipFill>
        <p:spPr>
          <a:xfrm>
            <a:off x="23970122" y="24524001"/>
            <a:ext cx="6172200" cy="4972050"/>
          </a:xfrm>
          <a:prstGeom prst="rect">
            <a:avLst/>
          </a:prstGeom>
          <a:noFill/>
          <a:ln>
            <a:noFill/>
          </a:ln>
        </p:spPr>
      </p:pic>
      <p:sp>
        <p:nvSpPr>
          <p:cNvPr id="54" name="Google Shape;54;p3"/>
          <p:cNvSpPr txBox="1"/>
          <p:nvPr/>
        </p:nvSpPr>
        <p:spPr>
          <a:xfrm>
            <a:off x="22275310" y="23391760"/>
            <a:ext cx="98301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5</a:t>
            </a:r>
            <a:r>
              <a:rPr b="1" i="1" lang="en-US" sz="3200" u="none" cap="none" strike="noStrike">
                <a:solidFill>
                  <a:schemeClr val="dk1"/>
                </a:solidFill>
                <a:latin typeface="Times New Roman"/>
                <a:ea typeface="Times New Roman"/>
                <a:cs typeface="Times New Roman"/>
                <a:sym typeface="Times New Roman"/>
              </a:rPr>
              <a:t>. </a:t>
            </a:r>
            <a:r>
              <a:rPr b="1" i="1" lang="en-US" sz="3200">
                <a:solidFill>
                  <a:schemeClr val="dk1"/>
                </a:solidFill>
                <a:latin typeface="Times New Roman"/>
                <a:ea typeface="Times New Roman"/>
                <a:cs typeface="Times New Roman"/>
                <a:sym typeface="Times New Roman"/>
              </a:rPr>
              <a:t>Solar Power Charging Circuit Schematic</a:t>
            </a:r>
            <a:endParaRPr b="1" i="0" sz="1600" u="none" cap="none" strike="noStrike">
              <a:solidFill>
                <a:srgbClr val="000000"/>
              </a:solidFill>
              <a:latin typeface="Times New Roman"/>
              <a:ea typeface="Times New Roman"/>
              <a:cs typeface="Times New Roman"/>
              <a:sym typeface="Times New Roman"/>
            </a:endParaRPr>
          </a:p>
        </p:txBody>
      </p:sp>
      <p:sp>
        <p:nvSpPr>
          <p:cNvPr id="55" name="Google Shape;55;p3"/>
          <p:cNvSpPr txBox="1"/>
          <p:nvPr/>
        </p:nvSpPr>
        <p:spPr>
          <a:xfrm>
            <a:off x="33679697" y="30612900"/>
            <a:ext cx="89289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a:solidFill>
                  <a:schemeClr val="dk1"/>
                </a:solidFill>
                <a:latin typeface="Times New Roman"/>
                <a:ea typeface="Times New Roman"/>
                <a:cs typeface="Times New Roman"/>
                <a:sym typeface="Times New Roman"/>
              </a:rPr>
              <a:t>Figure 8. SolarEye App Event History Page</a:t>
            </a:r>
            <a:endParaRPr b="1" i="0" sz="1600" u="none" cap="none" strike="noStrike">
              <a:solidFill>
                <a:srgbClr val="000000"/>
              </a:solidFill>
              <a:latin typeface="Times New Roman"/>
              <a:ea typeface="Times New Roman"/>
              <a:cs typeface="Times New Roman"/>
              <a:sym typeface="Times New Roman"/>
            </a:endParaRPr>
          </a:p>
        </p:txBody>
      </p:sp>
      <p:pic>
        <p:nvPicPr>
          <p:cNvPr id="56" name="Google Shape;56;p3"/>
          <p:cNvPicPr preferRelativeResize="0"/>
          <p:nvPr/>
        </p:nvPicPr>
        <p:blipFill>
          <a:blip r:embed="rId7">
            <a:alphaModFix/>
          </a:blip>
          <a:stretch>
            <a:fillRect/>
          </a:stretch>
        </p:blipFill>
        <p:spPr>
          <a:xfrm>
            <a:off x="11522009" y="18306151"/>
            <a:ext cx="4757270" cy="4542375"/>
          </a:xfrm>
          <a:prstGeom prst="rect">
            <a:avLst/>
          </a:prstGeom>
          <a:noFill/>
          <a:ln cap="flat" cmpd="sng" w="28575">
            <a:solidFill>
              <a:srgbClr val="000000"/>
            </a:solidFill>
            <a:prstDash val="solid"/>
            <a:round/>
            <a:headEnd len="sm" w="sm" type="none"/>
            <a:tailEnd len="sm" w="sm" type="none"/>
          </a:ln>
        </p:spPr>
      </p:pic>
      <p:pic>
        <p:nvPicPr>
          <p:cNvPr id="57" name="Google Shape;57;p3"/>
          <p:cNvPicPr preferRelativeResize="0"/>
          <p:nvPr/>
        </p:nvPicPr>
        <p:blipFill rotWithShape="1">
          <a:blip r:embed="rId8">
            <a:alphaModFix/>
          </a:blip>
          <a:srcRect b="0" l="0" r="0" t="0"/>
          <a:stretch/>
        </p:blipFill>
        <p:spPr>
          <a:xfrm>
            <a:off x="11649421" y="17555259"/>
            <a:ext cx="604330" cy="604330"/>
          </a:xfrm>
          <a:prstGeom prst="rect">
            <a:avLst/>
          </a:prstGeom>
          <a:noFill/>
          <a:ln>
            <a:noFill/>
          </a:ln>
        </p:spPr>
      </p:pic>
      <p:pic>
        <p:nvPicPr>
          <p:cNvPr id="58" name="Google Shape;58;p3"/>
          <p:cNvPicPr preferRelativeResize="0"/>
          <p:nvPr/>
        </p:nvPicPr>
        <p:blipFill>
          <a:blip r:embed="rId9">
            <a:alphaModFix/>
          </a:blip>
          <a:stretch>
            <a:fillRect/>
          </a:stretch>
        </p:blipFill>
        <p:spPr>
          <a:xfrm>
            <a:off x="16406687" y="18306150"/>
            <a:ext cx="5234895" cy="4518900"/>
          </a:xfrm>
          <a:prstGeom prst="rect">
            <a:avLst/>
          </a:prstGeom>
          <a:noFill/>
          <a:ln cap="flat" cmpd="sng" w="28575">
            <a:solidFill>
              <a:srgbClr val="000000"/>
            </a:solidFill>
            <a:prstDash val="solid"/>
            <a:round/>
            <a:headEnd len="sm" w="sm" type="none"/>
            <a:tailEnd len="sm" w="sm" type="none"/>
          </a:ln>
        </p:spPr>
      </p:pic>
      <p:pic>
        <p:nvPicPr>
          <p:cNvPr id="59" name="Google Shape;59;p3"/>
          <p:cNvPicPr preferRelativeResize="0"/>
          <p:nvPr/>
        </p:nvPicPr>
        <p:blipFill>
          <a:blip r:embed="rId10">
            <a:alphaModFix/>
          </a:blip>
          <a:stretch>
            <a:fillRect/>
          </a:stretch>
        </p:blipFill>
        <p:spPr>
          <a:xfrm>
            <a:off x="11278757" y="23639749"/>
            <a:ext cx="10043017" cy="6229125"/>
          </a:xfrm>
          <a:prstGeom prst="rect">
            <a:avLst/>
          </a:prstGeom>
          <a:noFill/>
          <a:ln cap="flat" cmpd="sng" w="28575">
            <a:solidFill>
              <a:srgbClr val="000000"/>
            </a:solidFill>
            <a:prstDash val="solid"/>
            <a:round/>
            <a:headEnd len="sm" w="sm" type="none"/>
            <a:tailEnd len="sm" w="sm" type="none"/>
          </a:ln>
        </p:spPr>
      </p:pic>
      <p:pic>
        <p:nvPicPr>
          <p:cNvPr id="60" name="Google Shape;60;p3"/>
          <p:cNvPicPr preferRelativeResize="0"/>
          <p:nvPr/>
        </p:nvPicPr>
        <p:blipFill>
          <a:blip r:embed="rId11">
            <a:alphaModFix/>
          </a:blip>
          <a:stretch>
            <a:fillRect/>
          </a:stretch>
        </p:blipFill>
        <p:spPr>
          <a:xfrm>
            <a:off x="1078122" y="10041152"/>
            <a:ext cx="8839199" cy="4286098"/>
          </a:xfrm>
          <a:prstGeom prst="rect">
            <a:avLst/>
          </a:prstGeom>
          <a:noFill/>
          <a:ln cap="flat" cmpd="sng" w="28575">
            <a:solidFill>
              <a:srgbClr val="000000"/>
            </a:solidFill>
            <a:prstDash val="solid"/>
            <a:round/>
            <a:headEnd len="sm" w="sm" type="none"/>
            <a:tailEnd len="sm" w="sm" type="none"/>
          </a:ln>
        </p:spPr>
      </p:pic>
      <p:sp>
        <p:nvSpPr>
          <p:cNvPr id="61" name="Google Shape;61;p3"/>
          <p:cNvSpPr txBox="1"/>
          <p:nvPr/>
        </p:nvSpPr>
        <p:spPr>
          <a:xfrm>
            <a:off x="0" y="0"/>
            <a:ext cx="313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EQ39</a:t>
            </a:r>
            <a:endParaRPr/>
          </a:p>
        </p:txBody>
      </p:sp>
      <p:pic>
        <p:nvPicPr>
          <p:cNvPr id="62" name="Google Shape;62;p3"/>
          <p:cNvPicPr preferRelativeResize="0"/>
          <p:nvPr/>
        </p:nvPicPr>
        <p:blipFill>
          <a:blip r:embed="rId12">
            <a:alphaModFix/>
          </a:blip>
          <a:stretch>
            <a:fillRect/>
          </a:stretch>
        </p:blipFill>
        <p:spPr>
          <a:xfrm>
            <a:off x="32335044" y="-400800"/>
            <a:ext cx="11618223" cy="2562075"/>
          </a:xfrm>
          <a:prstGeom prst="rect">
            <a:avLst/>
          </a:prstGeom>
          <a:noFill/>
          <a:ln>
            <a:noFill/>
          </a:ln>
        </p:spPr>
      </p:pic>
      <p:pic>
        <p:nvPicPr>
          <p:cNvPr id="63" name="Google Shape;63;p3"/>
          <p:cNvPicPr preferRelativeResize="0"/>
          <p:nvPr/>
        </p:nvPicPr>
        <p:blipFill rotWithShape="1">
          <a:blip r:embed="rId13">
            <a:alphaModFix/>
          </a:blip>
          <a:srcRect b="0" l="0" r="0" t="-9541"/>
          <a:stretch/>
        </p:blipFill>
        <p:spPr>
          <a:xfrm>
            <a:off x="2231026" y="25996988"/>
            <a:ext cx="7196856" cy="4542376"/>
          </a:xfrm>
          <a:prstGeom prst="rect">
            <a:avLst/>
          </a:prstGeom>
          <a:noFill/>
          <a:ln>
            <a:noFill/>
          </a:ln>
        </p:spPr>
      </p:pic>
      <p:sp>
        <p:nvSpPr>
          <p:cNvPr id="64" name="Google Shape;64;p3"/>
          <p:cNvSpPr txBox="1"/>
          <p:nvPr/>
        </p:nvSpPr>
        <p:spPr>
          <a:xfrm>
            <a:off x="582669" y="30612900"/>
            <a:ext cx="9830100" cy="598200"/>
          </a:xfrm>
          <a:prstGeom prst="rect">
            <a:avLst/>
          </a:prstGeom>
          <a:solidFill>
            <a:schemeClr val="lt1">
              <a:alpha val="41570"/>
            </a:schemeClr>
          </a:solidFill>
          <a:ln>
            <a:noFill/>
          </a:ln>
        </p:spPr>
        <p:txBody>
          <a:bodyPr anchorCtr="0" anchor="t" bIns="52225" lIns="104475" spcFirstLastPara="1" rIns="104475" wrap="square" tIns="52225">
            <a:spAutoFit/>
          </a:bodyPr>
          <a:lstStyle/>
          <a:p>
            <a:pPr indent="0" lvl="0" marL="0" marR="0" rtl="0" algn="ctr">
              <a:lnSpc>
                <a:spcPct val="100000"/>
              </a:lnSpc>
              <a:spcBef>
                <a:spcPts val="0"/>
              </a:spcBef>
              <a:spcAft>
                <a:spcPts val="0"/>
              </a:spcAft>
              <a:buClr>
                <a:srgbClr val="000000"/>
              </a:buClr>
              <a:buSzPts val="3200"/>
              <a:buFont typeface="Arial"/>
              <a:buNone/>
            </a:pPr>
            <a:r>
              <a:rPr b="1" i="1" lang="en-US" sz="3200" u="none" cap="none" strike="noStrike">
                <a:solidFill>
                  <a:schemeClr val="dk1"/>
                </a:solidFill>
                <a:latin typeface="Times New Roman"/>
                <a:ea typeface="Times New Roman"/>
                <a:cs typeface="Times New Roman"/>
                <a:sym typeface="Times New Roman"/>
              </a:rPr>
              <a:t>Figure </a:t>
            </a:r>
            <a:r>
              <a:rPr b="1" i="1" lang="en-US" sz="3200">
                <a:solidFill>
                  <a:schemeClr val="dk1"/>
                </a:solidFill>
                <a:latin typeface="Times New Roman"/>
                <a:ea typeface="Times New Roman"/>
                <a:cs typeface="Times New Roman"/>
                <a:sym typeface="Times New Roman"/>
              </a:rPr>
              <a:t>2</a:t>
            </a:r>
            <a:r>
              <a:rPr b="1" i="1" lang="en-US" sz="3200" u="none" cap="none" strike="noStrike">
                <a:solidFill>
                  <a:schemeClr val="dk1"/>
                </a:solidFill>
                <a:latin typeface="Times New Roman"/>
                <a:ea typeface="Times New Roman"/>
                <a:cs typeface="Times New Roman"/>
                <a:sym typeface="Times New Roman"/>
              </a:rPr>
              <a:t>. </a:t>
            </a:r>
            <a:r>
              <a:rPr b="1" i="1" lang="en-US" sz="3200">
                <a:solidFill>
                  <a:schemeClr val="dk1"/>
                </a:solidFill>
                <a:latin typeface="Times New Roman"/>
                <a:ea typeface="Times New Roman"/>
                <a:cs typeface="Times New Roman"/>
                <a:sym typeface="Times New Roman"/>
              </a:rPr>
              <a:t>Livestream UI Layout</a:t>
            </a:r>
            <a:r>
              <a:rPr b="1" i="1" lang="en-US" sz="3200" u="none" cap="none" strike="noStrike">
                <a:solidFill>
                  <a:schemeClr val="dk1"/>
                </a:solidFill>
                <a:latin typeface="Times New Roman"/>
                <a:ea typeface="Times New Roman"/>
                <a:cs typeface="Times New Roman"/>
                <a:sym typeface="Times New Roman"/>
              </a:rPr>
              <a:t> </a:t>
            </a:r>
            <a:endParaRPr b="1" i="0" sz="1600" u="none" cap="none" strike="noStrike">
              <a:solidFill>
                <a:srgbClr val="000000"/>
              </a:solidFill>
              <a:latin typeface="Times New Roman"/>
              <a:ea typeface="Times New Roman"/>
              <a:cs typeface="Times New Roman"/>
              <a:sym typeface="Times New Roman"/>
            </a:endParaRPr>
          </a:p>
        </p:txBody>
      </p:sp>
      <p:pic>
        <p:nvPicPr>
          <p:cNvPr id="65" name="Google Shape;65;p3"/>
          <p:cNvPicPr preferRelativeResize="0"/>
          <p:nvPr/>
        </p:nvPicPr>
        <p:blipFill>
          <a:blip r:embed="rId14">
            <a:alphaModFix/>
          </a:blip>
          <a:stretch>
            <a:fillRect/>
          </a:stretch>
        </p:blipFill>
        <p:spPr>
          <a:xfrm>
            <a:off x="35874210" y="13690703"/>
            <a:ext cx="4539893" cy="9167001"/>
          </a:xfrm>
          <a:prstGeom prst="rect">
            <a:avLst/>
          </a:prstGeom>
          <a:noFill/>
          <a:ln>
            <a:noFill/>
          </a:ln>
        </p:spPr>
      </p:pic>
      <p:pic>
        <p:nvPicPr>
          <p:cNvPr id="66" name="Google Shape;66;p3" title="Screenshot 2025-04-16 at 2.39.53 PM.png"/>
          <p:cNvPicPr preferRelativeResize="0"/>
          <p:nvPr/>
        </p:nvPicPr>
        <p:blipFill rotWithShape="1">
          <a:blip r:embed="rId15">
            <a:alphaModFix/>
          </a:blip>
          <a:srcRect b="33975" l="0" r="507" t="0"/>
          <a:stretch/>
        </p:blipFill>
        <p:spPr>
          <a:xfrm>
            <a:off x="34545738" y="23544000"/>
            <a:ext cx="7196851" cy="6932057"/>
          </a:xfrm>
          <a:prstGeom prst="rect">
            <a:avLst/>
          </a:prstGeom>
          <a:noFill/>
          <a:ln>
            <a:noFill/>
          </a:ln>
        </p:spPr>
      </p:pic>
      <p:sp>
        <p:nvSpPr>
          <p:cNvPr id="67" name="Google Shape;67;p3"/>
          <p:cNvSpPr txBox="1"/>
          <p:nvPr/>
        </p:nvSpPr>
        <p:spPr>
          <a:xfrm>
            <a:off x="39214450" y="3426750"/>
            <a:ext cx="3990600" cy="1662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4800">
                <a:solidFill>
                  <a:schemeClr val="lt1"/>
                </a:solidFill>
              </a:rPr>
              <a:t>Electrical Engineering</a:t>
            </a:r>
            <a:endParaRPr/>
          </a:p>
        </p:txBody>
      </p:sp>
    </p:spTree>
  </p:cSld>
  <p:clrMapOvr>
    <a:masterClrMapping/>
  </p:clrMapOvr>
</p:sld>
</file>

<file path=ppt/theme/theme1.xml><?xml version="1.0" encoding="utf-8"?>
<a:theme xmlns:a="http://schemas.openxmlformats.org/drawingml/2006/main" xmlns:r="http://schemas.openxmlformats.org/officeDocument/2006/relationships" name="Research Poster Template">
  <a:themeElements>
    <a:clrScheme name="Custom 2">
      <a:dk1>
        <a:srgbClr val="333333"/>
      </a:dk1>
      <a:lt1>
        <a:srgbClr val="FFFFFF"/>
      </a:lt1>
      <a:dk2>
        <a:srgbClr val="5D0025"/>
      </a:dk2>
      <a:lt2>
        <a:srgbClr val="FFFFFF"/>
      </a:lt2>
      <a:accent1>
        <a:srgbClr val="005BBB"/>
      </a:accent1>
      <a:accent2>
        <a:srgbClr val="41B6E6"/>
      </a:accent2>
      <a:accent3>
        <a:srgbClr val="E56D54"/>
      </a:accent3>
      <a:accent4>
        <a:srgbClr val="666666"/>
      </a:accent4>
      <a:accent5>
        <a:srgbClr val="007681"/>
      </a:accent5>
      <a:accent6>
        <a:srgbClr val="003E51"/>
      </a:accent6>
      <a:hlink>
        <a:srgbClr val="186BB7"/>
      </a:hlink>
      <a:folHlink>
        <a:srgbClr val="D86A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