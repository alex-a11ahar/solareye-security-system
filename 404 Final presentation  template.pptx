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hDJLwxEDngFseLwlz/Tu9YSpC2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415B97-9F15-4E5D-AE86-3A5AF3543CFD}">
  <a:tblStyle styleId="{5F415B97-9F15-4E5D-AE86-3A5AF3543CF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regular.fntdata"/><Relationship Id="rId25" Type="http://schemas.openxmlformats.org/officeDocument/2006/relationships/slide" Target="slides/slide19.xml"/><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Picture (or collection of pictures) or drawing of system </a:t>
            </a:r>
            <a:endParaRPr/>
          </a:p>
          <a:p>
            <a:pPr indent="0" lvl="0" marL="0" rtl="0" algn="l">
              <a:spcBef>
                <a:spcPts val="0"/>
              </a:spcBef>
              <a:spcAft>
                <a:spcPts val="0"/>
              </a:spcAft>
              <a:buNone/>
            </a:pPr>
            <a:r>
              <a:rPr lang="en-US"/>
              <a:t>Major components labeled</a:t>
            </a:r>
            <a:endParaRPr/>
          </a:p>
          <a:p>
            <a:pPr indent="0" lvl="0" marL="0" rtl="0" algn="l">
              <a:spcBef>
                <a:spcPts val="0"/>
              </a:spcBef>
              <a:spcAft>
                <a:spcPts val="0"/>
              </a:spcAft>
              <a:buNone/>
            </a:pPr>
            <a:r>
              <a:rPr lang="en-US"/>
              <a:t>Show how user connects (ui screens, pictures, etc)</a:t>
            </a:r>
            <a:endParaRPr/>
          </a:p>
          <a:p>
            <a:pPr indent="0" lvl="0" marL="0" rtl="0" algn="l">
              <a:spcBef>
                <a:spcPts val="0"/>
              </a:spcBef>
              <a:spcAft>
                <a:spcPts val="0"/>
              </a:spcAft>
              <a:buNone/>
            </a:pPr>
            <a:r>
              <a:rPr lang="en-US"/>
              <a:t>Label major connections/interfaces</a:t>
            </a:r>
            <a:endParaRPr/>
          </a:p>
          <a:p>
            <a:pPr indent="0" lvl="0" marL="0" rtl="0" algn="l">
              <a:spcBef>
                <a:spcPts val="0"/>
              </a:spcBef>
              <a:spcAft>
                <a:spcPts val="0"/>
              </a:spcAft>
              <a:buNone/>
            </a:pPr>
            <a:r>
              <a:t/>
            </a:r>
            <a:endParaRPr/>
          </a:p>
        </p:txBody>
      </p:sp>
      <p:sp>
        <p:nvSpPr>
          <p:cNvPr id="72" name="Google Shape;72;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ee8d7d375_0_1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ee8d7d375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Picture (or collection of pictures) or drawing of system </a:t>
            </a:r>
            <a:endParaRPr/>
          </a:p>
          <a:p>
            <a:pPr indent="0" lvl="0" marL="0" rtl="0" algn="l">
              <a:spcBef>
                <a:spcPts val="0"/>
              </a:spcBef>
              <a:spcAft>
                <a:spcPts val="0"/>
              </a:spcAft>
              <a:buClr>
                <a:schemeClr val="dk1"/>
              </a:buClr>
              <a:buSzPts val="1100"/>
              <a:buFont typeface="Arial"/>
              <a:buNone/>
            </a:pPr>
            <a:r>
              <a:rPr lang="en-US"/>
              <a:t>Major components labeled</a:t>
            </a:r>
            <a:endParaRPr/>
          </a:p>
          <a:p>
            <a:pPr indent="0" lvl="0" marL="0" rtl="0" algn="l">
              <a:spcBef>
                <a:spcPts val="0"/>
              </a:spcBef>
              <a:spcAft>
                <a:spcPts val="0"/>
              </a:spcAft>
              <a:buClr>
                <a:schemeClr val="dk1"/>
              </a:buClr>
              <a:buSzPts val="1100"/>
              <a:buFont typeface="Arial"/>
              <a:buNone/>
            </a:pPr>
            <a:r>
              <a:rPr lang="en-US"/>
              <a:t>Show how user connects (ui screens, pictures, etc)</a:t>
            </a:r>
            <a:endParaRPr/>
          </a:p>
          <a:p>
            <a:pPr indent="0" lvl="0" marL="0" rtl="0" algn="l">
              <a:spcBef>
                <a:spcPts val="0"/>
              </a:spcBef>
              <a:spcAft>
                <a:spcPts val="0"/>
              </a:spcAft>
              <a:buNone/>
            </a:pPr>
            <a:r>
              <a:rPr lang="en-US"/>
              <a:t>Label major connections/interfaces</a:t>
            </a:r>
            <a:endParaRPr/>
          </a:p>
        </p:txBody>
      </p:sp>
      <p:sp>
        <p:nvSpPr>
          <p:cNvPr id="80" name="Google Shape;80;g34ee8d7d375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eec164bf2_3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eec164bf2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4eec164bf2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eec164bf2_0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eec164bf2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Flask (HTTP)</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Serves web interface for live video access and control</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Runs lightweight, multithreaded server for responsiveness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FFmpeg + HLS Streaming</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Captures video via </a:t>
            </a:r>
            <a:r>
              <a:rPr lang="en-US" sz="1100">
                <a:solidFill>
                  <a:srgbClr val="188038"/>
                </a:solidFill>
                <a:latin typeface="Roboto Mono"/>
                <a:ea typeface="Roboto Mono"/>
                <a:cs typeface="Roboto Mono"/>
                <a:sym typeface="Roboto Mono"/>
              </a:rPr>
              <a:t>libcamera-vid</a:t>
            </a:r>
            <a:r>
              <a:rPr lang="en-US" sz="1100">
                <a:latin typeface="Arial"/>
                <a:ea typeface="Arial"/>
                <a:cs typeface="Arial"/>
                <a:sym typeface="Arial"/>
              </a:rPr>
              <a:t> and streams with FFmpeg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Outputs low-latency </a:t>
            </a:r>
            <a:r>
              <a:rPr lang="en-US" sz="1100">
                <a:solidFill>
                  <a:srgbClr val="188038"/>
                </a:solidFill>
                <a:latin typeface="Roboto Mono"/>
                <a:ea typeface="Roboto Mono"/>
                <a:cs typeface="Roboto Mono"/>
                <a:sym typeface="Roboto Mono"/>
              </a:rPr>
              <a:t>.m3u8</a:t>
            </a:r>
            <a:r>
              <a:rPr lang="en-US" sz="1100">
                <a:latin typeface="Arial"/>
                <a:ea typeface="Arial"/>
                <a:cs typeface="Arial"/>
                <a:sym typeface="Arial"/>
              </a:rPr>
              <a:t> segments for browser playback using </a:t>
            </a:r>
            <a:r>
              <a:rPr lang="en-US" sz="1100">
                <a:solidFill>
                  <a:srgbClr val="188038"/>
                </a:solidFill>
                <a:latin typeface="Roboto Mono"/>
                <a:ea typeface="Roboto Mono"/>
                <a:cs typeface="Roboto Mono"/>
                <a:sym typeface="Roboto Mono"/>
              </a:rPr>
              <a:t>hls.js</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a:p>
        </p:txBody>
      </p:sp>
      <p:sp>
        <p:nvSpPr>
          <p:cNvPr id="130" name="Google Shape;130;g34eec164bf2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eec164bf2_4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eec164bf2_4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Flask (HTTP)</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Serves web interface for live video access and control</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Runs lightweight, multithreaded server for responsiveness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FFmpeg + HLS Streaming</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Captures video via </a:t>
            </a:r>
            <a:r>
              <a:rPr lang="en-US" sz="1100">
                <a:solidFill>
                  <a:srgbClr val="188038"/>
                </a:solidFill>
                <a:latin typeface="Roboto Mono"/>
                <a:ea typeface="Roboto Mono"/>
                <a:cs typeface="Roboto Mono"/>
                <a:sym typeface="Roboto Mono"/>
              </a:rPr>
              <a:t>libcamera-vid</a:t>
            </a:r>
            <a:r>
              <a:rPr lang="en-US" sz="1100">
                <a:latin typeface="Arial"/>
                <a:ea typeface="Arial"/>
                <a:cs typeface="Arial"/>
                <a:sym typeface="Arial"/>
              </a:rPr>
              <a:t> and streams with FFmpeg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Outputs low-latency </a:t>
            </a:r>
            <a:r>
              <a:rPr lang="en-US" sz="1100">
                <a:solidFill>
                  <a:srgbClr val="188038"/>
                </a:solidFill>
                <a:latin typeface="Roboto Mono"/>
                <a:ea typeface="Roboto Mono"/>
                <a:cs typeface="Roboto Mono"/>
                <a:sym typeface="Roboto Mono"/>
              </a:rPr>
              <a:t>.m3u8</a:t>
            </a:r>
            <a:r>
              <a:rPr lang="en-US" sz="1100">
                <a:latin typeface="Arial"/>
                <a:ea typeface="Arial"/>
                <a:cs typeface="Arial"/>
                <a:sym typeface="Arial"/>
              </a:rPr>
              <a:t> segments for browser playback using </a:t>
            </a:r>
            <a:r>
              <a:rPr lang="en-US" sz="1100">
                <a:solidFill>
                  <a:srgbClr val="188038"/>
                </a:solidFill>
                <a:latin typeface="Roboto Mono"/>
                <a:ea typeface="Roboto Mono"/>
                <a:cs typeface="Roboto Mono"/>
                <a:sym typeface="Roboto Mono"/>
              </a:rPr>
              <a:t>hls.js</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a:p>
        </p:txBody>
      </p:sp>
      <p:sp>
        <p:nvSpPr>
          <p:cNvPr id="137" name="Google Shape;137;g34eec164bf2_4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eec164bf2_4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eec164bf2_4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Flask (HTTP)</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Serves web interface for live video access and control</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Runs lightweight, multithreaded server for responsiveness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FFmpeg + HLS Streaming</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Captures video via </a:t>
            </a:r>
            <a:r>
              <a:rPr lang="en-US" sz="1100">
                <a:solidFill>
                  <a:srgbClr val="188038"/>
                </a:solidFill>
                <a:latin typeface="Roboto Mono"/>
                <a:ea typeface="Roboto Mono"/>
                <a:cs typeface="Roboto Mono"/>
                <a:sym typeface="Roboto Mono"/>
              </a:rPr>
              <a:t>libcamera-vid</a:t>
            </a:r>
            <a:r>
              <a:rPr lang="en-US" sz="1100">
                <a:latin typeface="Arial"/>
                <a:ea typeface="Arial"/>
                <a:cs typeface="Arial"/>
                <a:sym typeface="Arial"/>
              </a:rPr>
              <a:t> and streams with FFmpeg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Outputs low-latency </a:t>
            </a:r>
            <a:r>
              <a:rPr lang="en-US" sz="1100">
                <a:solidFill>
                  <a:srgbClr val="188038"/>
                </a:solidFill>
                <a:latin typeface="Roboto Mono"/>
                <a:ea typeface="Roboto Mono"/>
                <a:cs typeface="Roboto Mono"/>
                <a:sym typeface="Roboto Mono"/>
              </a:rPr>
              <a:t>.m3u8</a:t>
            </a:r>
            <a:r>
              <a:rPr lang="en-US" sz="1100">
                <a:latin typeface="Arial"/>
                <a:ea typeface="Arial"/>
                <a:cs typeface="Arial"/>
                <a:sym typeface="Arial"/>
              </a:rPr>
              <a:t> segments for browser playback using </a:t>
            </a:r>
            <a:r>
              <a:rPr lang="en-US" sz="1100">
                <a:solidFill>
                  <a:srgbClr val="188038"/>
                </a:solidFill>
                <a:latin typeface="Roboto Mono"/>
                <a:ea typeface="Roboto Mono"/>
                <a:cs typeface="Roboto Mono"/>
                <a:sym typeface="Roboto Mono"/>
              </a:rPr>
              <a:t>hls.js</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a:p>
        </p:txBody>
      </p:sp>
      <p:sp>
        <p:nvSpPr>
          <p:cNvPr id="150" name="Google Shape;150;g34eec164bf2_4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eec164bf2_4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eec164bf2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Flask (HTTP)</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Serves web interface for live video access and control</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Runs lightweight, multithreaded server for responsiveness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FFmpeg + HLS Streaming</a:t>
            </a:r>
            <a:br>
              <a:rPr b="1" lang="en-US" sz="1100">
                <a:latin typeface="Arial"/>
                <a:ea typeface="Arial"/>
                <a:cs typeface="Arial"/>
                <a:sym typeface="Arial"/>
              </a:rPr>
            </a:b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Captures video via </a:t>
            </a:r>
            <a:r>
              <a:rPr lang="en-US" sz="1100">
                <a:solidFill>
                  <a:srgbClr val="188038"/>
                </a:solidFill>
                <a:latin typeface="Roboto Mono"/>
                <a:ea typeface="Roboto Mono"/>
                <a:cs typeface="Roboto Mono"/>
                <a:sym typeface="Roboto Mono"/>
              </a:rPr>
              <a:t>libcamera-vid</a:t>
            </a:r>
            <a:r>
              <a:rPr lang="en-US" sz="1100">
                <a:latin typeface="Arial"/>
                <a:ea typeface="Arial"/>
                <a:cs typeface="Arial"/>
                <a:sym typeface="Arial"/>
              </a:rPr>
              <a:t> and streams with FFmpeg</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Outputs low-latency </a:t>
            </a:r>
            <a:r>
              <a:rPr lang="en-US" sz="1100">
                <a:solidFill>
                  <a:srgbClr val="188038"/>
                </a:solidFill>
                <a:latin typeface="Roboto Mono"/>
                <a:ea typeface="Roboto Mono"/>
                <a:cs typeface="Roboto Mono"/>
                <a:sym typeface="Roboto Mono"/>
              </a:rPr>
              <a:t>.m3u8</a:t>
            </a:r>
            <a:r>
              <a:rPr lang="en-US" sz="1100">
                <a:latin typeface="Arial"/>
                <a:ea typeface="Arial"/>
                <a:cs typeface="Arial"/>
                <a:sym typeface="Arial"/>
              </a:rPr>
              <a:t> segments for browser playback using </a:t>
            </a:r>
            <a:r>
              <a:rPr lang="en-US" sz="1100">
                <a:solidFill>
                  <a:srgbClr val="188038"/>
                </a:solidFill>
                <a:latin typeface="Roboto Mono"/>
                <a:ea typeface="Roboto Mono"/>
                <a:cs typeface="Roboto Mono"/>
                <a:sym typeface="Roboto Mono"/>
              </a:rPr>
              <a:t>hls.js</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a:p>
        </p:txBody>
      </p:sp>
      <p:sp>
        <p:nvSpPr>
          <p:cNvPr id="166" name="Google Shape;166;g34eec164bf2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4cc2cca870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72" name="Google Shape;172;g34cc2cca870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cc2cca870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85" name="Google Shape;185;g34cc2cca870_0_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4ee8d7d375_1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4ee8d7d375_1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Arial"/>
                <a:ea typeface="Arial"/>
                <a:cs typeface="Arial"/>
                <a:sym typeface="Arial"/>
              </a:rPr>
              <a:t>Expand on the Modes of Operation Points</a:t>
            </a:r>
            <a:endParaRPr b="1" sz="1100">
              <a:latin typeface="Arial"/>
              <a:ea typeface="Arial"/>
              <a:cs typeface="Arial"/>
              <a:sym typeface="Arial"/>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rPr b="1" lang="en-US" sz="1100">
                <a:latin typeface="Arial"/>
                <a:ea typeface="Arial"/>
                <a:cs typeface="Arial"/>
                <a:sym typeface="Arial"/>
              </a:rPr>
              <a:t>Livestream:</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Host a Flask Server with HTTP web </a:t>
            </a:r>
            <a:r>
              <a:rPr lang="en-US" sz="1100">
                <a:latin typeface="Arial"/>
                <a:ea typeface="Arial"/>
                <a:cs typeface="Arial"/>
                <a:sym typeface="Arial"/>
              </a:rPr>
              <a:t>interface</a:t>
            </a:r>
            <a:r>
              <a:rPr lang="en-US" sz="1100">
                <a:latin typeface="Arial"/>
                <a:ea typeface="Arial"/>
                <a:cs typeface="Arial"/>
                <a:sym typeface="Arial"/>
              </a:rPr>
              <a:t> for live video access and control</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Captures video and streams with FFmpeg with HLS browser playback for viewing via the HTTP Flask Url</a:t>
            </a:r>
            <a:endParaRPr sz="110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a:p>
        </p:txBody>
      </p:sp>
      <p:sp>
        <p:nvSpPr>
          <p:cNvPr id="198" name="Google Shape;198;g34ee8d7d375_1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4ee8d7d375_1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4ee8d7d375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b="1" lang="en-US">
                <a:latin typeface="Arial"/>
                <a:ea typeface="Arial"/>
                <a:cs typeface="Arial"/>
                <a:sym typeface="Arial"/>
              </a:rPr>
              <a:t>Validation Meaning:</a:t>
            </a:r>
            <a:endParaRPr b="1">
              <a:latin typeface="Arial"/>
              <a:ea typeface="Arial"/>
              <a:cs typeface="Arial"/>
              <a:sym typeface="Arial"/>
            </a:endParaRPr>
          </a:p>
          <a:p>
            <a:pPr indent="-304800" lvl="0" marL="457200" rtl="0" algn="l">
              <a:spcBef>
                <a:spcPts val="360"/>
              </a:spcBef>
              <a:spcAft>
                <a:spcPts val="0"/>
              </a:spcAft>
              <a:buClr>
                <a:schemeClr val="dk1"/>
              </a:buClr>
              <a:buSzPts val="1200"/>
              <a:buChar char="-"/>
            </a:pPr>
            <a:r>
              <a:rPr lang="en-US">
                <a:latin typeface="Arial"/>
                <a:ea typeface="Arial"/>
                <a:cs typeface="Arial"/>
                <a:sym typeface="Arial"/>
              </a:rPr>
              <a:t>System provides near real-time motion detection to alert system with minimal latency</a:t>
            </a:r>
            <a:endParaRPr>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US">
                <a:latin typeface="Arial"/>
                <a:ea typeface="Arial"/>
                <a:cs typeface="Arial"/>
                <a:sym typeface="Arial"/>
              </a:rPr>
              <a:t>The biggest downside to the user experience is the Live Streaming delay</a:t>
            </a:r>
            <a:endParaRPr>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US">
                <a:latin typeface="Arial"/>
                <a:ea typeface="Arial"/>
                <a:cs typeface="Arial"/>
                <a:sym typeface="Arial"/>
              </a:rPr>
              <a:t>The power consumption of all three modes of operation are less that 20 W, this target was chosen due the battery specs if less that 20 W are at max constant use for a given mode of operation the system in theory should be able to run for 25 hrs on the battery ensure that it can survive the night while the panel is unable to charge.</a:t>
            </a:r>
            <a:endParaRPr>
              <a:latin typeface="Arial"/>
              <a:ea typeface="Arial"/>
              <a:cs typeface="Arial"/>
              <a:sym typeface="Arial"/>
            </a:endParaRPr>
          </a:p>
          <a:p>
            <a:pPr indent="0" lvl="0" marL="0" rtl="0" algn="l">
              <a:spcBef>
                <a:spcPts val="360"/>
              </a:spcBef>
              <a:spcAft>
                <a:spcPts val="0"/>
              </a:spcAft>
              <a:buNone/>
            </a:pPr>
            <a:r>
              <a:t/>
            </a:r>
            <a:endParaRPr>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a:latin typeface="Arial"/>
                <a:ea typeface="Arial"/>
                <a:cs typeface="Arial"/>
                <a:sym typeface="Arial"/>
              </a:rPr>
              <a:t>Power consumption was calculated by measuring the current of the system under load in Lab. </a:t>
            </a:r>
            <a:endParaRPr>
              <a:latin typeface="Arial"/>
              <a:ea typeface="Arial"/>
              <a:cs typeface="Arial"/>
              <a:sym typeface="Arial"/>
            </a:endParaRPr>
          </a:p>
        </p:txBody>
      </p:sp>
      <p:sp>
        <p:nvSpPr>
          <p:cNvPr id="205" name="Google Shape;205;g34ee8d7d375_1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cbf1bf515_1_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4cbf1bf515_1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34cbf1bf515_1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eec164bf2_3_9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4eec164bf2_3_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4eec164bf2_3_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241300" lvl="0" marL="342900" rtl="0" algn="l">
              <a:spcBef>
                <a:spcPts val="0"/>
              </a:spcBef>
              <a:spcAft>
                <a:spcPts val="0"/>
              </a:spcAft>
              <a:buClr>
                <a:schemeClr val="dk1"/>
              </a:buClr>
              <a:buSzPts val="1200"/>
              <a:buChar char="●"/>
            </a:pPr>
            <a:r>
              <a:rPr lang="en-US">
                <a:solidFill>
                  <a:srgbClr val="000000"/>
                </a:solidFill>
                <a:latin typeface="Arial"/>
                <a:ea typeface="Arial"/>
                <a:cs typeface="Arial"/>
                <a:sym typeface="Arial"/>
              </a:rPr>
              <a:t>This section shows end-to-end system operation</a:t>
            </a:r>
            <a:endParaRPr>
              <a:solidFill>
                <a:srgbClr val="000000"/>
              </a:solidFill>
              <a:latin typeface="Arial"/>
              <a:ea typeface="Arial"/>
              <a:cs typeface="Arial"/>
              <a:sym typeface="Arial"/>
            </a:endParaRPr>
          </a:p>
          <a:p>
            <a:pPr indent="-241300" lvl="0" marL="342900" rtl="0" algn="l">
              <a:spcBef>
                <a:spcPts val="560"/>
              </a:spcBef>
              <a:spcAft>
                <a:spcPts val="0"/>
              </a:spcAft>
              <a:buClr>
                <a:schemeClr val="dk1"/>
              </a:buClr>
              <a:buSzPts val="1200"/>
              <a:buChar char="●"/>
            </a:pPr>
            <a:r>
              <a:rPr lang="en-US">
                <a:solidFill>
                  <a:srgbClr val="000000"/>
                </a:solidFill>
                <a:latin typeface="Arial"/>
                <a:ea typeface="Arial"/>
                <a:cs typeface="Arial"/>
                <a:sym typeface="Arial"/>
              </a:rPr>
              <a:t>Show and provide details on a few important end-to-end use scenarios that you developed and validated. Giving results (be quantitative here – results for key performance indicators … time to complete task, overall accuracy of task, success/fail measures)</a:t>
            </a:r>
            <a:endParaRPr>
              <a:solidFill>
                <a:srgbClr val="000000"/>
              </a:solidFill>
              <a:latin typeface="Arial"/>
              <a:ea typeface="Arial"/>
              <a:cs typeface="Arial"/>
              <a:sym typeface="Arial"/>
            </a:endParaRPr>
          </a:p>
          <a:p>
            <a:pPr indent="0" lvl="0" marL="457200" rtl="0" algn="l">
              <a:spcBef>
                <a:spcPts val="56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About 2 minutes total</a:t>
            </a:r>
            <a:endParaRPr>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run time is calculated given the power consumption of Pi combined with power consumption of Fans </a:t>
            </a:r>
            <a:endParaRPr/>
          </a:p>
        </p:txBody>
      </p:sp>
      <p:sp>
        <p:nvSpPr>
          <p:cNvPr id="230" name="Google Shape;23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ee8d7d375_1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41300" lvl="0" marL="342900" rtl="0" algn="l">
              <a:spcBef>
                <a:spcPts val="0"/>
              </a:spcBef>
              <a:spcAft>
                <a:spcPts val="0"/>
              </a:spcAft>
              <a:buClr>
                <a:schemeClr val="dk1"/>
              </a:buClr>
              <a:buSzPts val="1200"/>
              <a:buChar char="●"/>
            </a:pPr>
            <a:r>
              <a:rPr lang="en-US">
                <a:solidFill>
                  <a:srgbClr val="000000"/>
                </a:solidFill>
                <a:latin typeface="Arial"/>
                <a:ea typeface="Arial"/>
                <a:cs typeface="Arial"/>
                <a:sym typeface="Arial"/>
              </a:rPr>
              <a:t>This section shows end-to-end system operation</a:t>
            </a:r>
            <a:endParaRPr>
              <a:solidFill>
                <a:srgbClr val="000000"/>
              </a:solidFill>
              <a:latin typeface="Arial"/>
              <a:ea typeface="Arial"/>
              <a:cs typeface="Arial"/>
              <a:sym typeface="Arial"/>
            </a:endParaRPr>
          </a:p>
          <a:p>
            <a:pPr indent="-241300" lvl="0" marL="342900" rtl="0" algn="l">
              <a:spcBef>
                <a:spcPts val="560"/>
              </a:spcBef>
              <a:spcAft>
                <a:spcPts val="0"/>
              </a:spcAft>
              <a:buClr>
                <a:schemeClr val="dk1"/>
              </a:buClr>
              <a:buSzPts val="1200"/>
              <a:buChar char="●"/>
            </a:pPr>
            <a:r>
              <a:rPr lang="en-US">
                <a:solidFill>
                  <a:srgbClr val="000000"/>
                </a:solidFill>
                <a:latin typeface="Arial"/>
                <a:ea typeface="Arial"/>
                <a:cs typeface="Arial"/>
                <a:sym typeface="Arial"/>
              </a:rPr>
              <a:t>Show and provide details on a few important end-to-end use scenarios that you developed and validated. Giving results (be quantitative here – results for key performance indicators … time to complete task, overall accuracy of task, success/fail measures)</a:t>
            </a:r>
            <a:endParaRPr>
              <a:solidFill>
                <a:srgbClr val="000000"/>
              </a:solidFill>
              <a:latin typeface="Arial"/>
              <a:ea typeface="Arial"/>
              <a:cs typeface="Arial"/>
              <a:sym typeface="Arial"/>
            </a:endParaRPr>
          </a:p>
          <a:p>
            <a:pPr indent="0" lvl="0" marL="0" rtl="0" algn="l">
              <a:spcBef>
                <a:spcPts val="560"/>
              </a:spcBef>
              <a:spcAft>
                <a:spcPts val="0"/>
              </a:spcAft>
              <a:buNone/>
            </a:pPr>
            <a:r>
              <a:t/>
            </a:r>
            <a:endParaRPr>
              <a:solidFill>
                <a:srgbClr val="000000"/>
              </a:solidFill>
              <a:latin typeface="Arial"/>
              <a:ea typeface="Arial"/>
              <a:cs typeface="Arial"/>
              <a:sym typeface="Arial"/>
            </a:endParaRPr>
          </a:p>
          <a:p>
            <a:pPr indent="-355600" lvl="0" marL="457200" rtl="0" algn="l">
              <a:spcBef>
                <a:spcPts val="560"/>
              </a:spcBef>
              <a:spcAft>
                <a:spcPts val="0"/>
              </a:spcAft>
              <a:buClr>
                <a:schemeClr val="dk1"/>
              </a:buClr>
              <a:buSzPts val="2000"/>
              <a:buChar char="-"/>
            </a:pPr>
            <a:r>
              <a:rPr lang="en-US" sz="2000">
                <a:latin typeface="Arial"/>
                <a:ea typeface="Arial"/>
                <a:cs typeface="Arial"/>
                <a:sym typeface="Arial"/>
              </a:rPr>
              <a:t>If Low Power Mode or Livestreaming are triggered by the user, motion detection will be active. </a:t>
            </a:r>
            <a:endParaRPr>
              <a:solidFill>
                <a:srgbClr val="000000"/>
              </a:solidFill>
              <a:latin typeface="Arial"/>
              <a:ea typeface="Arial"/>
              <a:cs typeface="Arial"/>
              <a:sym typeface="Arial"/>
            </a:endParaRPr>
          </a:p>
          <a:p>
            <a:pPr indent="0" lvl="0" marL="457200" rtl="0" algn="l">
              <a:spcBef>
                <a:spcPts val="56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About 2 minutes total</a:t>
            </a:r>
            <a:endParaRPr>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total Run Time is calculated by combine hardware component power consumption and Pi power consumption given the 50Ah 12V battery</a:t>
            </a:r>
            <a:endParaRPr/>
          </a:p>
        </p:txBody>
      </p:sp>
      <p:sp>
        <p:nvSpPr>
          <p:cNvPr id="240" name="Google Shape;240;g34ee8d7d375_1_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4ee8d7d375_1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41300" lvl="0" marL="342900" rtl="0" algn="l">
              <a:spcBef>
                <a:spcPts val="0"/>
              </a:spcBef>
              <a:spcAft>
                <a:spcPts val="0"/>
              </a:spcAft>
              <a:buClr>
                <a:schemeClr val="dk1"/>
              </a:buClr>
              <a:buSzPts val="1200"/>
              <a:buChar char="●"/>
            </a:pPr>
            <a:r>
              <a:rPr lang="en-US">
                <a:solidFill>
                  <a:srgbClr val="000000"/>
                </a:solidFill>
                <a:latin typeface="Arial"/>
                <a:ea typeface="Arial"/>
                <a:cs typeface="Arial"/>
                <a:sym typeface="Arial"/>
              </a:rPr>
              <a:t>This section shows end-to-end system operation</a:t>
            </a:r>
            <a:endParaRPr>
              <a:solidFill>
                <a:srgbClr val="000000"/>
              </a:solidFill>
              <a:latin typeface="Arial"/>
              <a:ea typeface="Arial"/>
              <a:cs typeface="Arial"/>
              <a:sym typeface="Arial"/>
            </a:endParaRPr>
          </a:p>
          <a:p>
            <a:pPr indent="-241300" lvl="0" marL="342900" rtl="0" algn="l">
              <a:spcBef>
                <a:spcPts val="560"/>
              </a:spcBef>
              <a:spcAft>
                <a:spcPts val="0"/>
              </a:spcAft>
              <a:buClr>
                <a:schemeClr val="dk1"/>
              </a:buClr>
              <a:buSzPts val="1200"/>
              <a:buChar char="●"/>
            </a:pPr>
            <a:r>
              <a:rPr lang="en-US">
                <a:solidFill>
                  <a:srgbClr val="000000"/>
                </a:solidFill>
                <a:latin typeface="Arial"/>
                <a:ea typeface="Arial"/>
                <a:cs typeface="Arial"/>
                <a:sym typeface="Arial"/>
              </a:rPr>
              <a:t>Show and provide details on a few important end-to-end use scenarios that you developed and validated. Giving results (be quantitative here – results for key performance indicators … time to complete task, overall accuracy of task, success/fail measures)</a:t>
            </a:r>
            <a:endParaRPr>
              <a:solidFill>
                <a:srgbClr val="000000"/>
              </a:solidFill>
              <a:latin typeface="Arial"/>
              <a:ea typeface="Arial"/>
              <a:cs typeface="Arial"/>
              <a:sym typeface="Arial"/>
            </a:endParaRPr>
          </a:p>
          <a:p>
            <a:pPr indent="0" lvl="0" marL="457200" rtl="0" algn="l">
              <a:spcBef>
                <a:spcPts val="56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About 2 minutes total</a:t>
            </a:r>
            <a:endParaRPr>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Livestream:</a:t>
            </a:r>
            <a:endParaRPr b="1"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Host a Flask Server with HTTP web interface for live video access and control</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Captures video and streams with FFmpeg with HLS browser playback for viewing via the HTTP Flask Url</a:t>
            </a:r>
            <a:endParaRPr/>
          </a:p>
        </p:txBody>
      </p:sp>
      <p:sp>
        <p:nvSpPr>
          <p:cNvPr id="252" name="Google Shape;252;g34ee8d7d375_1_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sz="3200">
                <a:latin typeface="Arial"/>
                <a:ea typeface="Arial"/>
                <a:cs typeface="Arial"/>
                <a:sym typeface="Arial"/>
              </a:rPr>
              <a:t>List issues encountered that required changes from system described in Conops, FSR/ICD and resulting system design changes</a:t>
            </a:r>
            <a:endParaRPr sz="3200">
              <a:latin typeface="Arial"/>
              <a:ea typeface="Arial"/>
              <a:cs typeface="Arial"/>
              <a:sym typeface="Arial"/>
            </a:endParaRPr>
          </a:p>
          <a:p>
            <a:pPr indent="-342900" lvl="0" marL="342900" rtl="0" algn="l">
              <a:spcBef>
                <a:spcPts val="640"/>
              </a:spcBef>
              <a:spcAft>
                <a:spcPts val="0"/>
              </a:spcAft>
              <a:buClr>
                <a:schemeClr val="dk1"/>
              </a:buClr>
              <a:buSzPts val="3200"/>
              <a:buChar char="•"/>
            </a:pPr>
            <a:r>
              <a:rPr lang="en-US" sz="3200">
                <a:latin typeface="Arial"/>
                <a:ea typeface="Arial"/>
                <a:cs typeface="Arial"/>
                <a:sym typeface="Arial"/>
              </a:rPr>
              <a:t>Current status (</a:t>
            </a:r>
            <a:r>
              <a:rPr lang="en-US" sz="2800">
                <a:latin typeface="Arial"/>
                <a:ea typeface="Arial"/>
                <a:cs typeface="Arial"/>
                <a:sym typeface="Arial"/>
              </a:rPr>
              <a:t>eg. integration/test/validation complete; Integration complete, but BT comm not fully validated; Repeating testing for replacement PCB, integration/validation to be completed in 1 week</a:t>
            </a:r>
            <a:r>
              <a:rPr lang="en-US" sz="3200">
                <a:latin typeface="Arial"/>
                <a:ea typeface="Arial"/>
                <a:cs typeface="Arial"/>
                <a:sym typeface="Arial"/>
              </a:rPr>
              <a:t>)</a:t>
            </a:r>
            <a:endParaRPr sz="3200">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sz="3200">
              <a:latin typeface="Arial"/>
              <a:ea typeface="Arial"/>
              <a:cs typeface="Arial"/>
              <a:sym typeface="Arial"/>
            </a:endParaRPr>
          </a:p>
          <a:p>
            <a:pPr indent="0" lvl="0" marL="0" rtl="0" algn="l">
              <a:spcBef>
                <a:spcPts val="0"/>
              </a:spcBef>
              <a:spcAft>
                <a:spcPts val="0"/>
              </a:spcAft>
              <a:buNone/>
            </a:pPr>
            <a:r>
              <a:t/>
            </a:r>
            <a:endParaRPr/>
          </a:p>
        </p:txBody>
      </p:sp>
      <p:sp>
        <p:nvSpPr>
          <p:cNvPr id="265" name="Google Shape;26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9"/>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
          <p:cNvSpPr txBox="1"/>
          <p:nvPr>
            <p:ph idx="1" type="body"/>
          </p:nvPr>
        </p:nvSpPr>
        <p:spPr>
          <a:xfrm>
            <a:off x="457200" y="2049270"/>
            <a:ext cx="8229600" cy="407689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DLCOE_logo_HWHT.png" id="21" name="Google Shape;21;p9"/>
          <p:cNvPicPr preferRelativeResize="0"/>
          <p:nvPr/>
        </p:nvPicPr>
        <p:blipFill rotWithShape="1">
          <a:blip r:embed="rId3">
            <a:alphaModFix/>
          </a:blip>
          <a:srcRect b="0" l="0" r="0" t="0"/>
          <a:stretch/>
        </p:blipFill>
        <p:spPr>
          <a:xfrm>
            <a:off x="450851" y="234146"/>
            <a:ext cx="2443865" cy="4126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0"/>
          <p:cNvSpPr txBox="1"/>
          <p:nvPr>
            <p:ph type="ctrTitle"/>
          </p:nvPr>
        </p:nvSpPr>
        <p:spPr>
          <a:xfrm>
            <a:off x="3969582" y="2130425"/>
            <a:ext cx="4488617" cy="14700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3600"/>
              <a:buFont typeface="Arial"/>
              <a:buNone/>
              <a:defRPr b="1"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0"/>
          <p:cNvSpPr txBox="1"/>
          <p:nvPr>
            <p:ph idx="1" type="subTitle"/>
          </p:nvPr>
        </p:nvSpPr>
        <p:spPr>
          <a:xfrm>
            <a:off x="3124200" y="3886200"/>
            <a:ext cx="5333999" cy="1752600"/>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rgbClr val="FFFFFF"/>
              </a:buClr>
              <a:buSzPts val="2800"/>
              <a:buNone/>
              <a:defRPr sz="2800">
                <a:solidFill>
                  <a:srgbClr val="FFFFF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 name="Google Shape;2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11"/>
          <p:cNvSpPr txBox="1"/>
          <p:nvPr>
            <p:ph idx="1" type="body"/>
          </p:nvPr>
        </p:nvSpPr>
        <p:spPr>
          <a:xfrm>
            <a:off x="457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11"/>
          <p:cNvSpPr txBox="1"/>
          <p:nvPr>
            <p:ph idx="2" type="body"/>
          </p:nvPr>
        </p:nvSpPr>
        <p:spPr>
          <a:xfrm>
            <a:off x="4648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1"/>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Aria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2"/>
          <p:cNvSpPr txBox="1"/>
          <p:nvPr>
            <p:ph type="title"/>
          </p:nvPr>
        </p:nvSpPr>
        <p:spPr>
          <a:xfrm>
            <a:off x="457200" y="2900649"/>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Aria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13"/>
          <p:cNvSpPr txBox="1"/>
          <p:nvPr>
            <p:ph type="title"/>
          </p:nvPr>
        </p:nvSpPr>
        <p:spPr>
          <a:xfrm>
            <a:off x="457200" y="1066968"/>
            <a:ext cx="3008313" cy="7368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3575050" y="1073720"/>
            <a:ext cx="5111750" cy="505244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b="1" sz="28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13"/>
          <p:cNvSpPr txBox="1"/>
          <p:nvPr>
            <p:ph idx="2" type="body"/>
          </p:nvPr>
        </p:nvSpPr>
        <p:spPr>
          <a:xfrm>
            <a:off x="457200" y="1803850"/>
            <a:ext cx="3008313" cy="4322314"/>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14"/>
          <p:cNvSpPr txBox="1"/>
          <p:nvPr>
            <p:ph type="title"/>
          </p:nvPr>
        </p:nvSpPr>
        <p:spPr>
          <a:xfrm>
            <a:off x="457200" y="1196430"/>
            <a:ext cx="2573672"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1800"/>
              <a:buFont typeface="Arial"/>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
          <p:cNvSpPr/>
          <p:nvPr>
            <p:ph idx="2" type="pic"/>
          </p:nvPr>
        </p:nvSpPr>
        <p:spPr>
          <a:xfrm>
            <a:off x="3200400" y="1196430"/>
            <a:ext cx="5486400" cy="4850287"/>
          </a:xfrm>
          <a:prstGeom prst="rect">
            <a:avLst/>
          </a:prstGeom>
          <a:noFill/>
          <a:ln>
            <a:noFill/>
          </a:ln>
        </p:spPr>
      </p:sp>
      <p:sp>
        <p:nvSpPr>
          <p:cNvPr id="50" name="Google Shape;50;p14"/>
          <p:cNvSpPr txBox="1"/>
          <p:nvPr>
            <p:ph idx="1" type="body"/>
          </p:nvPr>
        </p:nvSpPr>
        <p:spPr>
          <a:xfrm>
            <a:off x="457200" y="1768043"/>
            <a:ext cx="2573672" cy="427867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1" name="Google Shape;5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1.pn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5.jpg"/><Relationship Id="rId4" Type="http://schemas.openxmlformats.org/officeDocument/2006/relationships/image" Target="../media/image31.jpg"/><Relationship Id="rId9" Type="http://schemas.openxmlformats.org/officeDocument/2006/relationships/image" Target="../media/image28.png"/><Relationship Id="rId5" Type="http://schemas.openxmlformats.org/officeDocument/2006/relationships/image" Target="../media/image17.jpg"/><Relationship Id="rId6" Type="http://schemas.openxmlformats.org/officeDocument/2006/relationships/image" Target="../media/image32.png"/><Relationship Id="rId7" Type="http://schemas.openxmlformats.org/officeDocument/2006/relationships/image" Target="../media/image24.png"/><Relationship Id="rId8"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37.jpg"/><Relationship Id="rId6"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34.jpg"/><Relationship Id="rId5"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type="ctrTitle"/>
          </p:nvPr>
        </p:nvSpPr>
        <p:spPr>
          <a:xfrm>
            <a:off x="1619250" y="4244975"/>
            <a:ext cx="7302500" cy="1603375"/>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lt1"/>
              </a:buClr>
              <a:buSzPct val="100000"/>
              <a:buFont typeface="Arial"/>
              <a:buNone/>
            </a:pPr>
            <a:r>
              <a:rPr lang="en-US"/>
              <a:t>ECEN 404 Final Presentation</a:t>
            </a:r>
            <a:br>
              <a:rPr lang="en-US"/>
            </a:br>
            <a:r>
              <a:rPr lang="en-US"/>
              <a:t>Team 65: Solar Playground with Security System</a:t>
            </a:r>
            <a:endParaRPr/>
          </a:p>
          <a:p>
            <a:pPr indent="0" lvl="0" marL="0" rtl="0" algn="r">
              <a:spcBef>
                <a:spcPts val="0"/>
              </a:spcBef>
              <a:spcAft>
                <a:spcPts val="0"/>
              </a:spcAft>
              <a:buClr>
                <a:schemeClr val="lt1"/>
              </a:buClr>
              <a:buSzPct val="100000"/>
              <a:buFont typeface="Arial"/>
              <a:buNone/>
            </a:pPr>
            <a:br>
              <a:rPr lang="en-US"/>
            </a:br>
            <a:r>
              <a:rPr lang="en-US" sz="2232"/>
              <a:t>Team Members: Zayan Prasla, Alex Allahar, Jackson Kitchel, Victor Igbokwe</a:t>
            </a:r>
            <a:br>
              <a:rPr lang="en-US" sz="2232"/>
            </a:br>
            <a:r>
              <a:rPr lang="en-US" sz="2232"/>
              <a:t>Sponsor: Wonhyeok Jang</a:t>
            </a:r>
            <a:br>
              <a:rPr lang="en-US" sz="2232"/>
            </a:br>
            <a:r>
              <a:rPr lang="en-US" sz="2232"/>
              <a:t>TA: Zian Wang</a:t>
            </a:r>
            <a:br>
              <a:rPr lang="en-US" sz="2232"/>
            </a:br>
            <a:endParaRPr/>
          </a:p>
        </p:txBody>
      </p:sp>
      <p:sp>
        <p:nvSpPr>
          <p:cNvPr id="59" name="Google Shape;59;p2"/>
          <p:cNvSpPr/>
          <p:nvPr/>
        </p:nvSpPr>
        <p:spPr>
          <a:xfrm>
            <a:off x="0" y="0"/>
            <a:ext cx="6111425" cy="6111425"/>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descr="DLCOE_logo_HWHT.png" id="60" name="Google Shape;60;p2"/>
          <p:cNvPicPr preferRelativeResize="0"/>
          <p:nvPr/>
        </p:nvPicPr>
        <p:blipFill rotWithShape="1">
          <a:blip r:embed="rId4">
            <a:alphaModFix/>
          </a:blip>
          <a:srcRect b="0" l="0" r="0" t="0"/>
          <a:stretch/>
        </p:blipFill>
        <p:spPr>
          <a:xfrm>
            <a:off x="5344000" y="1105318"/>
            <a:ext cx="3114199" cy="525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Problem Overview</a:t>
            </a:r>
            <a:endParaRPr/>
          </a:p>
        </p:txBody>
      </p:sp>
      <p:sp>
        <p:nvSpPr>
          <p:cNvPr id="66" name="Google Shape;66;p3"/>
          <p:cNvSpPr txBox="1"/>
          <p:nvPr>
            <p:ph idx="1" type="body"/>
          </p:nvPr>
        </p:nvSpPr>
        <p:spPr>
          <a:xfrm>
            <a:off x="457200" y="2049270"/>
            <a:ext cx="8229600" cy="4637280"/>
          </a:xfrm>
          <a:prstGeom prst="rect">
            <a:avLst/>
          </a:prstGeom>
          <a:noFill/>
          <a:ln>
            <a:noFill/>
          </a:ln>
        </p:spPr>
        <p:txBody>
          <a:bodyPr anchorCtr="0" anchor="t" bIns="45700" lIns="91425" spcFirstLastPara="1" rIns="91425" wrap="square" tIns="45700">
            <a:normAutofit/>
          </a:bodyPr>
          <a:lstStyle/>
          <a:p>
            <a:pPr indent="0" lvl="0" marL="0" rtl="0" algn="l">
              <a:spcBef>
                <a:spcPts val="640"/>
              </a:spcBef>
              <a:spcAft>
                <a:spcPts val="0"/>
              </a:spcAft>
              <a:buNone/>
            </a:pPr>
            <a:r>
              <a:rPr lang="en-US" sz="2400"/>
              <a:t>A solar-powered security system with a motion-detecting camera. This system provides near real-time video feeds and sends automated alerts for suspicious activity through a mobile app, enhancing safety in these areas. It solves the problem of unreliable surveillance in remote or off-grid locations by offering an autonomous, low-maintenance solution. </a:t>
            </a:r>
            <a:endParaRPr sz="2400"/>
          </a:p>
        </p:txBody>
      </p:sp>
      <p:pic>
        <p:nvPicPr>
          <p:cNvPr id="67" name="Google Shape;67;p3"/>
          <p:cNvPicPr preferRelativeResize="0"/>
          <p:nvPr/>
        </p:nvPicPr>
        <p:blipFill>
          <a:blip r:embed="rId3">
            <a:alphaModFix/>
          </a:blip>
          <a:stretch>
            <a:fillRect/>
          </a:stretch>
        </p:blipFill>
        <p:spPr>
          <a:xfrm>
            <a:off x="585225" y="4885900"/>
            <a:ext cx="1800776" cy="1800776"/>
          </a:xfrm>
          <a:prstGeom prst="rect">
            <a:avLst/>
          </a:prstGeom>
          <a:noFill/>
          <a:ln>
            <a:noFill/>
          </a:ln>
        </p:spPr>
      </p:pic>
      <p:pic>
        <p:nvPicPr>
          <p:cNvPr id="68" name="Google Shape;68;p3"/>
          <p:cNvPicPr preferRelativeResize="0"/>
          <p:nvPr/>
        </p:nvPicPr>
        <p:blipFill>
          <a:blip r:embed="rId4">
            <a:alphaModFix/>
          </a:blip>
          <a:stretch>
            <a:fillRect/>
          </a:stretch>
        </p:blipFill>
        <p:spPr>
          <a:xfrm>
            <a:off x="3174938" y="4885888"/>
            <a:ext cx="2641425" cy="1800775"/>
          </a:xfrm>
          <a:prstGeom prst="rect">
            <a:avLst/>
          </a:prstGeom>
          <a:noFill/>
          <a:ln>
            <a:noFill/>
          </a:ln>
        </p:spPr>
      </p:pic>
      <p:pic>
        <p:nvPicPr>
          <p:cNvPr id="69" name="Google Shape;69;p3"/>
          <p:cNvPicPr preferRelativeResize="0"/>
          <p:nvPr/>
        </p:nvPicPr>
        <p:blipFill rotWithShape="1">
          <a:blip r:embed="rId5">
            <a:alphaModFix/>
          </a:blip>
          <a:srcRect b="0" l="15237" r="12887" t="21470"/>
          <a:stretch/>
        </p:blipFill>
        <p:spPr>
          <a:xfrm>
            <a:off x="6262925" y="4885900"/>
            <a:ext cx="2423875" cy="1800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title"/>
          </p:nvPr>
        </p:nvSpPr>
        <p:spPr>
          <a:xfrm>
            <a:off x="457200" y="1037202"/>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Integrated Project Diagram</a:t>
            </a:r>
            <a:endParaRPr/>
          </a:p>
        </p:txBody>
      </p:sp>
      <p:pic>
        <p:nvPicPr>
          <p:cNvPr id="75" name="Google Shape;75;p4"/>
          <p:cNvPicPr preferRelativeResize="0"/>
          <p:nvPr/>
        </p:nvPicPr>
        <p:blipFill>
          <a:blip r:embed="rId3">
            <a:alphaModFix/>
          </a:blip>
          <a:stretch>
            <a:fillRect/>
          </a:stretch>
        </p:blipFill>
        <p:spPr>
          <a:xfrm>
            <a:off x="152400" y="1993302"/>
            <a:ext cx="8839199" cy="4286098"/>
          </a:xfrm>
          <a:prstGeom prst="rect">
            <a:avLst/>
          </a:prstGeom>
          <a:noFill/>
          <a:ln cap="flat" cmpd="sng" w="28575">
            <a:solidFill>
              <a:schemeClr val="dk1"/>
            </a:solidFill>
            <a:prstDash val="solid"/>
            <a:round/>
            <a:headEnd len="sm" w="sm" type="none"/>
            <a:tailEnd len="sm" w="sm" type="none"/>
          </a:ln>
        </p:spPr>
      </p:pic>
      <p:sp>
        <p:nvSpPr>
          <p:cNvPr id="76" name="Google Shape;76;p4"/>
          <p:cNvSpPr txBox="1"/>
          <p:nvPr/>
        </p:nvSpPr>
        <p:spPr>
          <a:xfrm>
            <a:off x="2487750" y="6371350"/>
            <a:ext cx="4168500" cy="37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1: Full System Overview</a:t>
            </a:r>
            <a:endParaRPr b="1"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4ee8d7d375_0_108"/>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Integrated Project Diagram (Hardware)</a:t>
            </a:r>
            <a:endParaRPr/>
          </a:p>
        </p:txBody>
      </p:sp>
      <p:pic>
        <p:nvPicPr>
          <p:cNvPr id="83" name="Google Shape;83;g34ee8d7d375_0_108"/>
          <p:cNvPicPr preferRelativeResize="0"/>
          <p:nvPr/>
        </p:nvPicPr>
        <p:blipFill>
          <a:blip r:embed="rId3">
            <a:alphaModFix/>
          </a:blip>
          <a:stretch>
            <a:fillRect/>
          </a:stretch>
        </p:blipFill>
        <p:spPr>
          <a:xfrm>
            <a:off x="3055050" y="1852877"/>
            <a:ext cx="3263963" cy="4700321"/>
          </a:xfrm>
          <a:prstGeom prst="rect">
            <a:avLst/>
          </a:prstGeom>
          <a:noFill/>
          <a:ln>
            <a:noFill/>
          </a:ln>
        </p:spPr>
      </p:pic>
      <p:cxnSp>
        <p:nvCxnSpPr>
          <p:cNvPr id="84" name="Google Shape;84;g34ee8d7d375_0_108"/>
          <p:cNvCxnSpPr>
            <a:stCxn id="85" idx="3"/>
          </p:cNvCxnSpPr>
          <p:nvPr/>
        </p:nvCxnSpPr>
        <p:spPr>
          <a:xfrm>
            <a:off x="1833675" y="2565300"/>
            <a:ext cx="1317600" cy="347700"/>
          </a:xfrm>
          <a:prstGeom prst="straightConnector1">
            <a:avLst/>
          </a:prstGeom>
          <a:noFill/>
          <a:ln cap="flat" cmpd="sng" w="38100">
            <a:solidFill>
              <a:schemeClr val="dk1"/>
            </a:solidFill>
            <a:prstDash val="solid"/>
            <a:round/>
            <a:headEnd len="med" w="med" type="none"/>
            <a:tailEnd len="med" w="med" type="triangle"/>
          </a:ln>
        </p:spPr>
      </p:cxnSp>
      <p:cxnSp>
        <p:nvCxnSpPr>
          <p:cNvPr id="86" name="Google Shape;86;g34ee8d7d375_0_108"/>
          <p:cNvCxnSpPr>
            <a:stCxn id="87" idx="1"/>
          </p:cNvCxnSpPr>
          <p:nvPr/>
        </p:nvCxnSpPr>
        <p:spPr>
          <a:xfrm flipH="1">
            <a:off x="6017300" y="3878363"/>
            <a:ext cx="1128900" cy="333300"/>
          </a:xfrm>
          <a:prstGeom prst="straightConnector1">
            <a:avLst/>
          </a:prstGeom>
          <a:noFill/>
          <a:ln cap="flat" cmpd="sng" w="38100">
            <a:solidFill>
              <a:schemeClr val="dk1"/>
            </a:solidFill>
            <a:prstDash val="solid"/>
            <a:round/>
            <a:headEnd len="med" w="med" type="none"/>
            <a:tailEnd len="med" w="med" type="triangle"/>
          </a:ln>
        </p:spPr>
      </p:cxnSp>
      <p:cxnSp>
        <p:nvCxnSpPr>
          <p:cNvPr id="88" name="Google Shape;88;g34ee8d7d375_0_108"/>
          <p:cNvCxnSpPr>
            <a:stCxn id="89" idx="1"/>
          </p:cNvCxnSpPr>
          <p:nvPr/>
        </p:nvCxnSpPr>
        <p:spPr>
          <a:xfrm rot="10800000">
            <a:off x="6160450" y="5903850"/>
            <a:ext cx="1414800" cy="455100"/>
          </a:xfrm>
          <a:prstGeom prst="straightConnector1">
            <a:avLst/>
          </a:prstGeom>
          <a:noFill/>
          <a:ln cap="flat" cmpd="sng" w="38100">
            <a:solidFill>
              <a:schemeClr val="dk1"/>
            </a:solidFill>
            <a:prstDash val="solid"/>
            <a:round/>
            <a:headEnd len="med" w="med" type="none"/>
            <a:tailEnd len="med" w="med" type="triangle"/>
          </a:ln>
        </p:spPr>
      </p:cxnSp>
      <p:cxnSp>
        <p:nvCxnSpPr>
          <p:cNvPr id="90" name="Google Shape;90;g34ee8d7d375_0_108"/>
          <p:cNvCxnSpPr>
            <a:stCxn id="91" idx="3"/>
          </p:cNvCxnSpPr>
          <p:nvPr/>
        </p:nvCxnSpPr>
        <p:spPr>
          <a:xfrm>
            <a:off x="2054325" y="4970175"/>
            <a:ext cx="1672500" cy="228600"/>
          </a:xfrm>
          <a:prstGeom prst="straightConnector1">
            <a:avLst/>
          </a:prstGeom>
          <a:noFill/>
          <a:ln cap="flat" cmpd="sng" w="38100">
            <a:solidFill>
              <a:schemeClr val="dk1"/>
            </a:solidFill>
            <a:prstDash val="solid"/>
            <a:round/>
            <a:headEnd len="med" w="med" type="none"/>
            <a:tailEnd len="med" w="med" type="triangle"/>
          </a:ln>
        </p:spPr>
      </p:cxnSp>
      <p:cxnSp>
        <p:nvCxnSpPr>
          <p:cNvPr id="92" name="Google Shape;92;g34ee8d7d375_0_108"/>
          <p:cNvCxnSpPr>
            <a:stCxn id="93" idx="3"/>
          </p:cNvCxnSpPr>
          <p:nvPr/>
        </p:nvCxnSpPr>
        <p:spPr>
          <a:xfrm flipH="1" rot="10800000">
            <a:off x="1901025" y="5519200"/>
            <a:ext cx="1778400" cy="190500"/>
          </a:xfrm>
          <a:prstGeom prst="straightConnector1">
            <a:avLst/>
          </a:prstGeom>
          <a:noFill/>
          <a:ln cap="flat" cmpd="sng" w="38100">
            <a:solidFill>
              <a:schemeClr val="dk1"/>
            </a:solidFill>
            <a:prstDash val="solid"/>
            <a:round/>
            <a:headEnd len="med" w="med" type="none"/>
            <a:tailEnd len="med" w="med" type="triangle"/>
          </a:ln>
        </p:spPr>
      </p:cxnSp>
      <p:cxnSp>
        <p:nvCxnSpPr>
          <p:cNvPr id="94" name="Google Shape;94;g34ee8d7d375_0_108"/>
          <p:cNvCxnSpPr>
            <a:stCxn id="95" idx="3"/>
          </p:cNvCxnSpPr>
          <p:nvPr/>
        </p:nvCxnSpPr>
        <p:spPr>
          <a:xfrm flipH="1" rot="10800000">
            <a:off x="1901025" y="5968925"/>
            <a:ext cx="1400100" cy="480300"/>
          </a:xfrm>
          <a:prstGeom prst="straightConnector1">
            <a:avLst/>
          </a:prstGeom>
          <a:noFill/>
          <a:ln cap="flat" cmpd="sng" w="38100">
            <a:solidFill>
              <a:schemeClr val="dk1"/>
            </a:solidFill>
            <a:prstDash val="solid"/>
            <a:round/>
            <a:headEnd len="med" w="med" type="none"/>
            <a:tailEnd len="med" w="med" type="triangle"/>
          </a:ln>
        </p:spPr>
      </p:cxnSp>
      <p:sp>
        <p:nvSpPr>
          <p:cNvPr id="95" name="Google Shape;95;g34ee8d7d375_0_108"/>
          <p:cNvSpPr txBox="1"/>
          <p:nvPr/>
        </p:nvSpPr>
        <p:spPr>
          <a:xfrm>
            <a:off x="583425" y="6254975"/>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PIR Sensor</a:t>
            </a:r>
            <a:endParaRPr>
              <a:solidFill>
                <a:schemeClr val="dk1"/>
              </a:solidFill>
            </a:endParaRPr>
          </a:p>
        </p:txBody>
      </p:sp>
      <p:sp>
        <p:nvSpPr>
          <p:cNvPr id="93" name="Google Shape;93;g34ee8d7d375_0_108"/>
          <p:cNvSpPr txBox="1"/>
          <p:nvPr/>
        </p:nvSpPr>
        <p:spPr>
          <a:xfrm>
            <a:off x="232425" y="5515450"/>
            <a:ext cx="1668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CSI Pi Camera</a:t>
            </a:r>
            <a:endParaRPr>
              <a:solidFill>
                <a:schemeClr val="dk1"/>
              </a:solidFill>
            </a:endParaRPr>
          </a:p>
        </p:txBody>
      </p:sp>
      <p:sp>
        <p:nvSpPr>
          <p:cNvPr id="91" name="Google Shape;91;g34ee8d7d375_0_108"/>
          <p:cNvSpPr txBox="1"/>
          <p:nvPr/>
        </p:nvSpPr>
        <p:spPr>
          <a:xfrm>
            <a:off x="295425" y="4775925"/>
            <a:ext cx="17589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Raspberry Pi 4 B</a:t>
            </a:r>
            <a:endParaRPr>
              <a:solidFill>
                <a:schemeClr val="dk1"/>
              </a:solidFill>
            </a:endParaRPr>
          </a:p>
        </p:txBody>
      </p:sp>
      <p:sp>
        <p:nvSpPr>
          <p:cNvPr id="85" name="Google Shape;85;g34ee8d7d375_0_108"/>
          <p:cNvSpPr txBox="1"/>
          <p:nvPr/>
        </p:nvSpPr>
        <p:spPr>
          <a:xfrm>
            <a:off x="516075" y="2371050"/>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Intake Fan</a:t>
            </a:r>
            <a:endParaRPr>
              <a:solidFill>
                <a:schemeClr val="dk1"/>
              </a:solidFill>
            </a:endParaRPr>
          </a:p>
        </p:txBody>
      </p:sp>
      <p:sp>
        <p:nvSpPr>
          <p:cNvPr id="89" name="Google Shape;89;g34ee8d7d375_0_108"/>
          <p:cNvSpPr txBox="1"/>
          <p:nvPr/>
        </p:nvSpPr>
        <p:spPr>
          <a:xfrm>
            <a:off x="7575250" y="6164700"/>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Exhaust Fan</a:t>
            </a:r>
            <a:endParaRPr>
              <a:solidFill>
                <a:schemeClr val="dk1"/>
              </a:solidFill>
            </a:endParaRPr>
          </a:p>
        </p:txBody>
      </p:sp>
      <p:sp>
        <p:nvSpPr>
          <p:cNvPr id="87" name="Google Shape;87;g34ee8d7d375_0_108"/>
          <p:cNvSpPr txBox="1"/>
          <p:nvPr/>
        </p:nvSpPr>
        <p:spPr>
          <a:xfrm>
            <a:off x="7146200" y="3684113"/>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Power Switch</a:t>
            </a:r>
            <a:endParaRPr>
              <a:solidFill>
                <a:schemeClr val="dk1"/>
              </a:solidFill>
            </a:endParaRPr>
          </a:p>
        </p:txBody>
      </p:sp>
      <p:cxnSp>
        <p:nvCxnSpPr>
          <p:cNvPr id="96" name="Google Shape;96;g34ee8d7d375_0_108"/>
          <p:cNvCxnSpPr/>
          <p:nvPr/>
        </p:nvCxnSpPr>
        <p:spPr>
          <a:xfrm>
            <a:off x="1926975" y="3547775"/>
            <a:ext cx="1602000" cy="54900"/>
          </a:xfrm>
          <a:prstGeom prst="straightConnector1">
            <a:avLst/>
          </a:prstGeom>
          <a:noFill/>
          <a:ln cap="flat" cmpd="sng" w="38100">
            <a:solidFill>
              <a:schemeClr val="dk1"/>
            </a:solidFill>
            <a:prstDash val="solid"/>
            <a:round/>
            <a:headEnd len="med" w="med" type="none"/>
            <a:tailEnd len="med" w="med" type="triangle"/>
          </a:ln>
        </p:spPr>
      </p:cxnSp>
      <p:sp>
        <p:nvSpPr>
          <p:cNvPr id="97" name="Google Shape;97;g34ee8d7d375_0_108"/>
          <p:cNvSpPr txBox="1"/>
          <p:nvPr/>
        </p:nvSpPr>
        <p:spPr>
          <a:xfrm>
            <a:off x="559275" y="3354775"/>
            <a:ext cx="1668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Buck Converter PCB</a:t>
            </a:r>
            <a:endParaRPr>
              <a:solidFill>
                <a:schemeClr val="dk1"/>
              </a:solidFill>
            </a:endParaRPr>
          </a:p>
        </p:txBody>
      </p:sp>
      <p:cxnSp>
        <p:nvCxnSpPr>
          <p:cNvPr id="98" name="Google Shape;98;g34ee8d7d375_0_108"/>
          <p:cNvCxnSpPr>
            <a:stCxn id="99" idx="1"/>
          </p:cNvCxnSpPr>
          <p:nvPr/>
        </p:nvCxnSpPr>
        <p:spPr>
          <a:xfrm flipH="1">
            <a:off x="5453725" y="4463788"/>
            <a:ext cx="1866900" cy="506100"/>
          </a:xfrm>
          <a:prstGeom prst="straightConnector1">
            <a:avLst/>
          </a:prstGeom>
          <a:noFill/>
          <a:ln cap="flat" cmpd="sng" w="38100">
            <a:solidFill>
              <a:schemeClr val="dk1"/>
            </a:solidFill>
            <a:prstDash val="solid"/>
            <a:round/>
            <a:headEnd len="med" w="med" type="none"/>
            <a:tailEnd len="med" w="med" type="triangle"/>
          </a:ln>
        </p:spPr>
      </p:cxnSp>
      <p:sp>
        <p:nvSpPr>
          <p:cNvPr id="99" name="Google Shape;99;g34ee8d7d375_0_108"/>
          <p:cNvSpPr txBox="1"/>
          <p:nvPr/>
        </p:nvSpPr>
        <p:spPr>
          <a:xfrm>
            <a:off x="7320625" y="4269538"/>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Relay control PCB</a:t>
            </a:r>
            <a:endParaRPr>
              <a:solidFill>
                <a:schemeClr val="dk1"/>
              </a:solidFill>
            </a:endParaRPr>
          </a:p>
        </p:txBody>
      </p:sp>
      <p:cxnSp>
        <p:nvCxnSpPr>
          <p:cNvPr id="100" name="Google Shape;100;g34ee8d7d375_0_108"/>
          <p:cNvCxnSpPr>
            <a:stCxn id="101" idx="1"/>
          </p:cNvCxnSpPr>
          <p:nvPr/>
        </p:nvCxnSpPr>
        <p:spPr>
          <a:xfrm flipH="1">
            <a:off x="5686850" y="3200075"/>
            <a:ext cx="1536000" cy="214800"/>
          </a:xfrm>
          <a:prstGeom prst="straightConnector1">
            <a:avLst/>
          </a:prstGeom>
          <a:noFill/>
          <a:ln cap="flat" cmpd="sng" w="38100">
            <a:solidFill>
              <a:schemeClr val="dk1"/>
            </a:solidFill>
            <a:prstDash val="solid"/>
            <a:round/>
            <a:headEnd len="med" w="med" type="none"/>
            <a:tailEnd len="med" w="med" type="triangle"/>
          </a:ln>
        </p:spPr>
      </p:cxnSp>
      <p:sp>
        <p:nvSpPr>
          <p:cNvPr id="101" name="Google Shape;101;g34ee8d7d375_0_108"/>
          <p:cNvSpPr txBox="1"/>
          <p:nvPr/>
        </p:nvSpPr>
        <p:spPr>
          <a:xfrm>
            <a:off x="7222850" y="3005825"/>
            <a:ext cx="1317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Solar Charging PCB</a:t>
            </a:r>
            <a:endParaRPr>
              <a:solidFill>
                <a:schemeClr val="dk1"/>
              </a:solidFill>
            </a:endParaRPr>
          </a:p>
        </p:txBody>
      </p:sp>
      <p:sp>
        <p:nvSpPr>
          <p:cNvPr id="102" name="Google Shape;102;g34ee8d7d375_0_108"/>
          <p:cNvSpPr txBox="1"/>
          <p:nvPr/>
        </p:nvSpPr>
        <p:spPr>
          <a:xfrm>
            <a:off x="2487750" y="6483900"/>
            <a:ext cx="4168500" cy="37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2: Hardware Overview</a:t>
            </a:r>
            <a:endParaRPr b="1"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4eec164bf2_3_0"/>
          <p:cNvSpPr txBox="1"/>
          <p:nvPr>
            <p:ph type="title"/>
          </p:nvPr>
        </p:nvSpPr>
        <p:spPr>
          <a:xfrm>
            <a:off x="457200" y="6985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Integrated System Diagram (Software)</a:t>
            </a:r>
            <a:endParaRPr/>
          </a:p>
        </p:txBody>
      </p:sp>
      <p:sp>
        <p:nvSpPr>
          <p:cNvPr id="109" name="Google Shape;109;g34eec164bf2_3_0"/>
          <p:cNvSpPr txBox="1"/>
          <p:nvPr/>
        </p:nvSpPr>
        <p:spPr>
          <a:xfrm>
            <a:off x="5776025" y="1502275"/>
            <a:ext cx="1350300" cy="149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3: </a:t>
            </a:r>
            <a:r>
              <a:rPr b="1" lang="en-US" sz="1200">
                <a:solidFill>
                  <a:schemeClr val="dk1"/>
                </a:solidFill>
              </a:rPr>
              <a:t>Homepage with updating Event thumbnail and updating Charging Statistics</a:t>
            </a:r>
            <a:endParaRPr b="1" sz="1200">
              <a:solidFill>
                <a:schemeClr val="dk1"/>
              </a:solidFill>
            </a:endParaRPr>
          </a:p>
        </p:txBody>
      </p:sp>
      <p:sp>
        <p:nvSpPr>
          <p:cNvPr id="110" name="Google Shape;110;g34eec164bf2_3_0"/>
          <p:cNvSpPr txBox="1"/>
          <p:nvPr/>
        </p:nvSpPr>
        <p:spPr>
          <a:xfrm>
            <a:off x="2187138" y="1752225"/>
            <a:ext cx="992100" cy="182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4: </a:t>
            </a:r>
            <a:r>
              <a:rPr b="1" lang="en-US" sz="1200">
                <a:solidFill>
                  <a:schemeClr val="dk1"/>
                </a:solidFill>
              </a:rPr>
              <a:t>Event History Page with live stream capability and playable videos</a:t>
            </a:r>
            <a:endParaRPr b="1" sz="1200">
              <a:solidFill>
                <a:schemeClr val="dk1"/>
              </a:solidFill>
            </a:endParaRPr>
          </a:p>
        </p:txBody>
      </p:sp>
      <p:pic>
        <p:nvPicPr>
          <p:cNvPr id="111" name="Google Shape;111;g34eec164bf2_3_0"/>
          <p:cNvPicPr preferRelativeResize="0"/>
          <p:nvPr/>
        </p:nvPicPr>
        <p:blipFill rotWithShape="1">
          <a:blip r:embed="rId3">
            <a:alphaModFix/>
          </a:blip>
          <a:srcRect b="40863" l="0" r="0" t="37362"/>
          <a:stretch/>
        </p:blipFill>
        <p:spPr>
          <a:xfrm>
            <a:off x="5912096" y="5820325"/>
            <a:ext cx="1531705" cy="922248"/>
          </a:xfrm>
          <a:prstGeom prst="rect">
            <a:avLst/>
          </a:prstGeom>
          <a:noFill/>
          <a:ln>
            <a:noFill/>
          </a:ln>
        </p:spPr>
      </p:pic>
      <p:pic>
        <p:nvPicPr>
          <p:cNvPr id="112" name="Google Shape;112;g34eec164bf2_3_0"/>
          <p:cNvPicPr preferRelativeResize="0"/>
          <p:nvPr/>
        </p:nvPicPr>
        <p:blipFill rotWithShape="1">
          <a:blip r:embed="rId4">
            <a:alphaModFix/>
          </a:blip>
          <a:srcRect b="40863" l="0" r="0" t="37362"/>
          <a:stretch/>
        </p:blipFill>
        <p:spPr>
          <a:xfrm>
            <a:off x="6675500" y="4838700"/>
            <a:ext cx="1630300" cy="981624"/>
          </a:xfrm>
          <a:prstGeom prst="rect">
            <a:avLst/>
          </a:prstGeom>
          <a:noFill/>
          <a:ln>
            <a:noFill/>
          </a:ln>
        </p:spPr>
      </p:pic>
      <p:pic>
        <p:nvPicPr>
          <p:cNvPr id="113" name="Google Shape;113;g34eec164bf2_3_0"/>
          <p:cNvPicPr preferRelativeResize="0"/>
          <p:nvPr/>
        </p:nvPicPr>
        <p:blipFill rotWithShape="1">
          <a:blip r:embed="rId5">
            <a:alphaModFix/>
          </a:blip>
          <a:srcRect b="40863" l="0" r="0" t="37362"/>
          <a:stretch/>
        </p:blipFill>
        <p:spPr>
          <a:xfrm>
            <a:off x="7612300" y="5820324"/>
            <a:ext cx="1531705" cy="922248"/>
          </a:xfrm>
          <a:prstGeom prst="rect">
            <a:avLst/>
          </a:prstGeom>
          <a:noFill/>
          <a:ln>
            <a:noFill/>
          </a:ln>
        </p:spPr>
      </p:pic>
      <p:pic>
        <p:nvPicPr>
          <p:cNvPr id="114" name="Google Shape;114;g34eec164bf2_3_0" title="Screenshot 2025-04-16 at 2.39.53 PM.png"/>
          <p:cNvPicPr preferRelativeResize="0"/>
          <p:nvPr/>
        </p:nvPicPr>
        <p:blipFill rotWithShape="1">
          <a:blip r:embed="rId6">
            <a:alphaModFix/>
          </a:blip>
          <a:srcRect b="0" l="0" r="507" t="0"/>
          <a:stretch/>
        </p:blipFill>
        <p:spPr>
          <a:xfrm>
            <a:off x="212900" y="1580775"/>
            <a:ext cx="1785524" cy="2604847"/>
          </a:xfrm>
          <a:prstGeom prst="rect">
            <a:avLst/>
          </a:prstGeom>
          <a:noFill/>
          <a:ln>
            <a:noFill/>
          </a:ln>
        </p:spPr>
      </p:pic>
      <p:pic>
        <p:nvPicPr>
          <p:cNvPr id="115" name="Google Shape;115;g34eec164bf2_3_0" title="Screenshot 2025-04-16 at 2.47.04 PM.png"/>
          <p:cNvPicPr preferRelativeResize="0"/>
          <p:nvPr/>
        </p:nvPicPr>
        <p:blipFill rotWithShape="1">
          <a:blip r:embed="rId7">
            <a:alphaModFix/>
          </a:blip>
          <a:srcRect b="2488" l="0" r="0" t="13428"/>
          <a:stretch/>
        </p:blipFill>
        <p:spPr>
          <a:xfrm>
            <a:off x="1394059" y="4365637"/>
            <a:ext cx="1785526" cy="2322275"/>
          </a:xfrm>
          <a:prstGeom prst="rect">
            <a:avLst/>
          </a:prstGeom>
          <a:noFill/>
          <a:ln>
            <a:noFill/>
          </a:ln>
        </p:spPr>
      </p:pic>
      <p:pic>
        <p:nvPicPr>
          <p:cNvPr id="116" name="Google Shape;116;g34eec164bf2_3_0"/>
          <p:cNvPicPr preferRelativeResize="0"/>
          <p:nvPr/>
        </p:nvPicPr>
        <p:blipFill>
          <a:blip r:embed="rId8">
            <a:alphaModFix/>
          </a:blip>
          <a:stretch>
            <a:fillRect/>
          </a:stretch>
        </p:blipFill>
        <p:spPr>
          <a:xfrm>
            <a:off x="3367962" y="1502275"/>
            <a:ext cx="2408075" cy="4862425"/>
          </a:xfrm>
          <a:prstGeom prst="rect">
            <a:avLst/>
          </a:prstGeom>
          <a:noFill/>
          <a:ln>
            <a:noFill/>
          </a:ln>
        </p:spPr>
      </p:pic>
      <p:sp>
        <p:nvSpPr>
          <p:cNvPr id="117" name="Google Shape;117;g34eec164bf2_3_0"/>
          <p:cNvSpPr txBox="1"/>
          <p:nvPr/>
        </p:nvSpPr>
        <p:spPr>
          <a:xfrm>
            <a:off x="0" y="4659775"/>
            <a:ext cx="1394100" cy="74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5: </a:t>
            </a:r>
            <a:r>
              <a:rPr b="1" lang="en-US" sz="1200">
                <a:solidFill>
                  <a:schemeClr val="dk1"/>
                </a:solidFill>
              </a:rPr>
              <a:t>Video Player from the app</a:t>
            </a:r>
            <a:endParaRPr b="1" sz="1200">
              <a:solidFill>
                <a:schemeClr val="dk1"/>
              </a:solidFill>
            </a:endParaRPr>
          </a:p>
        </p:txBody>
      </p:sp>
      <p:pic>
        <p:nvPicPr>
          <p:cNvPr id="118" name="Google Shape;118;g34eec164bf2_3_0" title="Screenshot 2025-04-16 at 2.57.13 PM.png"/>
          <p:cNvPicPr preferRelativeResize="0"/>
          <p:nvPr/>
        </p:nvPicPr>
        <p:blipFill rotWithShape="1">
          <a:blip r:embed="rId9">
            <a:alphaModFix/>
          </a:blip>
          <a:srcRect b="0" l="0" r="0" t="6794"/>
          <a:stretch/>
        </p:blipFill>
        <p:spPr>
          <a:xfrm>
            <a:off x="7126325" y="1364650"/>
            <a:ext cx="1885999" cy="3149375"/>
          </a:xfrm>
          <a:prstGeom prst="rect">
            <a:avLst/>
          </a:prstGeom>
          <a:noFill/>
          <a:ln>
            <a:noFill/>
          </a:ln>
        </p:spPr>
      </p:pic>
      <p:sp>
        <p:nvSpPr>
          <p:cNvPr id="119" name="Google Shape;119;g34eec164bf2_3_0"/>
          <p:cNvSpPr txBox="1"/>
          <p:nvPr/>
        </p:nvSpPr>
        <p:spPr>
          <a:xfrm>
            <a:off x="5776025" y="3429000"/>
            <a:ext cx="1350300" cy="149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Figure 6: </a:t>
            </a:r>
            <a:r>
              <a:rPr b="1" lang="en-US" sz="1200">
                <a:solidFill>
                  <a:schemeClr val="dk1"/>
                </a:solidFill>
              </a:rPr>
              <a:t>Modes of Operation and System Controls with successful communication</a:t>
            </a:r>
            <a:endParaRPr b="1" sz="1200">
              <a:solidFill>
                <a:schemeClr val="dk1"/>
              </a:solidFill>
            </a:endParaRPr>
          </a:p>
        </p:txBody>
      </p:sp>
      <p:cxnSp>
        <p:nvCxnSpPr>
          <p:cNvPr id="120" name="Google Shape;120;g34eec164bf2_3_0"/>
          <p:cNvCxnSpPr/>
          <p:nvPr/>
        </p:nvCxnSpPr>
        <p:spPr>
          <a:xfrm rot="10800000">
            <a:off x="1533675" y="1714350"/>
            <a:ext cx="2571600" cy="1335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g34eec164bf2_3_0"/>
          <p:cNvCxnSpPr/>
          <p:nvPr/>
        </p:nvCxnSpPr>
        <p:spPr>
          <a:xfrm flipH="1">
            <a:off x="5191200" y="2143125"/>
            <a:ext cx="790500" cy="7620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g34eec164bf2_3_0"/>
          <p:cNvCxnSpPr/>
          <p:nvPr/>
        </p:nvCxnSpPr>
        <p:spPr>
          <a:xfrm flipH="1">
            <a:off x="5210100" y="2676525"/>
            <a:ext cx="924000" cy="857400"/>
          </a:xfrm>
          <a:prstGeom prst="straightConnector1">
            <a:avLst/>
          </a:prstGeom>
          <a:noFill/>
          <a:ln cap="flat" cmpd="sng" w="9525">
            <a:solidFill>
              <a:schemeClr val="dk2"/>
            </a:solidFill>
            <a:prstDash val="solid"/>
            <a:round/>
            <a:headEnd len="med" w="med" type="none"/>
            <a:tailEnd len="med" w="med" type="triangle"/>
          </a:ln>
        </p:spPr>
      </p:cxnSp>
      <p:cxnSp>
        <p:nvCxnSpPr>
          <p:cNvPr id="123" name="Google Shape;123;g34eec164bf2_3_0"/>
          <p:cNvCxnSpPr/>
          <p:nvPr/>
        </p:nvCxnSpPr>
        <p:spPr>
          <a:xfrm>
            <a:off x="485775" y="2714625"/>
            <a:ext cx="1428900" cy="2152800"/>
          </a:xfrm>
          <a:prstGeom prst="straightConnector1">
            <a:avLst/>
          </a:prstGeom>
          <a:noFill/>
          <a:ln cap="flat" cmpd="sng" w="9525">
            <a:solidFill>
              <a:schemeClr val="dk2"/>
            </a:solidFill>
            <a:prstDash val="solid"/>
            <a:round/>
            <a:headEnd len="med" w="med" type="none"/>
            <a:tailEnd len="med" w="med" type="triangle"/>
          </a:ln>
        </p:spPr>
      </p:cxnSp>
      <p:cxnSp>
        <p:nvCxnSpPr>
          <p:cNvPr id="124" name="Google Shape;124;g34eec164bf2_3_0"/>
          <p:cNvCxnSpPr/>
          <p:nvPr/>
        </p:nvCxnSpPr>
        <p:spPr>
          <a:xfrm flipH="1">
            <a:off x="4873425" y="4175500"/>
            <a:ext cx="1151700" cy="941400"/>
          </a:xfrm>
          <a:prstGeom prst="straightConnector1">
            <a:avLst/>
          </a:prstGeom>
          <a:noFill/>
          <a:ln cap="flat" cmpd="sng" w="9525">
            <a:solidFill>
              <a:schemeClr val="dk2"/>
            </a:solidFill>
            <a:prstDash val="solid"/>
            <a:round/>
            <a:headEnd len="med" w="med" type="none"/>
            <a:tailEnd len="med" w="med" type="triangle"/>
          </a:ln>
        </p:spPr>
      </p:cxnSp>
      <p:cxnSp>
        <p:nvCxnSpPr>
          <p:cNvPr id="125" name="Google Shape;125;g34eec164bf2_3_0"/>
          <p:cNvCxnSpPr/>
          <p:nvPr/>
        </p:nvCxnSpPr>
        <p:spPr>
          <a:xfrm flipH="1" rot="10800000">
            <a:off x="6829425" y="3133725"/>
            <a:ext cx="581100" cy="723900"/>
          </a:xfrm>
          <a:prstGeom prst="straightConnector1">
            <a:avLst/>
          </a:prstGeom>
          <a:noFill/>
          <a:ln cap="flat" cmpd="sng" w="9525">
            <a:solidFill>
              <a:schemeClr val="dk2"/>
            </a:solidFill>
            <a:prstDash val="solid"/>
            <a:round/>
            <a:headEnd len="med" w="med" type="none"/>
            <a:tailEnd len="med" w="med" type="triangle"/>
          </a:ln>
        </p:spPr>
      </p:cxnSp>
      <p:cxnSp>
        <p:nvCxnSpPr>
          <p:cNvPr id="126" name="Google Shape;126;g34eec164bf2_3_0"/>
          <p:cNvCxnSpPr/>
          <p:nvPr/>
        </p:nvCxnSpPr>
        <p:spPr>
          <a:xfrm>
            <a:off x="6953250" y="4410075"/>
            <a:ext cx="200100" cy="342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4eec164bf2_0_10"/>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Power Generation - Jackson Kitchel</a:t>
            </a:r>
            <a:endParaRPr/>
          </a:p>
        </p:txBody>
      </p:sp>
      <p:sp>
        <p:nvSpPr>
          <p:cNvPr id="133" name="Google Shape;133;g34eec164bf2_0_10"/>
          <p:cNvSpPr txBox="1"/>
          <p:nvPr>
            <p:ph idx="1" type="body"/>
          </p:nvPr>
        </p:nvSpPr>
        <p:spPr>
          <a:xfrm>
            <a:off x="457200" y="2049270"/>
            <a:ext cx="8229600" cy="4077000"/>
          </a:xfrm>
          <a:prstGeom prst="rect">
            <a:avLst/>
          </a:prstGeom>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US" sz="1600"/>
              <a:t>Designed &amp; Built:</a:t>
            </a:r>
            <a:endParaRPr b="1" sz="1600"/>
          </a:p>
          <a:p>
            <a:pPr indent="-330200" lvl="0" marL="457200" rtl="0" algn="l">
              <a:lnSpc>
                <a:spcPct val="100000"/>
              </a:lnSpc>
              <a:spcBef>
                <a:spcPts val="1200"/>
              </a:spcBef>
              <a:spcAft>
                <a:spcPts val="0"/>
              </a:spcAft>
              <a:buSzPts val="1600"/>
              <a:buChar char="-"/>
            </a:pPr>
            <a:r>
              <a:rPr lang="en-US" sz="1600"/>
              <a:t>Designed and built a charging circuit capable of charging a 12V battery using a 100W solar panel.</a:t>
            </a:r>
            <a:endParaRPr sz="1600"/>
          </a:p>
          <a:p>
            <a:pPr indent="-330200" lvl="0" marL="457200" rtl="0" algn="l">
              <a:lnSpc>
                <a:spcPct val="100000"/>
              </a:lnSpc>
              <a:spcBef>
                <a:spcPts val="0"/>
              </a:spcBef>
              <a:spcAft>
                <a:spcPts val="0"/>
              </a:spcAft>
              <a:buSzPts val="1600"/>
              <a:buChar char="-"/>
            </a:pPr>
            <a:r>
              <a:rPr lang="en-US" sz="1600"/>
              <a:t>Implemented Maximum Power Point Tracking (MPPT) using the BQ24650 IC chip</a:t>
            </a:r>
            <a:endParaRPr sz="1600"/>
          </a:p>
          <a:p>
            <a:pPr indent="-330200" lvl="0" marL="457200" rtl="0" algn="l">
              <a:lnSpc>
                <a:spcPct val="100000"/>
              </a:lnSpc>
              <a:spcBef>
                <a:spcPts val="0"/>
              </a:spcBef>
              <a:spcAft>
                <a:spcPts val="0"/>
              </a:spcAft>
              <a:buSzPts val="1600"/>
              <a:buChar char="-"/>
            </a:pPr>
            <a:r>
              <a:rPr lang="en-US" sz="1600"/>
              <a:t>Implemented 2 current and voltage sensors using the ACS723 IC chips along with ADC</a:t>
            </a:r>
            <a:endParaRPr sz="1600"/>
          </a:p>
          <a:p>
            <a:pPr indent="0" lvl="0" marL="0" rtl="0" algn="l">
              <a:lnSpc>
                <a:spcPct val="100000"/>
              </a:lnSpc>
              <a:spcBef>
                <a:spcPts val="1200"/>
              </a:spcBef>
              <a:spcAft>
                <a:spcPts val="0"/>
              </a:spcAft>
              <a:buNone/>
            </a:pPr>
            <a:r>
              <a:rPr b="1" lang="en-US" sz="1600"/>
              <a:t>Tested &amp; Validated:</a:t>
            </a:r>
            <a:endParaRPr b="1" sz="1600"/>
          </a:p>
          <a:p>
            <a:pPr indent="-330200" lvl="0" marL="457200" rtl="0" algn="l">
              <a:lnSpc>
                <a:spcPct val="100000"/>
              </a:lnSpc>
              <a:spcBef>
                <a:spcPts val="1200"/>
              </a:spcBef>
              <a:spcAft>
                <a:spcPts val="0"/>
              </a:spcAft>
              <a:buSzPts val="1600"/>
              <a:buChar char="-"/>
            </a:pPr>
            <a:r>
              <a:rPr lang="en-US" sz="1600"/>
              <a:t>Charging </a:t>
            </a:r>
            <a:r>
              <a:rPr lang="en-US" sz="1600"/>
              <a:t>voltage</a:t>
            </a:r>
            <a:r>
              <a:rPr lang="en-US" sz="1600"/>
              <a:t> test completed along with high/low voltage cutoffs. Sensors tested with MCU. Battery life to be tested.</a:t>
            </a:r>
            <a:endParaRPr sz="1600"/>
          </a:p>
          <a:p>
            <a:pPr indent="0" lvl="0" marL="0" rtl="0" algn="l">
              <a:lnSpc>
                <a:spcPct val="100000"/>
              </a:lnSpc>
              <a:spcBef>
                <a:spcPts val="1200"/>
              </a:spcBef>
              <a:spcAft>
                <a:spcPts val="0"/>
              </a:spcAft>
              <a:buNone/>
            </a:pPr>
            <a:r>
              <a:rPr b="1" lang="en-US" sz="1600"/>
              <a:t>Challenges &amp; Solutions:</a:t>
            </a:r>
            <a:endParaRPr b="1" sz="1600"/>
          </a:p>
          <a:p>
            <a:pPr indent="-330200" lvl="0" marL="457200" rtl="0" algn="l">
              <a:lnSpc>
                <a:spcPct val="100000"/>
              </a:lnSpc>
              <a:spcBef>
                <a:spcPts val="1200"/>
              </a:spcBef>
              <a:spcAft>
                <a:spcPts val="0"/>
              </a:spcAft>
              <a:buSzPts val="1600"/>
              <a:buChar char="-"/>
            </a:pPr>
            <a:r>
              <a:rPr lang="en-US" sz="1600"/>
              <a:t>Redesigned charging circuit to solve incorrect </a:t>
            </a:r>
            <a:r>
              <a:rPr lang="en-US" sz="1600"/>
              <a:t>capacitor</a:t>
            </a:r>
            <a:r>
              <a:rPr lang="en-US" sz="1600"/>
              <a:t> problem, along with making the circuit more compact.</a:t>
            </a:r>
            <a:endParaRPr sz="1600"/>
          </a:p>
          <a:p>
            <a:pPr indent="0" lvl="0" marL="457200" rtl="0" algn="l">
              <a:lnSpc>
                <a:spcPct val="100000"/>
              </a:lnSpc>
              <a:spcBef>
                <a:spcPts val="1200"/>
              </a:spcBef>
              <a:spcAft>
                <a:spcPts val="12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4eec164bf2_4_6"/>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Power Generation - Jackson Kitchel</a:t>
            </a:r>
            <a:endParaRPr/>
          </a:p>
        </p:txBody>
      </p:sp>
      <p:sp>
        <p:nvSpPr>
          <p:cNvPr id="140" name="Google Shape;140;g34eec164bf2_4_6"/>
          <p:cNvSpPr txBox="1"/>
          <p:nvPr>
            <p:ph idx="1" type="body"/>
          </p:nvPr>
        </p:nvSpPr>
        <p:spPr>
          <a:xfrm>
            <a:off x="457200" y="2049270"/>
            <a:ext cx="8229600" cy="4077000"/>
          </a:xfrm>
          <a:prstGeom prst="rect">
            <a:avLst/>
          </a:prstGeom>
        </p:spPr>
        <p:txBody>
          <a:bodyPr anchorCtr="0" anchor="t" bIns="45700" lIns="91425" spcFirstLastPara="1" rIns="91425" wrap="square" tIns="45700">
            <a:noAutofit/>
          </a:bodyPr>
          <a:lstStyle/>
          <a:p>
            <a:pPr indent="0" lvl="0" marL="457200" rtl="0" algn="l">
              <a:lnSpc>
                <a:spcPct val="100000"/>
              </a:lnSpc>
              <a:spcBef>
                <a:spcPts val="1200"/>
              </a:spcBef>
              <a:spcAft>
                <a:spcPts val="0"/>
              </a:spcAft>
              <a:buNone/>
            </a:pPr>
            <a:r>
              <a:t/>
            </a:r>
            <a:endParaRPr sz="1600"/>
          </a:p>
          <a:p>
            <a:pPr indent="0" lvl="0" marL="457200" rtl="0" algn="l">
              <a:lnSpc>
                <a:spcPct val="100000"/>
              </a:lnSpc>
              <a:spcBef>
                <a:spcPts val="1200"/>
              </a:spcBef>
              <a:spcAft>
                <a:spcPts val="1200"/>
              </a:spcAft>
              <a:buNone/>
            </a:pPr>
            <a:r>
              <a:t/>
            </a:r>
            <a:endParaRPr sz="1600"/>
          </a:p>
        </p:txBody>
      </p:sp>
      <p:pic>
        <p:nvPicPr>
          <p:cNvPr id="141" name="Google Shape;141;g34eec164bf2_4_6"/>
          <p:cNvPicPr preferRelativeResize="0"/>
          <p:nvPr/>
        </p:nvPicPr>
        <p:blipFill>
          <a:blip r:embed="rId3">
            <a:alphaModFix/>
          </a:blip>
          <a:stretch>
            <a:fillRect/>
          </a:stretch>
        </p:blipFill>
        <p:spPr>
          <a:xfrm>
            <a:off x="155375" y="2570475"/>
            <a:ext cx="4416625" cy="2915676"/>
          </a:xfrm>
          <a:prstGeom prst="rect">
            <a:avLst/>
          </a:prstGeom>
          <a:noFill/>
          <a:ln cap="flat" cmpd="sng" w="28575">
            <a:solidFill>
              <a:schemeClr val="dk1"/>
            </a:solidFill>
            <a:prstDash val="solid"/>
            <a:round/>
            <a:headEnd len="sm" w="sm" type="none"/>
            <a:tailEnd len="sm" w="sm" type="none"/>
          </a:ln>
        </p:spPr>
      </p:pic>
      <p:pic>
        <p:nvPicPr>
          <p:cNvPr id="142" name="Google Shape;142;g34eec164bf2_4_6"/>
          <p:cNvPicPr preferRelativeResize="0"/>
          <p:nvPr/>
        </p:nvPicPr>
        <p:blipFill>
          <a:blip r:embed="rId4">
            <a:alphaModFix/>
          </a:blip>
          <a:stretch>
            <a:fillRect/>
          </a:stretch>
        </p:blipFill>
        <p:spPr>
          <a:xfrm>
            <a:off x="6123214" y="1852877"/>
            <a:ext cx="1607401" cy="1764901"/>
          </a:xfrm>
          <a:prstGeom prst="rect">
            <a:avLst/>
          </a:prstGeom>
          <a:noFill/>
          <a:ln cap="flat" cmpd="sng" w="28575">
            <a:solidFill>
              <a:schemeClr val="dk1"/>
            </a:solidFill>
            <a:prstDash val="solid"/>
            <a:round/>
            <a:headEnd len="sm" w="sm" type="none"/>
            <a:tailEnd len="sm" w="sm" type="none"/>
          </a:ln>
        </p:spPr>
      </p:pic>
      <p:pic>
        <p:nvPicPr>
          <p:cNvPr id="143" name="Google Shape;143;g34eec164bf2_4_6"/>
          <p:cNvPicPr preferRelativeResize="0"/>
          <p:nvPr/>
        </p:nvPicPr>
        <p:blipFill>
          <a:blip r:embed="rId5">
            <a:alphaModFix/>
          </a:blip>
          <a:stretch>
            <a:fillRect/>
          </a:stretch>
        </p:blipFill>
        <p:spPr>
          <a:xfrm>
            <a:off x="5253051" y="3922450"/>
            <a:ext cx="3347750" cy="2629701"/>
          </a:xfrm>
          <a:prstGeom prst="rect">
            <a:avLst/>
          </a:prstGeom>
          <a:noFill/>
          <a:ln cap="flat" cmpd="sng" w="28575">
            <a:solidFill>
              <a:schemeClr val="dk1"/>
            </a:solidFill>
            <a:prstDash val="solid"/>
            <a:round/>
            <a:headEnd len="sm" w="sm" type="none"/>
            <a:tailEnd len="sm" w="sm" type="none"/>
          </a:ln>
        </p:spPr>
      </p:pic>
      <p:sp>
        <p:nvSpPr>
          <p:cNvPr id="144" name="Google Shape;144;g34eec164bf2_4_6"/>
          <p:cNvSpPr txBox="1"/>
          <p:nvPr/>
        </p:nvSpPr>
        <p:spPr>
          <a:xfrm>
            <a:off x="180750" y="5572750"/>
            <a:ext cx="31428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7: Charging Circuit Schematic</a:t>
            </a:r>
            <a:endParaRPr b="1" sz="1200">
              <a:solidFill>
                <a:schemeClr val="dk1"/>
              </a:solidFill>
            </a:endParaRPr>
          </a:p>
        </p:txBody>
      </p:sp>
      <p:sp>
        <p:nvSpPr>
          <p:cNvPr id="145" name="Google Shape;145;g34eec164bf2_4_6"/>
          <p:cNvSpPr txBox="1"/>
          <p:nvPr/>
        </p:nvSpPr>
        <p:spPr>
          <a:xfrm>
            <a:off x="6014525" y="3574600"/>
            <a:ext cx="38559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8: Current Sensor Schematics</a:t>
            </a:r>
            <a:endParaRPr b="1" sz="1200">
              <a:solidFill>
                <a:schemeClr val="dk1"/>
              </a:solidFill>
            </a:endParaRPr>
          </a:p>
        </p:txBody>
      </p:sp>
      <p:sp>
        <p:nvSpPr>
          <p:cNvPr id="146" name="Google Shape;146;g34eec164bf2_4_6"/>
          <p:cNvSpPr txBox="1"/>
          <p:nvPr/>
        </p:nvSpPr>
        <p:spPr>
          <a:xfrm>
            <a:off x="5147600" y="6552150"/>
            <a:ext cx="3926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9: PCB Design</a:t>
            </a:r>
            <a:endParaRPr b="1" sz="1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4eec164bf2_4_14"/>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Power Generation - Jackson Kitchel</a:t>
            </a:r>
            <a:endParaRPr/>
          </a:p>
        </p:txBody>
      </p:sp>
      <p:sp>
        <p:nvSpPr>
          <p:cNvPr id="153" name="Google Shape;153;g34eec164bf2_4_14"/>
          <p:cNvSpPr txBox="1"/>
          <p:nvPr>
            <p:ph idx="1" type="body"/>
          </p:nvPr>
        </p:nvSpPr>
        <p:spPr>
          <a:xfrm>
            <a:off x="457200" y="2049270"/>
            <a:ext cx="8229600" cy="4077000"/>
          </a:xfrm>
          <a:prstGeom prst="rect">
            <a:avLst/>
          </a:prstGeom>
        </p:spPr>
        <p:txBody>
          <a:bodyPr anchorCtr="0" anchor="t" bIns="45700" lIns="91425" spcFirstLastPara="1" rIns="91425" wrap="square" tIns="45700">
            <a:noAutofit/>
          </a:bodyPr>
          <a:lstStyle/>
          <a:p>
            <a:pPr indent="0" lvl="0" marL="457200" rtl="0" algn="l">
              <a:lnSpc>
                <a:spcPct val="100000"/>
              </a:lnSpc>
              <a:spcBef>
                <a:spcPts val="1200"/>
              </a:spcBef>
              <a:spcAft>
                <a:spcPts val="0"/>
              </a:spcAft>
              <a:buNone/>
            </a:pPr>
            <a:r>
              <a:t/>
            </a:r>
            <a:endParaRPr sz="1600"/>
          </a:p>
          <a:p>
            <a:pPr indent="0" lvl="0" marL="457200" rtl="0" algn="l">
              <a:lnSpc>
                <a:spcPct val="100000"/>
              </a:lnSpc>
              <a:spcBef>
                <a:spcPts val="1200"/>
              </a:spcBef>
              <a:spcAft>
                <a:spcPts val="1200"/>
              </a:spcAft>
              <a:buNone/>
            </a:pPr>
            <a:r>
              <a:t/>
            </a:r>
            <a:endParaRPr sz="1600"/>
          </a:p>
        </p:txBody>
      </p:sp>
      <p:pic>
        <p:nvPicPr>
          <p:cNvPr id="154" name="Google Shape;154;g34eec164bf2_4_14"/>
          <p:cNvPicPr preferRelativeResize="0"/>
          <p:nvPr/>
        </p:nvPicPr>
        <p:blipFill>
          <a:blip r:embed="rId3">
            <a:alphaModFix/>
          </a:blip>
          <a:stretch>
            <a:fillRect/>
          </a:stretch>
        </p:blipFill>
        <p:spPr>
          <a:xfrm>
            <a:off x="457200" y="2084874"/>
            <a:ext cx="3560340" cy="2140000"/>
          </a:xfrm>
          <a:prstGeom prst="rect">
            <a:avLst/>
          </a:prstGeom>
          <a:noFill/>
          <a:ln cap="flat" cmpd="sng" w="28575">
            <a:solidFill>
              <a:schemeClr val="dk1"/>
            </a:solidFill>
            <a:prstDash val="solid"/>
            <a:round/>
            <a:headEnd len="sm" w="sm" type="none"/>
            <a:tailEnd len="sm" w="sm" type="none"/>
          </a:ln>
        </p:spPr>
      </p:pic>
      <p:pic>
        <p:nvPicPr>
          <p:cNvPr id="155" name="Google Shape;155;g34eec164bf2_4_14"/>
          <p:cNvPicPr preferRelativeResize="0"/>
          <p:nvPr/>
        </p:nvPicPr>
        <p:blipFill>
          <a:blip r:embed="rId4">
            <a:alphaModFix/>
          </a:blip>
          <a:stretch>
            <a:fillRect/>
          </a:stretch>
        </p:blipFill>
        <p:spPr>
          <a:xfrm rot="-5400000">
            <a:off x="2031938" y="4458686"/>
            <a:ext cx="1850926" cy="2467901"/>
          </a:xfrm>
          <a:prstGeom prst="rect">
            <a:avLst/>
          </a:prstGeom>
          <a:noFill/>
          <a:ln cap="flat" cmpd="sng" w="28575">
            <a:solidFill>
              <a:schemeClr val="dk1"/>
            </a:solidFill>
            <a:prstDash val="solid"/>
            <a:round/>
            <a:headEnd len="sm" w="sm" type="none"/>
            <a:tailEnd len="sm" w="sm" type="none"/>
          </a:ln>
        </p:spPr>
      </p:pic>
      <p:pic>
        <p:nvPicPr>
          <p:cNvPr id="156" name="Google Shape;156;g34eec164bf2_4_14"/>
          <p:cNvPicPr preferRelativeResize="0"/>
          <p:nvPr/>
        </p:nvPicPr>
        <p:blipFill rotWithShape="1">
          <a:blip r:embed="rId5">
            <a:alphaModFix/>
          </a:blip>
          <a:srcRect b="23947" l="10844" r="16274" t="17957"/>
          <a:stretch/>
        </p:blipFill>
        <p:spPr>
          <a:xfrm>
            <a:off x="4868312" y="4894388"/>
            <a:ext cx="1502074" cy="1596498"/>
          </a:xfrm>
          <a:prstGeom prst="rect">
            <a:avLst/>
          </a:prstGeom>
          <a:noFill/>
          <a:ln cap="flat" cmpd="sng" w="28575">
            <a:solidFill>
              <a:schemeClr val="dk1"/>
            </a:solidFill>
            <a:prstDash val="solid"/>
            <a:round/>
            <a:headEnd len="sm" w="sm" type="none"/>
            <a:tailEnd len="sm" w="sm" type="none"/>
          </a:ln>
        </p:spPr>
      </p:pic>
      <p:pic>
        <p:nvPicPr>
          <p:cNvPr id="157" name="Google Shape;157;g34eec164bf2_4_14"/>
          <p:cNvPicPr preferRelativeResize="0"/>
          <p:nvPr/>
        </p:nvPicPr>
        <p:blipFill rotWithShape="1">
          <a:blip r:embed="rId6">
            <a:alphaModFix/>
          </a:blip>
          <a:srcRect b="36921" l="0" r="0" t="20324"/>
          <a:stretch/>
        </p:blipFill>
        <p:spPr>
          <a:xfrm>
            <a:off x="4784750" y="2232600"/>
            <a:ext cx="3902051" cy="2224276"/>
          </a:xfrm>
          <a:prstGeom prst="rect">
            <a:avLst/>
          </a:prstGeom>
          <a:noFill/>
          <a:ln cap="flat" cmpd="sng" w="28575">
            <a:solidFill>
              <a:schemeClr val="dk1"/>
            </a:solidFill>
            <a:prstDash val="solid"/>
            <a:round/>
            <a:headEnd len="sm" w="sm" type="none"/>
            <a:tailEnd len="sm" w="sm" type="none"/>
          </a:ln>
        </p:spPr>
      </p:pic>
      <p:sp>
        <p:nvSpPr>
          <p:cNvPr id="158" name="Google Shape;158;g34eec164bf2_4_14"/>
          <p:cNvSpPr txBox="1"/>
          <p:nvPr/>
        </p:nvSpPr>
        <p:spPr>
          <a:xfrm>
            <a:off x="371525" y="4238338"/>
            <a:ext cx="4567200" cy="6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10: Charging Voltage vs Solar Panel Voltage Graph</a:t>
            </a:r>
            <a:endParaRPr b="1" sz="1200">
              <a:solidFill>
                <a:schemeClr val="dk1"/>
              </a:solidFill>
            </a:endParaRPr>
          </a:p>
        </p:txBody>
      </p:sp>
      <p:sp>
        <p:nvSpPr>
          <p:cNvPr id="159" name="Google Shape;159;g34eec164bf2_4_14"/>
          <p:cNvSpPr txBox="1"/>
          <p:nvPr/>
        </p:nvSpPr>
        <p:spPr>
          <a:xfrm>
            <a:off x="4711025" y="4456863"/>
            <a:ext cx="4567200" cy="6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12: Charging Voltage Output</a:t>
            </a:r>
            <a:endParaRPr b="1" sz="1200">
              <a:solidFill>
                <a:schemeClr val="dk1"/>
              </a:solidFill>
            </a:endParaRPr>
          </a:p>
        </p:txBody>
      </p:sp>
      <p:sp>
        <p:nvSpPr>
          <p:cNvPr id="160" name="Google Shape;160;g34eec164bf2_4_14"/>
          <p:cNvSpPr txBox="1"/>
          <p:nvPr/>
        </p:nvSpPr>
        <p:spPr>
          <a:xfrm>
            <a:off x="1600100" y="6561388"/>
            <a:ext cx="4567200" cy="6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11: Old PCB Design</a:t>
            </a:r>
            <a:endParaRPr b="1" sz="1200">
              <a:solidFill>
                <a:schemeClr val="dk1"/>
              </a:solidFill>
            </a:endParaRPr>
          </a:p>
        </p:txBody>
      </p:sp>
      <p:sp>
        <p:nvSpPr>
          <p:cNvPr id="161" name="Google Shape;161;g34eec164bf2_4_14"/>
          <p:cNvSpPr txBox="1"/>
          <p:nvPr/>
        </p:nvSpPr>
        <p:spPr>
          <a:xfrm>
            <a:off x="4784750" y="6504313"/>
            <a:ext cx="4567200" cy="6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13: New PCB Design</a:t>
            </a:r>
            <a:endParaRPr b="1" sz="1200">
              <a:solidFill>
                <a:schemeClr val="dk1"/>
              </a:solidFill>
            </a:endParaRPr>
          </a:p>
        </p:txBody>
      </p:sp>
      <p:cxnSp>
        <p:nvCxnSpPr>
          <p:cNvPr id="162" name="Google Shape;162;g34eec164bf2_4_14"/>
          <p:cNvCxnSpPr>
            <a:endCxn id="156" idx="1"/>
          </p:cNvCxnSpPr>
          <p:nvPr/>
        </p:nvCxnSpPr>
        <p:spPr>
          <a:xfrm flipH="1" rot="10800000">
            <a:off x="4197212" y="5692636"/>
            <a:ext cx="671100" cy="1050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4eec164bf2_4_0"/>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Power Distribution - Victor Igbokwe</a:t>
            </a:r>
            <a:endParaRPr/>
          </a:p>
        </p:txBody>
      </p:sp>
      <p:sp>
        <p:nvSpPr>
          <p:cNvPr id="169" name="Google Shape;169;g34eec164bf2_4_0"/>
          <p:cNvSpPr txBox="1"/>
          <p:nvPr>
            <p:ph idx="1" type="body"/>
          </p:nvPr>
        </p:nvSpPr>
        <p:spPr>
          <a:xfrm>
            <a:off x="457200" y="2049270"/>
            <a:ext cx="8229600" cy="4077000"/>
          </a:xfrm>
          <a:prstGeom prst="rect">
            <a:avLst/>
          </a:prstGeom>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US" sz="1600"/>
              <a:t>Designed &amp; Built:</a:t>
            </a:r>
            <a:endParaRPr b="1" sz="1600"/>
          </a:p>
          <a:p>
            <a:pPr indent="-330200" lvl="0" marL="457200" rtl="0" algn="l">
              <a:lnSpc>
                <a:spcPct val="100000"/>
              </a:lnSpc>
              <a:spcBef>
                <a:spcPts val="1200"/>
              </a:spcBef>
              <a:spcAft>
                <a:spcPts val="0"/>
              </a:spcAft>
              <a:buSzPts val="1600"/>
              <a:buChar char="-"/>
            </a:pPr>
            <a:r>
              <a:rPr lang="en-US" sz="1600"/>
              <a:t>Designed and built a buck converter using the Texas Instruments </a:t>
            </a:r>
            <a:r>
              <a:rPr b="1" lang="en-US" sz="1600"/>
              <a:t>TPS563200 DCR</a:t>
            </a:r>
            <a:r>
              <a:rPr lang="en-US" sz="1600"/>
              <a:t> regulator to provide stable 5V output for embedded systems.</a:t>
            </a:r>
            <a:endParaRPr sz="1600"/>
          </a:p>
          <a:p>
            <a:pPr indent="-330200" lvl="0" marL="457200" rtl="0" algn="l">
              <a:lnSpc>
                <a:spcPct val="100000"/>
              </a:lnSpc>
              <a:spcBef>
                <a:spcPts val="0"/>
              </a:spcBef>
              <a:spcAft>
                <a:spcPts val="0"/>
              </a:spcAft>
              <a:buSzPts val="1600"/>
              <a:buChar char="-"/>
            </a:pPr>
            <a:r>
              <a:rPr lang="en-US" sz="1600"/>
              <a:t>Implemented a relay control module using an </a:t>
            </a:r>
            <a:r>
              <a:rPr b="1" lang="en-US" sz="1600"/>
              <a:t>N-channel MOSFET</a:t>
            </a:r>
            <a:r>
              <a:rPr lang="en-US" sz="1600"/>
              <a:t> to act as a switch, enabling the Raspberry Pi to control the on/off state of external loads.</a:t>
            </a:r>
            <a:endParaRPr sz="1600"/>
          </a:p>
          <a:p>
            <a:pPr indent="0" lvl="0" marL="0" rtl="0" algn="l">
              <a:lnSpc>
                <a:spcPct val="100000"/>
              </a:lnSpc>
              <a:spcBef>
                <a:spcPts val="1200"/>
              </a:spcBef>
              <a:spcAft>
                <a:spcPts val="0"/>
              </a:spcAft>
              <a:buNone/>
            </a:pPr>
            <a:r>
              <a:rPr b="1" lang="en-US" sz="1600"/>
              <a:t>Tested &amp; Validated:</a:t>
            </a:r>
            <a:endParaRPr b="1" sz="1600"/>
          </a:p>
          <a:p>
            <a:pPr indent="-330200" lvl="0" marL="457200" rtl="0" algn="l">
              <a:lnSpc>
                <a:spcPct val="100000"/>
              </a:lnSpc>
              <a:spcBef>
                <a:spcPts val="1200"/>
              </a:spcBef>
              <a:spcAft>
                <a:spcPts val="0"/>
              </a:spcAft>
              <a:buSzPts val="1600"/>
              <a:buChar char="-"/>
            </a:pPr>
            <a:r>
              <a:rPr lang="en-US" sz="1600"/>
              <a:t>Buck converter Voltage and load regulation tests, Relay Control module Load regulation test, measured time delay between Pi signal and device activation.</a:t>
            </a:r>
            <a:endParaRPr sz="1600"/>
          </a:p>
          <a:p>
            <a:pPr indent="0" lvl="0" marL="0" rtl="0" algn="l">
              <a:lnSpc>
                <a:spcPct val="100000"/>
              </a:lnSpc>
              <a:spcBef>
                <a:spcPts val="1200"/>
              </a:spcBef>
              <a:spcAft>
                <a:spcPts val="0"/>
              </a:spcAft>
              <a:buNone/>
            </a:pPr>
            <a:r>
              <a:rPr b="1" lang="en-US" sz="1600"/>
              <a:t>Challenges &amp; Solutions:</a:t>
            </a:r>
            <a:endParaRPr b="1" sz="1600"/>
          </a:p>
          <a:p>
            <a:pPr indent="-330200" lvl="0" marL="457200" rtl="0" algn="l">
              <a:lnSpc>
                <a:spcPct val="100000"/>
              </a:lnSpc>
              <a:spcBef>
                <a:spcPts val="1200"/>
              </a:spcBef>
              <a:spcAft>
                <a:spcPts val="0"/>
              </a:spcAft>
              <a:buSzPts val="1600"/>
              <a:buChar char="-"/>
            </a:pPr>
            <a:r>
              <a:rPr b="1" lang="en-US" sz="1600"/>
              <a:t>Safety for repairs:</a:t>
            </a:r>
            <a:r>
              <a:rPr lang="en-US" sz="1600"/>
              <a:t> Installed a switch button to the Junction box to shut down all power flowing through the system</a:t>
            </a:r>
            <a:endParaRPr sz="1600"/>
          </a:p>
          <a:p>
            <a:pPr indent="-330200" lvl="0" marL="457200" rtl="0" algn="l">
              <a:lnSpc>
                <a:spcPct val="100000"/>
              </a:lnSpc>
              <a:spcBef>
                <a:spcPts val="0"/>
              </a:spcBef>
              <a:spcAft>
                <a:spcPts val="0"/>
              </a:spcAft>
              <a:buSzPts val="1600"/>
              <a:buChar char="-"/>
            </a:pPr>
            <a:r>
              <a:rPr b="1" lang="en-US" sz="1600"/>
              <a:t>Buck Converter: </a:t>
            </a:r>
            <a:r>
              <a:rPr lang="en-US" sz="1600"/>
              <a:t>Re-designed to ensure correct </a:t>
            </a:r>
            <a:r>
              <a:rPr lang="en-US" sz="1600"/>
              <a:t>functionality</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4cc2cca870_0_55"/>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Power Distribution - Victor Igbokwe</a:t>
            </a:r>
            <a:endParaRPr/>
          </a:p>
          <a:p>
            <a:pPr indent="0" lvl="0" marL="0" rtl="0" algn="ctr">
              <a:lnSpc>
                <a:spcPct val="115000"/>
              </a:lnSpc>
              <a:spcBef>
                <a:spcPts val="0"/>
              </a:spcBef>
              <a:spcAft>
                <a:spcPts val="0"/>
              </a:spcAft>
              <a:buClr>
                <a:schemeClr val="dk1"/>
              </a:buClr>
              <a:buSzPts val="990"/>
              <a:buFont typeface="Arial"/>
              <a:buNone/>
            </a:pPr>
            <a:r>
              <a:t/>
            </a:r>
            <a:endParaRPr/>
          </a:p>
        </p:txBody>
      </p:sp>
      <p:pic>
        <p:nvPicPr>
          <p:cNvPr id="175" name="Google Shape;175;g34cc2cca870_0_55"/>
          <p:cNvPicPr preferRelativeResize="0"/>
          <p:nvPr/>
        </p:nvPicPr>
        <p:blipFill>
          <a:blip r:embed="rId3">
            <a:alphaModFix/>
          </a:blip>
          <a:stretch>
            <a:fillRect/>
          </a:stretch>
        </p:blipFill>
        <p:spPr>
          <a:xfrm>
            <a:off x="4790825" y="4004551"/>
            <a:ext cx="4114800" cy="2551973"/>
          </a:xfrm>
          <a:prstGeom prst="rect">
            <a:avLst/>
          </a:prstGeom>
          <a:noFill/>
          <a:ln cap="flat" cmpd="sng" w="28575">
            <a:solidFill>
              <a:srgbClr val="000000"/>
            </a:solidFill>
            <a:prstDash val="solid"/>
            <a:round/>
            <a:headEnd len="sm" w="sm" type="none"/>
            <a:tailEnd len="sm" w="sm" type="none"/>
          </a:ln>
        </p:spPr>
      </p:pic>
      <p:graphicFrame>
        <p:nvGraphicFramePr>
          <p:cNvPr id="176" name="Google Shape;176;g34cc2cca870_0_55"/>
          <p:cNvGraphicFramePr/>
          <p:nvPr/>
        </p:nvGraphicFramePr>
        <p:xfrm>
          <a:off x="227450" y="4718038"/>
          <a:ext cx="3000000" cy="3000000"/>
        </p:xfrm>
        <a:graphic>
          <a:graphicData uri="http://schemas.openxmlformats.org/drawingml/2006/table">
            <a:tbl>
              <a:tblPr>
                <a:noFill/>
                <a:tableStyleId>{5F415B97-9F15-4E5D-AE86-3A5AF3543CFD}</a:tableStyleId>
              </a:tblPr>
              <a:tblGrid>
                <a:gridCol w="1348350"/>
                <a:gridCol w="1348350"/>
              </a:tblGrid>
              <a:tr h="698250">
                <a:tc>
                  <a:txBody>
                    <a:bodyPr/>
                    <a:lstStyle/>
                    <a:p>
                      <a:pPr indent="0" lvl="0" marL="0" rtl="0" algn="ctr">
                        <a:spcBef>
                          <a:spcPts val="0"/>
                        </a:spcBef>
                        <a:spcAft>
                          <a:spcPts val="0"/>
                        </a:spcAft>
                        <a:buNone/>
                      </a:pPr>
                      <a:r>
                        <a:rPr b="1" lang="en-US"/>
                        <a:t>Initial</a:t>
                      </a:r>
                      <a:r>
                        <a:rPr b="1" lang="en-US"/>
                        <a:t> </a:t>
                      </a:r>
                      <a:r>
                        <a:rPr b="1" lang="en-US">
                          <a:solidFill>
                            <a:schemeClr val="dk1"/>
                          </a:solidFill>
                        </a:rPr>
                        <a:t>MPU Remote Access</a:t>
                      </a:r>
                      <a:r>
                        <a:rPr b="1" lang="en-US"/>
                        <a:t> time delay</a:t>
                      </a:r>
                      <a:endParaRPr b="1"/>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p>
                    <a:p>
                      <a:pPr indent="0" lvl="0" marL="0" rtl="0" algn="ctr">
                        <a:spcBef>
                          <a:spcPts val="0"/>
                        </a:spcBef>
                        <a:spcAft>
                          <a:spcPts val="0"/>
                        </a:spcAft>
                        <a:buNone/>
                      </a:pPr>
                      <a:r>
                        <a:rPr b="1" lang="en-US" sz="1500"/>
                        <a:t>1.26 minutes</a:t>
                      </a:r>
                      <a:endParaRPr b="1" sz="15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801475">
                <a:tc>
                  <a:txBody>
                    <a:bodyPr/>
                    <a:lstStyle/>
                    <a:p>
                      <a:pPr indent="0" lvl="0" marL="0" rtl="0" algn="ctr">
                        <a:spcBef>
                          <a:spcPts val="0"/>
                        </a:spcBef>
                        <a:spcAft>
                          <a:spcPts val="0"/>
                        </a:spcAft>
                        <a:buNone/>
                      </a:pPr>
                      <a:r>
                        <a:rPr b="1" lang="en-US" sz="1500"/>
                        <a:t>Raspberry PI 4B input Voltage Range(V)</a:t>
                      </a:r>
                      <a:endParaRPr b="1" sz="15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solidFill>
                          <a:schemeClr val="dk1"/>
                        </a:solidFill>
                      </a:endParaRPr>
                    </a:p>
                    <a:p>
                      <a:pPr indent="0" lvl="0" marL="0" rtl="0" algn="ctr">
                        <a:spcBef>
                          <a:spcPts val="0"/>
                        </a:spcBef>
                        <a:spcAft>
                          <a:spcPts val="0"/>
                        </a:spcAft>
                        <a:buClr>
                          <a:schemeClr val="dk1"/>
                        </a:buClr>
                        <a:buSzPts val="1100"/>
                        <a:buFont typeface="Arial"/>
                        <a:buNone/>
                      </a:pPr>
                      <a:r>
                        <a:rPr b="1" lang="en-US" sz="1500">
                          <a:solidFill>
                            <a:schemeClr val="dk1"/>
                          </a:solidFill>
                        </a:rPr>
                        <a:t>4.75 - 5.25</a:t>
                      </a:r>
                      <a:endParaRPr b="1" sz="15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7" name="Google Shape;177;g34cc2cca870_0_55"/>
          <p:cNvSpPr txBox="1"/>
          <p:nvPr/>
        </p:nvSpPr>
        <p:spPr>
          <a:xfrm>
            <a:off x="1671175" y="6156600"/>
            <a:ext cx="1020300" cy="7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FF0000"/>
                </a:solidFill>
              </a:rPr>
              <a:t>* </a:t>
            </a:r>
            <a:r>
              <a:rPr b="1" lang="en-US" sz="1200">
                <a:solidFill>
                  <a:srgbClr val="FF0000"/>
                </a:solidFill>
              </a:rPr>
              <a:t>5% Tolerance</a:t>
            </a:r>
            <a:endParaRPr b="1" sz="1200">
              <a:solidFill>
                <a:srgbClr val="FF0000"/>
              </a:solidFill>
            </a:endParaRPr>
          </a:p>
        </p:txBody>
      </p:sp>
      <p:pic>
        <p:nvPicPr>
          <p:cNvPr id="178" name="Google Shape;178;g34cc2cca870_0_55"/>
          <p:cNvPicPr preferRelativeResize="0"/>
          <p:nvPr/>
        </p:nvPicPr>
        <p:blipFill>
          <a:blip r:embed="rId4">
            <a:alphaModFix/>
          </a:blip>
          <a:stretch>
            <a:fillRect/>
          </a:stretch>
        </p:blipFill>
        <p:spPr>
          <a:xfrm>
            <a:off x="5784500" y="1486100"/>
            <a:ext cx="1978450" cy="2091101"/>
          </a:xfrm>
          <a:prstGeom prst="rect">
            <a:avLst/>
          </a:prstGeom>
          <a:noFill/>
          <a:ln cap="flat" cmpd="sng" w="28575">
            <a:solidFill>
              <a:schemeClr val="dk1"/>
            </a:solidFill>
            <a:prstDash val="solid"/>
            <a:round/>
            <a:headEnd len="sm" w="sm" type="none"/>
            <a:tailEnd len="sm" w="sm" type="none"/>
          </a:ln>
        </p:spPr>
      </p:pic>
      <p:sp>
        <p:nvSpPr>
          <p:cNvPr id="179" name="Google Shape;179;g34cc2cca870_0_55"/>
          <p:cNvSpPr txBox="1"/>
          <p:nvPr/>
        </p:nvSpPr>
        <p:spPr>
          <a:xfrm>
            <a:off x="369325" y="4105625"/>
            <a:ext cx="351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14: Voltage regulation graph</a:t>
            </a:r>
            <a:endParaRPr/>
          </a:p>
        </p:txBody>
      </p:sp>
      <p:sp>
        <p:nvSpPr>
          <p:cNvPr id="180" name="Google Shape;180;g34cc2cca870_0_55"/>
          <p:cNvSpPr txBox="1"/>
          <p:nvPr/>
        </p:nvSpPr>
        <p:spPr>
          <a:xfrm>
            <a:off x="5013925" y="6488700"/>
            <a:ext cx="351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16: Load regulation graph</a:t>
            </a:r>
            <a:endParaRPr/>
          </a:p>
        </p:txBody>
      </p:sp>
      <p:sp>
        <p:nvSpPr>
          <p:cNvPr id="181" name="Google Shape;181;g34cc2cca870_0_55"/>
          <p:cNvSpPr txBox="1"/>
          <p:nvPr/>
        </p:nvSpPr>
        <p:spPr>
          <a:xfrm>
            <a:off x="5088425" y="3518725"/>
            <a:ext cx="351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15: Buck Converter</a:t>
            </a:r>
            <a:endParaRPr/>
          </a:p>
        </p:txBody>
      </p:sp>
      <p:pic>
        <p:nvPicPr>
          <p:cNvPr id="182" name="Google Shape;182;g34cc2cca870_0_55"/>
          <p:cNvPicPr preferRelativeResize="0"/>
          <p:nvPr/>
        </p:nvPicPr>
        <p:blipFill>
          <a:blip r:embed="rId5">
            <a:alphaModFix/>
          </a:blip>
          <a:stretch>
            <a:fillRect/>
          </a:stretch>
        </p:blipFill>
        <p:spPr>
          <a:xfrm>
            <a:off x="227450" y="1553650"/>
            <a:ext cx="4114419" cy="2551974"/>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4cc2cca870_0_74"/>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990"/>
              <a:buFont typeface="Arial"/>
              <a:buNone/>
            </a:pPr>
            <a:r>
              <a:rPr lang="en-US"/>
              <a:t>Power Distribution - Victor Igbokwe</a:t>
            </a:r>
            <a:endParaRPr/>
          </a:p>
          <a:p>
            <a:pPr indent="0" lvl="0" marL="0" rtl="0" algn="ctr">
              <a:lnSpc>
                <a:spcPct val="115000"/>
              </a:lnSpc>
              <a:spcBef>
                <a:spcPts val="0"/>
              </a:spcBef>
              <a:spcAft>
                <a:spcPts val="0"/>
              </a:spcAft>
              <a:buClr>
                <a:schemeClr val="dk1"/>
              </a:buClr>
              <a:buSzPts val="990"/>
              <a:buFont typeface="Arial"/>
              <a:buNone/>
            </a:pPr>
            <a:r>
              <a:t/>
            </a:r>
            <a:endParaRPr/>
          </a:p>
        </p:txBody>
      </p:sp>
      <p:pic>
        <p:nvPicPr>
          <p:cNvPr id="188" name="Google Shape;188;g34cc2cca870_0_74"/>
          <p:cNvPicPr preferRelativeResize="0"/>
          <p:nvPr/>
        </p:nvPicPr>
        <p:blipFill>
          <a:blip r:embed="rId3">
            <a:alphaModFix/>
          </a:blip>
          <a:stretch>
            <a:fillRect/>
          </a:stretch>
        </p:blipFill>
        <p:spPr>
          <a:xfrm>
            <a:off x="6109029" y="1667252"/>
            <a:ext cx="2577777" cy="2169298"/>
          </a:xfrm>
          <a:prstGeom prst="rect">
            <a:avLst/>
          </a:prstGeom>
          <a:noFill/>
          <a:ln cap="flat" cmpd="sng" w="28575">
            <a:solidFill>
              <a:schemeClr val="dk1"/>
            </a:solidFill>
            <a:prstDash val="solid"/>
            <a:round/>
            <a:headEnd len="sm" w="sm" type="none"/>
            <a:tailEnd len="sm" w="sm" type="none"/>
          </a:ln>
        </p:spPr>
      </p:pic>
      <p:pic>
        <p:nvPicPr>
          <p:cNvPr id="189" name="Google Shape;189;g34cc2cca870_0_74"/>
          <p:cNvPicPr preferRelativeResize="0"/>
          <p:nvPr/>
        </p:nvPicPr>
        <p:blipFill>
          <a:blip r:embed="rId4">
            <a:alphaModFix/>
          </a:blip>
          <a:stretch>
            <a:fillRect/>
          </a:stretch>
        </p:blipFill>
        <p:spPr>
          <a:xfrm>
            <a:off x="190000" y="1628950"/>
            <a:ext cx="4899750" cy="3039076"/>
          </a:xfrm>
          <a:prstGeom prst="rect">
            <a:avLst/>
          </a:prstGeom>
          <a:noFill/>
          <a:ln cap="flat" cmpd="sng" w="28575">
            <a:solidFill>
              <a:schemeClr val="dk1"/>
            </a:solidFill>
            <a:prstDash val="solid"/>
            <a:round/>
            <a:headEnd len="sm" w="sm" type="none"/>
            <a:tailEnd len="sm" w="sm" type="none"/>
          </a:ln>
        </p:spPr>
      </p:pic>
      <p:pic>
        <p:nvPicPr>
          <p:cNvPr id="190" name="Google Shape;190;g34cc2cca870_0_74"/>
          <p:cNvPicPr preferRelativeResize="0"/>
          <p:nvPr/>
        </p:nvPicPr>
        <p:blipFill>
          <a:blip r:embed="rId5">
            <a:alphaModFix/>
          </a:blip>
          <a:stretch>
            <a:fillRect/>
          </a:stretch>
        </p:blipFill>
        <p:spPr>
          <a:xfrm>
            <a:off x="5216100" y="4443807"/>
            <a:ext cx="3731374" cy="2035293"/>
          </a:xfrm>
          <a:prstGeom prst="rect">
            <a:avLst/>
          </a:prstGeom>
          <a:noFill/>
          <a:ln cap="flat" cmpd="sng" w="28575">
            <a:solidFill>
              <a:schemeClr val="dk1"/>
            </a:solidFill>
            <a:prstDash val="solid"/>
            <a:round/>
            <a:headEnd len="sm" w="sm" type="none"/>
            <a:tailEnd len="sm" w="sm" type="none"/>
          </a:ln>
        </p:spPr>
      </p:pic>
      <p:graphicFrame>
        <p:nvGraphicFramePr>
          <p:cNvPr id="191" name="Google Shape;191;g34cc2cca870_0_74"/>
          <p:cNvGraphicFramePr/>
          <p:nvPr/>
        </p:nvGraphicFramePr>
        <p:xfrm>
          <a:off x="457200" y="5058213"/>
          <a:ext cx="3000000" cy="3000000"/>
        </p:xfrm>
        <a:graphic>
          <a:graphicData uri="http://schemas.openxmlformats.org/drawingml/2006/table">
            <a:tbl>
              <a:tblPr>
                <a:noFill/>
                <a:tableStyleId>{5F415B97-9F15-4E5D-AE86-3A5AF3543CFD}</a:tableStyleId>
              </a:tblPr>
              <a:tblGrid>
                <a:gridCol w="3132225"/>
              </a:tblGrid>
              <a:tr h="926300">
                <a:tc>
                  <a:txBody>
                    <a:bodyPr/>
                    <a:lstStyle/>
                    <a:p>
                      <a:pPr indent="0" lvl="0" marL="0" rtl="0" algn="ctr">
                        <a:spcBef>
                          <a:spcPts val="0"/>
                        </a:spcBef>
                        <a:spcAft>
                          <a:spcPts val="0"/>
                        </a:spcAft>
                        <a:buNone/>
                      </a:pPr>
                      <a:r>
                        <a:rPr b="1" lang="en-US" sz="2000">
                          <a:solidFill>
                            <a:schemeClr val="dk1"/>
                          </a:solidFill>
                        </a:rPr>
                        <a:t>T</a:t>
                      </a:r>
                      <a:r>
                        <a:rPr b="1" lang="en-US" sz="2000">
                          <a:solidFill>
                            <a:schemeClr val="dk1"/>
                          </a:solidFill>
                        </a:rPr>
                        <a:t>ime delay between MPU signal and device activation</a:t>
                      </a:r>
                      <a:endParaRPr b="1" sz="26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548575">
                <a:tc>
                  <a:txBody>
                    <a:bodyPr/>
                    <a:lstStyle/>
                    <a:p>
                      <a:pPr indent="0" lvl="0" marL="0" rtl="0" algn="ctr">
                        <a:spcBef>
                          <a:spcPts val="0"/>
                        </a:spcBef>
                        <a:spcAft>
                          <a:spcPts val="0"/>
                        </a:spcAft>
                        <a:buNone/>
                      </a:pPr>
                      <a:r>
                        <a:rPr b="1" lang="en-US" sz="2600"/>
                        <a:t>0.4 seconds</a:t>
                      </a:r>
                      <a:endParaRPr b="1" sz="2600"/>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92" name="Google Shape;192;g34cc2cca870_0_74"/>
          <p:cNvSpPr txBox="1"/>
          <p:nvPr/>
        </p:nvSpPr>
        <p:spPr>
          <a:xfrm>
            <a:off x="328775" y="4668025"/>
            <a:ext cx="384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17: Relay control load regulation graph</a:t>
            </a:r>
            <a:endParaRPr/>
          </a:p>
        </p:txBody>
      </p:sp>
      <p:sp>
        <p:nvSpPr>
          <p:cNvPr id="193" name="Google Shape;193;g34cc2cca870_0_74"/>
          <p:cNvSpPr txBox="1"/>
          <p:nvPr/>
        </p:nvSpPr>
        <p:spPr>
          <a:xfrm>
            <a:off x="5527400" y="3893250"/>
            <a:ext cx="351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18: Relay control module PCB</a:t>
            </a:r>
            <a:endParaRPr/>
          </a:p>
        </p:txBody>
      </p:sp>
      <p:sp>
        <p:nvSpPr>
          <p:cNvPr id="194" name="Google Shape;194;g34cc2cca870_0_74"/>
          <p:cNvSpPr txBox="1"/>
          <p:nvPr/>
        </p:nvSpPr>
        <p:spPr>
          <a:xfrm>
            <a:off x="4899575" y="6479100"/>
            <a:ext cx="3519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Figure 19: Use of N-Channel Mosfet diagram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4ee8d7d375_1_23"/>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Edge Processing Unit - Alex Allahar</a:t>
            </a:r>
            <a:endParaRPr/>
          </a:p>
        </p:txBody>
      </p:sp>
      <p:sp>
        <p:nvSpPr>
          <p:cNvPr id="201" name="Google Shape;201;g34ee8d7d375_1_23"/>
          <p:cNvSpPr txBox="1"/>
          <p:nvPr>
            <p:ph idx="1" type="body"/>
          </p:nvPr>
        </p:nvSpPr>
        <p:spPr>
          <a:xfrm>
            <a:off x="457200" y="2049270"/>
            <a:ext cx="8229600" cy="4077000"/>
          </a:xfrm>
          <a:prstGeom prst="rect">
            <a:avLst/>
          </a:prstGeom>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US" sz="1600"/>
              <a:t>Designed &amp; Built:</a:t>
            </a:r>
            <a:endParaRPr b="1" sz="1600"/>
          </a:p>
          <a:p>
            <a:pPr indent="-330200" lvl="0" marL="457200" rtl="0" algn="l">
              <a:lnSpc>
                <a:spcPct val="100000"/>
              </a:lnSpc>
              <a:spcBef>
                <a:spcPts val="1200"/>
              </a:spcBef>
              <a:spcAft>
                <a:spcPts val="0"/>
              </a:spcAft>
              <a:buSzPts val="1600"/>
              <a:buChar char="-"/>
            </a:pPr>
            <a:r>
              <a:rPr lang="en-US" sz="1600"/>
              <a:t>Integrated PIR sensor (I2C), voltage sensor (I2C), camera (CSI), LED and fans (GPIO) with a Raspberry Pi 4B to enable the following features:</a:t>
            </a:r>
            <a:endParaRPr sz="1600"/>
          </a:p>
          <a:p>
            <a:pPr indent="-330200" lvl="1" marL="914400" rtl="0" algn="l">
              <a:lnSpc>
                <a:spcPct val="100000"/>
              </a:lnSpc>
              <a:spcBef>
                <a:spcPts val="0"/>
              </a:spcBef>
              <a:spcAft>
                <a:spcPts val="0"/>
              </a:spcAft>
              <a:buSzPts val="1600"/>
              <a:buChar char="-"/>
            </a:pPr>
            <a:r>
              <a:rPr lang="en-US" sz="1600"/>
              <a:t>Low-Power Mode</a:t>
            </a:r>
            <a:endParaRPr sz="1600"/>
          </a:p>
          <a:p>
            <a:pPr indent="-330200" lvl="1" marL="914400" rtl="0" algn="l">
              <a:lnSpc>
                <a:spcPct val="100000"/>
              </a:lnSpc>
              <a:spcBef>
                <a:spcPts val="0"/>
              </a:spcBef>
              <a:spcAft>
                <a:spcPts val="0"/>
              </a:spcAft>
              <a:buSzPts val="1600"/>
              <a:buChar char="-"/>
            </a:pPr>
            <a:r>
              <a:rPr lang="en-US" sz="1600"/>
              <a:t>Motion Detection</a:t>
            </a:r>
            <a:endParaRPr sz="1600"/>
          </a:p>
          <a:p>
            <a:pPr indent="-330200" lvl="1" marL="914400" rtl="0" algn="l">
              <a:lnSpc>
                <a:spcPct val="100000"/>
              </a:lnSpc>
              <a:spcBef>
                <a:spcPts val="0"/>
              </a:spcBef>
              <a:spcAft>
                <a:spcPts val="0"/>
              </a:spcAft>
              <a:buSzPts val="1600"/>
              <a:buChar char="-"/>
            </a:pPr>
            <a:r>
              <a:rPr lang="en-US" sz="1600"/>
              <a:t>Live Streaming</a:t>
            </a:r>
            <a:endParaRPr sz="1600"/>
          </a:p>
          <a:p>
            <a:pPr indent="-330200" lvl="1" marL="914400" rtl="0" algn="l">
              <a:lnSpc>
                <a:spcPct val="100000"/>
              </a:lnSpc>
              <a:spcBef>
                <a:spcPts val="0"/>
              </a:spcBef>
              <a:spcAft>
                <a:spcPts val="0"/>
              </a:spcAft>
              <a:buSzPts val="1600"/>
              <a:buChar char="-"/>
            </a:pPr>
            <a:r>
              <a:rPr lang="en-US" sz="1600"/>
              <a:t>LED Deterrence</a:t>
            </a:r>
            <a:endParaRPr sz="1600"/>
          </a:p>
          <a:p>
            <a:pPr indent="0" lvl="0" marL="0" rtl="0" algn="l">
              <a:lnSpc>
                <a:spcPct val="100000"/>
              </a:lnSpc>
              <a:spcBef>
                <a:spcPts val="1200"/>
              </a:spcBef>
              <a:spcAft>
                <a:spcPts val="0"/>
              </a:spcAft>
              <a:buNone/>
            </a:pPr>
            <a:r>
              <a:rPr b="1" lang="en-US" sz="1600"/>
              <a:t>Tested &amp; Validated:</a:t>
            </a:r>
            <a:endParaRPr b="1" sz="1600"/>
          </a:p>
          <a:p>
            <a:pPr indent="-330200" lvl="0" marL="457200" rtl="0" algn="l">
              <a:lnSpc>
                <a:spcPct val="100000"/>
              </a:lnSpc>
              <a:spcBef>
                <a:spcPts val="1200"/>
              </a:spcBef>
              <a:spcAft>
                <a:spcPts val="0"/>
              </a:spcAft>
              <a:buSzPts val="1600"/>
              <a:buChar char="-"/>
            </a:pPr>
            <a:r>
              <a:rPr lang="en-US" sz="1600"/>
              <a:t>Calibrated sensors &amp; fans, ADC communication, Camera quality, power consumption, overall hardware-software latency</a:t>
            </a:r>
            <a:endParaRPr sz="1600"/>
          </a:p>
          <a:p>
            <a:pPr indent="0" lvl="0" marL="0" rtl="0" algn="l">
              <a:lnSpc>
                <a:spcPct val="100000"/>
              </a:lnSpc>
              <a:spcBef>
                <a:spcPts val="1200"/>
              </a:spcBef>
              <a:spcAft>
                <a:spcPts val="0"/>
              </a:spcAft>
              <a:buNone/>
            </a:pPr>
            <a:r>
              <a:rPr b="1" lang="en-US" sz="1600"/>
              <a:t>Challenges &amp; Solutions:</a:t>
            </a:r>
            <a:endParaRPr b="1" sz="1600"/>
          </a:p>
          <a:p>
            <a:pPr indent="-330200" lvl="0" marL="457200" rtl="0" algn="l">
              <a:lnSpc>
                <a:spcPct val="100000"/>
              </a:lnSpc>
              <a:spcBef>
                <a:spcPts val="1200"/>
              </a:spcBef>
              <a:spcAft>
                <a:spcPts val="0"/>
              </a:spcAft>
              <a:buSzPts val="1600"/>
              <a:buChar char="-"/>
            </a:pPr>
            <a:r>
              <a:rPr b="1" lang="en-US" sz="1600"/>
              <a:t>CPU Overload:</a:t>
            </a:r>
            <a:r>
              <a:rPr lang="en-US" sz="1600"/>
              <a:t> Solved with multi-threading and modes of operation controls. </a:t>
            </a:r>
            <a:endParaRPr sz="1600"/>
          </a:p>
          <a:p>
            <a:pPr indent="-330200" lvl="0" marL="457200" rtl="0" algn="l">
              <a:lnSpc>
                <a:spcPct val="100000"/>
              </a:lnSpc>
              <a:spcBef>
                <a:spcPts val="0"/>
              </a:spcBef>
              <a:spcAft>
                <a:spcPts val="0"/>
              </a:spcAft>
              <a:buSzPts val="1600"/>
              <a:buChar char="-"/>
            </a:pPr>
            <a:r>
              <a:rPr b="1" lang="en-US" sz="1600"/>
              <a:t>MPU Overheating:</a:t>
            </a:r>
            <a:r>
              <a:rPr lang="en-US" sz="1600"/>
              <a:t> Fans for Overheating. </a:t>
            </a:r>
            <a:endParaRPr sz="1600"/>
          </a:p>
          <a:p>
            <a:pPr indent="-330200" lvl="0" marL="457200" rtl="0" algn="l">
              <a:lnSpc>
                <a:spcPct val="100000"/>
              </a:lnSpc>
              <a:spcBef>
                <a:spcPts val="0"/>
              </a:spcBef>
              <a:spcAft>
                <a:spcPts val="0"/>
              </a:spcAft>
              <a:buSzPts val="1600"/>
              <a:buChar char="-"/>
            </a:pPr>
            <a:r>
              <a:rPr b="1" lang="en-US" sz="1600"/>
              <a:t>Camera:</a:t>
            </a:r>
            <a:r>
              <a:rPr lang="en-US" sz="1600"/>
              <a:t> Replaced Camera (USB to CSI), video format selection, L</a:t>
            </a:r>
            <a:r>
              <a:rPr lang="en-US" sz="1600"/>
              <a:t>ive streaming</a:t>
            </a:r>
            <a:r>
              <a:rPr lang="en-US" sz="1600"/>
              <a:t> delay</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4ee8d7d375_1_29"/>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Edge Processing Unit - Alex Allahar</a:t>
            </a:r>
            <a:endParaRPr/>
          </a:p>
        </p:txBody>
      </p:sp>
      <p:sp>
        <p:nvSpPr>
          <p:cNvPr id="208" name="Google Shape;208;g34ee8d7d375_1_29"/>
          <p:cNvSpPr txBox="1"/>
          <p:nvPr>
            <p:ph idx="1" type="body"/>
          </p:nvPr>
        </p:nvSpPr>
        <p:spPr>
          <a:xfrm>
            <a:off x="457200" y="2049270"/>
            <a:ext cx="8229600" cy="40770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b="1" sz="1800"/>
          </a:p>
          <a:p>
            <a:pPr indent="0" lvl="0" marL="0" rtl="0" algn="l">
              <a:spcBef>
                <a:spcPts val="360"/>
              </a:spcBef>
              <a:spcAft>
                <a:spcPts val="0"/>
              </a:spcAft>
              <a:buNone/>
            </a:pPr>
            <a:r>
              <a:t/>
            </a:r>
            <a:endParaRPr sz="1800"/>
          </a:p>
        </p:txBody>
      </p:sp>
      <p:graphicFrame>
        <p:nvGraphicFramePr>
          <p:cNvPr id="209" name="Google Shape;209;g34ee8d7d375_1_29"/>
          <p:cNvGraphicFramePr/>
          <p:nvPr/>
        </p:nvGraphicFramePr>
        <p:xfrm>
          <a:off x="952500" y="1776675"/>
          <a:ext cx="3000000" cy="3000000"/>
        </p:xfrm>
        <a:graphic>
          <a:graphicData uri="http://schemas.openxmlformats.org/drawingml/2006/table">
            <a:tbl>
              <a:tblPr>
                <a:noFill/>
                <a:tableStyleId>{5F415B97-9F15-4E5D-AE86-3A5AF3543CFD}</a:tableStyleId>
              </a:tblPr>
              <a:tblGrid>
                <a:gridCol w="3312175"/>
                <a:gridCol w="1063650"/>
                <a:gridCol w="1400925"/>
                <a:gridCol w="1462250"/>
              </a:tblGrid>
              <a:tr h="381000">
                <a:tc>
                  <a:txBody>
                    <a:bodyPr/>
                    <a:lstStyle/>
                    <a:p>
                      <a:pPr indent="0" lvl="0" marL="0" rtl="0" algn="l">
                        <a:spcBef>
                          <a:spcPts val="0"/>
                        </a:spcBef>
                        <a:spcAft>
                          <a:spcPts val="0"/>
                        </a:spcAft>
                        <a:buNone/>
                      </a:pPr>
                      <a:r>
                        <a:rPr b="1" lang="en-US"/>
                        <a:t>Requirements</a:t>
                      </a:r>
                      <a:endParaRPr b="1"/>
                    </a:p>
                  </a:txBody>
                  <a:tcPr marT="91425" marB="91425" marR="91425" marL="91425"/>
                </a:tc>
                <a:tc>
                  <a:txBody>
                    <a:bodyPr/>
                    <a:lstStyle/>
                    <a:p>
                      <a:pPr indent="0" lvl="0" marL="0" rtl="0" algn="l">
                        <a:spcBef>
                          <a:spcPts val="0"/>
                        </a:spcBef>
                        <a:spcAft>
                          <a:spcPts val="0"/>
                        </a:spcAft>
                        <a:buNone/>
                      </a:pPr>
                      <a:r>
                        <a:rPr b="1" lang="en-US"/>
                        <a:t>Target</a:t>
                      </a:r>
                      <a:endParaRPr b="1"/>
                    </a:p>
                  </a:txBody>
                  <a:tcPr marT="91425" marB="91425" marR="91425" marL="91425"/>
                </a:tc>
                <a:tc>
                  <a:txBody>
                    <a:bodyPr/>
                    <a:lstStyle/>
                    <a:p>
                      <a:pPr indent="0" lvl="0" marL="0" rtl="0" algn="l">
                        <a:spcBef>
                          <a:spcPts val="0"/>
                        </a:spcBef>
                        <a:spcAft>
                          <a:spcPts val="0"/>
                        </a:spcAft>
                        <a:buNone/>
                      </a:pPr>
                      <a:r>
                        <a:rPr b="1" lang="en-US"/>
                        <a:t>Measured</a:t>
                      </a:r>
                      <a:endParaRPr b="1"/>
                    </a:p>
                  </a:txBody>
                  <a:tcPr marT="91425" marB="91425" marR="91425" marL="91425"/>
                </a:tc>
                <a:tc>
                  <a:txBody>
                    <a:bodyPr/>
                    <a:lstStyle/>
                    <a:p>
                      <a:pPr indent="0" lvl="0" marL="0" rtl="0" algn="l">
                        <a:spcBef>
                          <a:spcPts val="0"/>
                        </a:spcBef>
                        <a:spcAft>
                          <a:spcPts val="0"/>
                        </a:spcAft>
                        <a:buNone/>
                      </a:pPr>
                      <a:r>
                        <a:rPr b="1" lang="en-US"/>
                        <a:t>Status</a:t>
                      </a:r>
                      <a:endParaRPr b="1"/>
                    </a:p>
                  </a:txBody>
                  <a:tcPr marT="91425" marB="91425" marR="91425" marL="91425"/>
                </a:tc>
              </a:tr>
              <a:tr h="381000">
                <a:tc>
                  <a:txBody>
                    <a:bodyPr/>
                    <a:lstStyle/>
                    <a:p>
                      <a:pPr indent="0" lvl="0" marL="0" rtl="0" algn="l">
                        <a:spcBef>
                          <a:spcPts val="0"/>
                        </a:spcBef>
                        <a:spcAft>
                          <a:spcPts val="0"/>
                        </a:spcAft>
                        <a:buNone/>
                      </a:pPr>
                      <a:r>
                        <a:rPr lang="en-US"/>
                        <a:t>Motion</a:t>
                      </a:r>
                      <a:r>
                        <a:rPr lang="en-US"/>
                        <a:t> to App Delay</a:t>
                      </a:r>
                      <a:endParaRPr/>
                    </a:p>
                  </a:txBody>
                  <a:tcPr marT="91425" marB="91425" marR="91425" marL="91425"/>
                </a:tc>
                <a:tc>
                  <a:txBody>
                    <a:bodyPr/>
                    <a:lstStyle/>
                    <a:p>
                      <a:pPr indent="0" lvl="0" marL="0" rtl="0" algn="l">
                        <a:spcBef>
                          <a:spcPts val="0"/>
                        </a:spcBef>
                        <a:spcAft>
                          <a:spcPts val="0"/>
                        </a:spcAft>
                        <a:buNone/>
                      </a:pPr>
                      <a:r>
                        <a:rPr lang="en-US"/>
                        <a:t>&lt; 1 s</a:t>
                      </a:r>
                      <a:endParaRPr/>
                    </a:p>
                  </a:txBody>
                  <a:tcPr marT="91425" marB="91425" marR="91425" marL="91425"/>
                </a:tc>
                <a:tc>
                  <a:txBody>
                    <a:bodyPr/>
                    <a:lstStyle/>
                    <a:p>
                      <a:pPr indent="0" lvl="0" marL="0" rtl="0" algn="l">
                        <a:spcBef>
                          <a:spcPts val="0"/>
                        </a:spcBef>
                        <a:spcAft>
                          <a:spcPts val="0"/>
                        </a:spcAft>
                        <a:buNone/>
                      </a:pPr>
                      <a:r>
                        <a:rPr lang="en-US"/>
                        <a:t>0.0784 s</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t>Video Upload Latency</a:t>
                      </a:r>
                      <a:endParaRPr/>
                    </a:p>
                  </a:txBody>
                  <a:tcPr marT="91425" marB="91425" marR="91425" marL="91425"/>
                </a:tc>
                <a:tc>
                  <a:txBody>
                    <a:bodyPr/>
                    <a:lstStyle/>
                    <a:p>
                      <a:pPr indent="0" lvl="0" marL="0" rtl="0" algn="l">
                        <a:spcBef>
                          <a:spcPts val="0"/>
                        </a:spcBef>
                        <a:spcAft>
                          <a:spcPts val="0"/>
                        </a:spcAft>
                        <a:buNone/>
                      </a:pPr>
                      <a:r>
                        <a:rPr lang="en-US"/>
                        <a:t>&lt; 3 s</a:t>
                      </a:r>
                      <a:endParaRPr/>
                    </a:p>
                  </a:txBody>
                  <a:tcPr marT="91425" marB="91425" marR="91425" marL="91425"/>
                </a:tc>
                <a:tc>
                  <a:txBody>
                    <a:bodyPr/>
                    <a:lstStyle/>
                    <a:p>
                      <a:pPr indent="0" lvl="0" marL="0" rtl="0" algn="l">
                        <a:spcBef>
                          <a:spcPts val="0"/>
                        </a:spcBef>
                        <a:spcAft>
                          <a:spcPts val="0"/>
                        </a:spcAft>
                        <a:buNone/>
                      </a:pPr>
                      <a:r>
                        <a:rPr lang="en-US"/>
                        <a:t>1.2951 s</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t>Real Event vs. Video Capture Ending</a:t>
                      </a:r>
                      <a:endParaRPr/>
                    </a:p>
                  </a:txBody>
                  <a:tcPr marT="91425" marB="91425" marR="91425" marL="91425"/>
                </a:tc>
                <a:tc>
                  <a:txBody>
                    <a:bodyPr/>
                    <a:lstStyle/>
                    <a:p>
                      <a:pPr indent="0" lvl="0" marL="0" rtl="0" algn="l">
                        <a:spcBef>
                          <a:spcPts val="0"/>
                        </a:spcBef>
                        <a:spcAft>
                          <a:spcPts val="0"/>
                        </a:spcAft>
                        <a:buNone/>
                      </a:pPr>
                      <a:r>
                        <a:rPr lang="en-US"/>
                        <a:t>&lt; 5 s</a:t>
                      </a:r>
                      <a:endParaRPr/>
                    </a:p>
                  </a:txBody>
                  <a:tcPr marT="91425" marB="91425" marR="91425" marL="91425"/>
                </a:tc>
                <a:tc>
                  <a:txBody>
                    <a:bodyPr/>
                    <a:lstStyle/>
                    <a:p>
                      <a:pPr indent="0" lvl="0" marL="0" rtl="0" algn="l">
                        <a:spcBef>
                          <a:spcPts val="0"/>
                        </a:spcBef>
                        <a:spcAft>
                          <a:spcPts val="0"/>
                        </a:spcAft>
                        <a:buNone/>
                      </a:pPr>
                      <a:r>
                        <a:rPr lang="en-US"/>
                        <a:t>4.03 s</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t>Livestream Delay</a:t>
                      </a:r>
                      <a:endParaRPr/>
                    </a:p>
                  </a:txBody>
                  <a:tcPr marT="91425" marB="91425" marR="91425" marL="91425"/>
                </a:tc>
                <a:tc>
                  <a:txBody>
                    <a:bodyPr/>
                    <a:lstStyle/>
                    <a:p>
                      <a:pPr indent="0" lvl="0" marL="0" rtl="0" algn="l">
                        <a:spcBef>
                          <a:spcPts val="0"/>
                        </a:spcBef>
                        <a:spcAft>
                          <a:spcPts val="0"/>
                        </a:spcAft>
                        <a:buNone/>
                      </a:pPr>
                      <a:r>
                        <a:rPr lang="en-US"/>
                        <a:t>&lt; 5 s</a:t>
                      </a:r>
                      <a:endParaRPr/>
                    </a:p>
                  </a:txBody>
                  <a:tcPr marT="91425" marB="91425" marR="91425" marL="91425"/>
                </a:tc>
                <a:tc>
                  <a:txBody>
                    <a:bodyPr/>
                    <a:lstStyle/>
                    <a:p>
                      <a:pPr indent="0" lvl="0" marL="0" rtl="0" algn="l">
                        <a:spcBef>
                          <a:spcPts val="0"/>
                        </a:spcBef>
                        <a:spcAft>
                          <a:spcPts val="0"/>
                        </a:spcAft>
                        <a:buNone/>
                      </a:pPr>
                      <a:r>
                        <a:rPr lang="en-US"/>
                        <a:t> ~7.8 s</a:t>
                      </a:r>
                      <a:endParaRPr/>
                    </a:p>
                  </a:txBody>
                  <a:tcPr marT="91425" marB="91425" marR="91425" marL="91425"/>
                </a:tc>
                <a:tc>
                  <a:txBody>
                    <a:bodyPr/>
                    <a:lstStyle/>
                    <a:p>
                      <a:pPr indent="0" lvl="0" marL="0" rtl="0" algn="l">
                        <a:spcBef>
                          <a:spcPts val="0"/>
                        </a:spcBef>
                        <a:spcAft>
                          <a:spcPts val="0"/>
                        </a:spcAft>
                        <a:buNone/>
                      </a:pPr>
                      <a:r>
                        <a:rPr lang="en-US"/>
                        <a:t>Failed</a:t>
                      </a:r>
                      <a:endParaRPr/>
                    </a:p>
                  </a:txBody>
                  <a:tcPr marT="91425" marB="91425" marR="91425" marL="91425"/>
                </a:tc>
              </a:tr>
              <a:tr h="381000">
                <a:tc>
                  <a:txBody>
                    <a:bodyPr/>
                    <a:lstStyle/>
                    <a:p>
                      <a:pPr indent="0" lvl="0" marL="0" rtl="0" algn="l">
                        <a:spcBef>
                          <a:spcPts val="0"/>
                        </a:spcBef>
                        <a:spcAft>
                          <a:spcPts val="0"/>
                        </a:spcAft>
                        <a:buNone/>
                      </a:pPr>
                      <a:r>
                        <a:rPr lang="en-US"/>
                        <a:t>Motion Detection Range</a:t>
                      </a:r>
                      <a:endParaRPr/>
                    </a:p>
                  </a:txBody>
                  <a:tcPr marT="91425" marB="91425" marR="91425" marL="91425"/>
                </a:tc>
                <a:tc>
                  <a:txBody>
                    <a:bodyPr/>
                    <a:lstStyle/>
                    <a:p>
                      <a:pPr indent="0" lvl="0" marL="0" rtl="0" algn="l">
                        <a:spcBef>
                          <a:spcPts val="0"/>
                        </a:spcBef>
                        <a:spcAft>
                          <a:spcPts val="0"/>
                        </a:spcAft>
                        <a:buNone/>
                      </a:pPr>
                      <a:r>
                        <a:rPr lang="en-US"/>
                        <a:t>12 ft</a:t>
                      </a:r>
                      <a:endParaRPr/>
                    </a:p>
                  </a:txBody>
                  <a:tcPr marT="91425" marB="91425" marR="91425" marL="91425"/>
                </a:tc>
                <a:tc>
                  <a:txBody>
                    <a:bodyPr/>
                    <a:lstStyle/>
                    <a:p>
                      <a:pPr indent="0" lvl="0" marL="0" rtl="0" algn="l">
                        <a:spcBef>
                          <a:spcPts val="0"/>
                        </a:spcBef>
                        <a:spcAft>
                          <a:spcPts val="0"/>
                        </a:spcAft>
                        <a:buNone/>
                      </a:pPr>
                      <a:r>
                        <a:rPr lang="en-US"/>
                        <a:t>16 ft</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t>Fans Power Consumption</a:t>
                      </a:r>
                      <a:endParaRPr/>
                    </a:p>
                  </a:txBody>
                  <a:tcPr marT="91425" marB="91425" marR="91425" marL="91425"/>
                </a:tc>
                <a:tc>
                  <a:txBody>
                    <a:bodyPr/>
                    <a:lstStyle/>
                    <a:p>
                      <a:pPr indent="0" lvl="0" marL="0" rtl="0" algn="l">
                        <a:spcBef>
                          <a:spcPts val="0"/>
                        </a:spcBef>
                        <a:spcAft>
                          <a:spcPts val="0"/>
                        </a:spcAft>
                        <a:buNone/>
                      </a:pPr>
                      <a:r>
                        <a:rPr lang="en-US"/>
                        <a:t>&lt; 5 W</a:t>
                      </a:r>
                      <a:endParaRPr/>
                    </a:p>
                  </a:txBody>
                  <a:tcPr marT="91425" marB="91425" marR="91425" marL="91425"/>
                </a:tc>
                <a:tc>
                  <a:txBody>
                    <a:bodyPr/>
                    <a:lstStyle/>
                    <a:p>
                      <a:pPr indent="0" lvl="0" marL="0" rtl="0" algn="l">
                        <a:spcBef>
                          <a:spcPts val="0"/>
                        </a:spcBef>
                        <a:spcAft>
                          <a:spcPts val="0"/>
                        </a:spcAft>
                        <a:buNone/>
                      </a:pPr>
                      <a:r>
                        <a:rPr lang="en-US"/>
                        <a:t>8.8 W</a:t>
                      </a:r>
                      <a:endParaRPr/>
                    </a:p>
                  </a:txBody>
                  <a:tcPr marT="91425" marB="91425" marR="91425" marL="91425"/>
                </a:tc>
                <a:tc>
                  <a:txBody>
                    <a:bodyPr/>
                    <a:lstStyle/>
                    <a:p>
                      <a:pPr indent="0" lvl="0" marL="0" rtl="0" algn="l">
                        <a:spcBef>
                          <a:spcPts val="0"/>
                        </a:spcBef>
                        <a:spcAft>
                          <a:spcPts val="0"/>
                        </a:spcAft>
                        <a:buNone/>
                      </a:pPr>
                      <a:r>
                        <a:rPr lang="en-US"/>
                        <a:t>Failed</a:t>
                      </a:r>
                      <a:endParaRPr/>
                    </a:p>
                  </a:txBody>
                  <a:tcPr marT="91425" marB="91425" marR="91425" marL="91425"/>
                </a:tc>
              </a:tr>
              <a:tr h="381000">
                <a:tc>
                  <a:txBody>
                    <a:bodyPr/>
                    <a:lstStyle/>
                    <a:p>
                      <a:pPr indent="0" lvl="0" marL="0" rtl="0" algn="l">
                        <a:spcBef>
                          <a:spcPts val="0"/>
                        </a:spcBef>
                        <a:spcAft>
                          <a:spcPts val="0"/>
                        </a:spcAft>
                        <a:buNone/>
                      </a:pPr>
                      <a:r>
                        <a:rPr lang="en-US"/>
                        <a:t>Pi </a:t>
                      </a:r>
                      <a:r>
                        <a:rPr lang="en-US"/>
                        <a:t>Power Consumption (Low Power)</a:t>
                      </a:r>
                      <a:endParaRPr/>
                    </a:p>
                  </a:txBody>
                  <a:tcPr marT="91425" marB="91425" marR="91425" marL="91425"/>
                </a:tc>
                <a:tc>
                  <a:txBody>
                    <a:bodyPr/>
                    <a:lstStyle/>
                    <a:p>
                      <a:pPr indent="0" lvl="0" marL="0" rtl="0" algn="l">
                        <a:spcBef>
                          <a:spcPts val="0"/>
                        </a:spcBef>
                        <a:spcAft>
                          <a:spcPts val="0"/>
                        </a:spcAft>
                        <a:buNone/>
                      </a:pPr>
                      <a:r>
                        <a:rPr lang="en-US"/>
                        <a:t>&lt; 20 W</a:t>
                      </a:r>
                      <a:endParaRPr/>
                    </a:p>
                  </a:txBody>
                  <a:tcPr marT="91425" marB="91425" marR="91425" marL="91425"/>
                </a:tc>
                <a:tc>
                  <a:txBody>
                    <a:bodyPr/>
                    <a:lstStyle/>
                    <a:p>
                      <a:pPr indent="0" lvl="0" marL="0" rtl="0" algn="l">
                        <a:spcBef>
                          <a:spcPts val="0"/>
                        </a:spcBef>
                        <a:spcAft>
                          <a:spcPts val="0"/>
                        </a:spcAft>
                        <a:buNone/>
                      </a:pPr>
                      <a:r>
                        <a:rPr lang="en-US"/>
                        <a:t>9.4 W</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Pi </a:t>
                      </a:r>
                      <a:r>
                        <a:rPr lang="en-US">
                          <a:solidFill>
                            <a:schemeClr val="dk1"/>
                          </a:solidFill>
                        </a:rPr>
                        <a:t>Power Consumption (Default)</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&lt; 20 W</a:t>
                      </a:r>
                      <a:endParaRPr/>
                    </a:p>
                  </a:txBody>
                  <a:tcPr marT="91425" marB="91425" marR="91425" marL="91425"/>
                </a:tc>
                <a:tc>
                  <a:txBody>
                    <a:bodyPr/>
                    <a:lstStyle/>
                    <a:p>
                      <a:pPr indent="0" lvl="0" marL="0" rtl="0" algn="l">
                        <a:spcBef>
                          <a:spcPts val="0"/>
                        </a:spcBef>
                        <a:spcAft>
                          <a:spcPts val="0"/>
                        </a:spcAft>
                        <a:buNone/>
                      </a:pPr>
                      <a:r>
                        <a:rPr lang="en-US"/>
                        <a:t>10.75 W</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Pi </a:t>
                      </a:r>
                      <a:r>
                        <a:rPr lang="en-US">
                          <a:solidFill>
                            <a:schemeClr val="dk1"/>
                          </a:solidFill>
                        </a:rPr>
                        <a:t>Power Consumption (Livestream)</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&lt; 20 W</a:t>
                      </a:r>
                      <a:endParaRPr/>
                    </a:p>
                  </a:txBody>
                  <a:tcPr marT="91425" marB="91425" marR="91425" marL="91425"/>
                </a:tc>
                <a:tc>
                  <a:txBody>
                    <a:bodyPr/>
                    <a:lstStyle/>
                    <a:p>
                      <a:pPr indent="0" lvl="0" marL="0" rtl="0" algn="l">
                        <a:spcBef>
                          <a:spcPts val="0"/>
                        </a:spcBef>
                        <a:spcAft>
                          <a:spcPts val="0"/>
                        </a:spcAft>
                        <a:buNone/>
                      </a:pPr>
                      <a:r>
                        <a:rPr lang="en-US"/>
                        <a:t>18.25 W</a:t>
                      </a:r>
                      <a:endParaRPr/>
                    </a:p>
                  </a:txBody>
                  <a:tcPr marT="91425" marB="91425" marR="91425" marL="91425"/>
                </a:tc>
                <a:tc>
                  <a:txBody>
                    <a:bodyPr/>
                    <a:lstStyle/>
                    <a:p>
                      <a:pPr indent="0" lvl="0" marL="0" rtl="0" algn="l">
                        <a:spcBef>
                          <a:spcPts val="0"/>
                        </a:spcBef>
                        <a:spcAft>
                          <a:spcPts val="0"/>
                        </a:spcAft>
                        <a:buNone/>
                      </a:pPr>
                      <a:r>
                        <a:rPr lang="en-US"/>
                        <a:t>Passed</a:t>
                      </a:r>
                      <a:endParaRPr/>
                    </a:p>
                  </a:txBody>
                  <a:tcPr marT="91425" marB="91425" marR="91425" marL="91425"/>
                </a:tc>
              </a:tr>
            </a:tbl>
          </a:graphicData>
        </a:graphic>
      </p:graphicFrame>
      <p:sp>
        <p:nvSpPr>
          <p:cNvPr id="210" name="Google Shape;210;g34ee8d7d375_1_29"/>
          <p:cNvSpPr txBox="1"/>
          <p:nvPr/>
        </p:nvSpPr>
        <p:spPr>
          <a:xfrm>
            <a:off x="952500" y="5814875"/>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20:  Requirements Validation Table</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4cbf1bf515_1_21"/>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Android Application - Zayan Prasla</a:t>
            </a:r>
            <a:endParaRPr/>
          </a:p>
        </p:txBody>
      </p:sp>
      <p:sp>
        <p:nvSpPr>
          <p:cNvPr id="217" name="Google Shape;217;g34cbf1bf515_1_21"/>
          <p:cNvSpPr txBox="1"/>
          <p:nvPr>
            <p:ph idx="1" type="body"/>
          </p:nvPr>
        </p:nvSpPr>
        <p:spPr>
          <a:xfrm>
            <a:off x="457200" y="2049276"/>
            <a:ext cx="8229600" cy="4571400"/>
          </a:xfrm>
          <a:prstGeom prst="rect">
            <a:avLst/>
          </a:prstGeom>
        </p:spPr>
        <p:txBody>
          <a:bodyPr anchorCtr="0" anchor="t" bIns="45700" lIns="91425" spcFirstLastPara="1" rIns="91425" wrap="square" tIns="45700">
            <a:normAutofit lnSpcReduction="10000"/>
          </a:bodyPr>
          <a:lstStyle/>
          <a:p>
            <a:pPr indent="0" lvl="0" marL="0" rtl="0" algn="l">
              <a:spcBef>
                <a:spcPts val="1200"/>
              </a:spcBef>
              <a:spcAft>
                <a:spcPts val="0"/>
              </a:spcAft>
              <a:buNone/>
            </a:pPr>
            <a:r>
              <a:rPr b="1" lang="en-US" sz="1600"/>
              <a:t>Designed &amp; Built:</a:t>
            </a:r>
            <a:endParaRPr b="1" sz="1600"/>
          </a:p>
          <a:p>
            <a:pPr indent="-330200" lvl="0" marL="457200" rtl="0" algn="l">
              <a:spcBef>
                <a:spcPts val="1200"/>
              </a:spcBef>
              <a:spcAft>
                <a:spcPts val="0"/>
              </a:spcAft>
              <a:buSzPts val="1600"/>
              <a:buChar char="-"/>
            </a:pPr>
            <a:r>
              <a:rPr lang="en-US" sz="1600"/>
              <a:t>Created a secure Firebase Authentication system for account creation, email verification, password reset, password policy and persistent login</a:t>
            </a:r>
            <a:endParaRPr sz="1600"/>
          </a:p>
          <a:p>
            <a:pPr indent="-330200" lvl="0" marL="457200" rtl="0" algn="l">
              <a:spcBef>
                <a:spcPts val="0"/>
              </a:spcBef>
              <a:spcAft>
                <a:spcPts val="0"/>
              </a:spcAft>
              <a:buSzPts val="1600"/>
              <a:buChar char="-"/>
            </a:pPr>
            <a:r>
              <a:rPr lang="en-US" sz="1600"/>
              <a:t>Developed camera, LED, and SOS control features, with Modes of Operation for system power usage</a:t>
            </a:r>
            <a:endParaRPr sz="1600"/>
          </a:p>
          <a:p>
            <a:pPr indent="-330200" lvl="0" marL="457200" rtl="0" algn="l">
              <a:spcBef>
                <a:spcPts val="0"/>
              </a:spcBef>
              <a:spcAft>
                <a:spcPts val="0"/>
              </a:spcAft>
              <a:buSzPts val="1600"/>
              <a:buChar char="-"/>
            </a:pPr>
            <a:r>
              <a:rPr lang="en-US" sz="1600"/>
              <a:t>Implemented real-time event history with video thumbnail previews and video playback</a:t>
            </a:r>
            <a:endParaRPr sz="1600"/>
          </a:p>
          <a:p>
            <a:pPr indent="0" lvl="0" marL="0" rtl="0" algn="l">
              <a:spcBef>
                <a:spcPts val="1200"/>
              </a:spcBef>
              <a:spcAft>
                <a:spcPts val="0"/>
              </a:spcAft>
              <a:buNone/>
            </a:pPr>
            <a:r>
              <a:rPr b="1" lang="en-US" sz="1600"/>
              <a:t>Tested &amp; Validated:</a:t>
            </a:r>
            <a:endParaRPr b="1" sz="1600"/>
          </a:p>
          <a:p>
            <a:pPr indent="-330200" lvl="0" marL="457200" rtl="0" algn="l">
              <a:spcBef>
                <a:spcPts val="1200"/>
              </a:spcBef>
              <a:spcAft>
                <a:spcPts val="0"/>
              </a:spcAft>
              <a:buSzPts val="1600"/>
              <a:buChar char="-"/>
            </a:pPr>
            <a:r>
              <a:rPr lang="en-US" sz="1600"/>
              <a:t>Verified user authentication flows, password policies, and email verification timeouts</a:t>
            </a:r>
            <a:endParaRPr sz="1600"/>
          </a:p>
          <a:p>
            <a:pPr indent="-330200" lvl="0" marL="457200" rtl="0" algn="l">
              <a:spcBef>
                <a:spcPts val="0"/>
              </a:spcBef>
              <a:spcAft>
                <a:spcPts val="0"/>
              </a:spcAft>
              <a:buSzPts val="1600"/>
              <a:buChar char="-"/>
            </a:pPr>
            <a:r>
              <a:rPr lang="en-US" sz="1600"/>
              <a:t>Confirmed Firestore integration for reading and writing system control states</a:t>
            </a:r>
            <a:endParaRPr sz="1600"/>
          </a:p>
          <a:p>
            <a:pPr indent="-330200" lvl="0" marL="457200" rtl="0" algn="l">
              <a:spcBef>
                <a:spcPts val="0"/>
              </a:spcBef>
              <a:spcAft>
                <a:spcPts val="0"/>
              </a:spcAft>
              <a:buSzPts val="1600"/>
              <a:buChar char="-"/>
            </a:pPr>
            <a:r>
              <a:rPr lang="en-US" sz="1600"/>
              <a:t>Ensured proper display and playback of video thumbnails from Firestore Database URLs</a:t>
            </a:r>
            <a:endParaRPr sz="1600"/>
          </a:p>
          <a:p>
            <a:pPr indent="0" lvl="0" marL="0" rtl="0" algn="l">
              <a:spcBef>
                <a:spcPts val="1200"/>
              </a:spcBef>
              <a:spcAft>
                <a:spcPts val="0"/>
              </a:spcAft>
              <a:buClr>
                <a:schemeClr val="dk1"/>
              </a:buClr>
              <a:buSzPts val="1100"/>
              <a:buFont typeface="Arial"/>
              <a:buNone/>
            </a:pPr>
            <a:r>
              <a:rPr b="1" lang="en-US" sz="1600"/>
              <a:t>Challenges &amp; Solutions:</a:t>
            </a:r>
            <a:endParaRPr b="1" sz="1600"/>
          </a:p>
          <a:p>
            <a:pPr indent="-330200" lvl="0" marL="457200" rtl="0" algn="l">
              <a:spcBef>
                <a:spcPts val="1200"/>
              </a:spcBef>
              <a:spcAft>
                <a:spcPts val="0"/>
              </a:spcAft>
              <a:buSzPts val="1600"/>
              <a:buChar char="-"/>
            </a:pPr>
            <a:r>
              <a:rPr lang="en-US" sz="1600"/>
              <a:t>Firestore path issues: Fixed with proper document structure and logging</a:t>
            </a:r>
            <a:endParaRPr sz="1600"/>
          </a:p>
          <a:p>
            <a:pPr indent="-330200" lvl="0" marL="457200" rtl="0" algn="l">
              <a:spcBef>
                <a:spcPts val="0"/>
              </a:spcBef>
              <a:spcAft>
                <a:spcPts val="0"/>
              </a:spcAft>
              <a:buSzPts val="1600"/>
              <a:buChar char="-"/>
            </a:pPr>
            <a:r>
              <a:rPr lang="en-US" sz="1600"/>
              <a:t>Video Player issues: Solved by having the mcu create video url links for the app to open from Firestore Database.</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4eec164bf2_3_93"/>
          <p:cNvSpPr txBox="1"/>
          <p:nvPr>
            <p:ph type="title"/>
          </p:nvPr>
        </p:nvSpPr>
        <p:spPr>
          <a:xfrm>
            <a:off x="457200" y="1049177"/>
            <a:ext cx="8229600" cy="803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Android Application - Zayan Prasla</a:t>
            </a:r>
            <a:endParaRPr/>
          </a:p>
        </p:txBody>
      </p:sp>
      <p:graphicFrame>
        <p:nvGraphicFramePr>
          <p:cNvPr id="224" name="Google Shape;224;g34eec164bf2_3_93"/>
          <p:cNvGraphicFramePr/>
          <p:nvPr/>
        </p:nvGraphicFramePr>
        <p:xfrm>
          <a:off x="952500" y="2444975"/>
          <a:ext cx="3000000" cy="3000000"/>
        </p:xfrm>
        <a:graphic>
          <a:graphicData uri="http://schemas.openxmlformats.org/drawingml/2006/table">
            <a:tbl>
              <a:tblPr>
                <a:noFill/>
                <a:tableStyleId>{5F415B97-9F15-4E5D-AE86-3A5AF3543CFD}</a:tableStyleId>
              </a:tblPr>
              <a:tblGrid>
                <a:gridCol w="3312175"/>
                <a:gridCol w="1841600"/>
                <a:gridCol w="2274650"/>
              </a:tblGrid>
              <a:tr h="381000">
                <a:tc>
                  <a:txBody>
                    <a:bodyPr/>
                    <a:lstStyle/>
                    <a:p>
                      <a:pPr indent="0" lvl="0" marL="0" rtl="0" algn="l">
                        <a:spcBef>
                          <a:spcPts val="0"/>
                        </a:spcBef>
                        <a:spcAft>
                          <a:spcPts val="0"/>
                        </a:spcAft>
                        <a:buNone/>
                      </a:pPr>
                      <a:r>
                        <a:rPr b="1" lang="en-US"/>
                        <a:t>Requirements</a:t>
                      </a:r>
                      <a:endParaRPr b="1"/>
                    </a:p>
                  </a:txBody>
                  <a:tcPr marT="91425" marB="91425" marR="91425" marL="91425"/>
                </a:tc>
                <a:tc>
                  <a:txBody>
                    <a:bodyPr/>
                    <a:lstStyle/>
                    <a:p>
                      <a:pPr indent="0" lvl="0" marL="0" rtl="0" algn="l">
                        <a:spcBef>
                          <a:spcPts val="0"/>
                        </a:spcBef>
                        <a:spcAft>
                          <a:spcPts val="0"/>
                        </a:spcAft>
                        <a:buNone/>
                      </a:pPr>
                      <a:r>
                        <a:rPr b="1" lang="en-US"/>
                        <a:t>Spec</a:t>
                      </a:r>
                      <a:endParaRPr b="1"/>
                    </a:p>
                  </a:txBody>
                  <a:tcPr marT="91425" marB="91425" marR="91425" marL="91425"/>
                </a:tc>
                <a:tc>
                  <a:txBody>
                    <a:bodyPr/>
                    <a:lstStyle/>
                    <a:p>
                      <a:pPr indent="0" lvl="0" marL="0" rtl="0" algn="l">
                        <a:spcBef>
                          <a:spcPts val="0"/>
                        </a:spcBef>
                        <a:spcAft>
                          <a:spcPts val="0"/>
                        </a:spcAft>
                        <a:buNone/>
                      </a:pPr>
                      <a:r>
                        <a:rPr b="1" lang="en-US"/>
                        <a:t>Measured</a:t>
                      </a:r>
                      <a:endParaRPr b="1"/>
                    </a:p>
                  </a:txBody>
                  <a:tcPr marT="91425" marB="91425" marR="91425" marL="91425"/>
                </a:tc>
              </a:tr>
              <a:tr h="381000">
                <a:tc>
                  <a:txBody>
                    <a:bodyPr/>
                    <a:lstStyle/>
                    <a:p>
                      <a:pPr indent="0" lvl="0" marL="0" rtl="0" algn="l">
                        <a:spcBef>
                          <a:spcPts val="0"/>
                        </a:spcBef>
                        <a:spcAft>
                          <a:spcPts val="0"/>
                        </a:spcAft>
                        <a:buNone/>
                      </a:pPr>
                      <a:r>
                        <a:rPr lang="en-US"/>
                        <a:t>Authentication Timeout</a:t>
                      </a:r>
                      <a:endParaRPr/>
                    </a:p>
                  </a:txBody>
                  <a:tcPr marT="91425" marB="91425" marR="91425" marL="91425"/>
                </a:tc>
                <a:tc>
                  <a:txBody>
                    <a:bodyPr/>
                    <a:lstStyle/>
                    <a:p>
                      <a:pPr indent="0" lvl="0" marL="0" rtl="0" algn="l">
                        <a:spcBef>
                          <a:spcPts val="0"/>
                        </a:spcBef>
                        <a:spcAft>
                          <a:spcPts val="0"/>
                        </a:spcAft>
                        <a:buNone/>
                      </a:pPr>
                      <a:r>
                        <a:rPr lang="en-US"/>
                        <a:t>Email verification link expires in 5 min</a:t>
                      </a:r>
                      <a:endParaRPr/>
                    </a:p>
                  </a:txBody>
                  <a:tcPr marT="91425" marB="91425" marR="91425" marL="91425"/>
                </a:tc>
                <a:tc>
                  <a:txBody>
                    <a:bodyPr/>
                    <a:lstStyle/>
                    <a:p>
                      <a:pPr indent="0" lvl="0" marL="0" rtl="0" algn="l">
                        <a:spcBef>
                          <a:spcPts val="0"/>
                        </a:spcBef>
                        <a:spcAft>
                          <a:spcPts val="0"/>
                        </a:spcAft>
                        <a:buNone/>
                      </a:pPr>
                      <a:r>
                        <a:rPr lang="en-US"/>
                        <a:t>Verified expiration at ~5:01 min</a:t>
                      </a:r>
                      <a:endParaRPr/>
                    </a:p>
                  </a:txBody>
                  <a:tcPr marT="91425" marB="91425" marR="91425" marL="91425"/>
                </a:tc>
              </a:tr>
              <a:tr h="381000">
                <a:tc>
                  <a:txBody>
                    <a:bodyPr/>
                    <a:lstStyle/>
                    <a:p>
                      <a:pPr indent="0" lvl="0" marL="0" rtl="0" algn="l">
                        <a:spcBef>
                          <a:spcPts val="0"/>
                        </a:spcBef>
                        <a:spcAft>
                          <a:spcPts val="0"/>
                        </a:spcAft>
                        <a:buNone/>
                      </a:pPr>
                      <a:r>
                        <a:rPr lang="en-US"/>
                        <a:t>Password policy enforcement</a:t>
                      </a:r>
                      <a:endParaRPr/>
                    </a:p>
                  </a:txBody>
                  <a:tcPr marT="91425" marB="91425" marR="91425" marL="91425"/>
                </a:tc>
                <a:tc>
                  <a:txBody>
                    <a:bodyPr/>
                    <a:lstStyle/>
                    <a:p>
                      <a:pPr indent="0" lvl="0" marL="0" rtl="0" algn="l">
                        <a:spcBef>
                          <a:spcPts val="0"/>
                        </a:spcBef>
                        <a:spcAft>
                          <a:spcPts val="0"/>
                        </a:spcAft>
                        <a:buNone/>
                      </a:pPr>
                      <a:r>
                        <a:rPr lang="en-US"/>
                        <a:t>Min 6 char, 1 capital, 1 symbol, 1 number</a:t>
                      </a:r>
                      <a:endParaRPr/>
                    </a:p>
                  </a:txBody>
                  <a:tcPr marT="91425" marB="91425" marR="91425" marL="91425"/>
                </a:tc>
                <a:tc>
                  <a:txBody>
                    <a:bodyPr/>
                    <a:lstStyle/>
                    <a:p>
                      <a:pPr indent="0" lvl="0" marL="0" rtl="0" algn="l">
                        <a:spcBef>
                          <a:spcPts val="0"/>
                        </a:spcBef>
                        <a:spcAft>
                          <a:spcPts val="0"/>
                        </a:spcAft>
                        <a:buNone/>
                      </a:pPr>
                      <a:r>
                        <a:rPr lang="en-US"/>
                        <a:t>100% rejection rate on invalid attempts</a:t>
                      </a:r>
                      <a:endParaRPr/>
                    </a:p>
                  </a:txBody>
                  <a:tcPr marT="91425" marB="91425" marR="91425" marL="91425"/>
                </a:tc>
              </a:tr>
              <a:tr h="381000">
                <a:tc>
                  <a:txBody>
                    <a:bodyPr/>
                    <a:lstStyle/>
                    <a:p>
                      <a:pPr indent="0" lvl="0" marL="0" rtl="0" algn="l">
                        <a:spcBef>
                          <a:spcPts val="0"/>
                        </a:spcBef>
                        <a:spcAft>
                          <a:spcPts val="0"/>
                        </a:spcAft>
                        <a:buNone/>
                      </a:pPr>
                      <a:r>
                        <a:rPr lang="en-US"/>
                        <a:t>Video event thumbnail loading</a:t>
                      </a:r>
                      <a:endParaRPr/>
                    </a:p>
                  </a:txBody>
                  <a:tcPr marT="91425" marB="91425" marR="91425" marL="91425"/>
                </a:tc>
                <a:tc>
                  <a:txBody>
                    <a:bodyPr/>
                    <a:lstStyle/>
                    <a:p>
                      <a:pPr indent="0" lvl="0" marL="0" rtl="0" algn="l">
                        <a:spcBef>
                          <a:spcPts val="0"/>
                        </a:spcBef>
                        <a:spcAft>
                          <a:spcPts val="0"/>
                        </a:spcAft>
                        <a:buNone/>
                      </a:pPr>
                      <a:r>
                        <a:rPr lang="en-US"/>
                        <a:t>Thumbnail shown    within 2 sec</a:t>
                      </a:r>
                      <a:endParaRPr/>
                    </a:p>
                  </a:txBody>
                  <a:tcPr marT="91425" marB="91425" marR="91425" marL="91425"/>
                </a:tc>
                <a:tc>
                  <a:txBody>
                    <a:bodyPr/>
                    <a:lstStyle/>
                    <a:p>
                      <a:pPr indent="0" lvl="0" marL="0" rtl="0" algn="l">
                        <a:spcBef>
                          <a:spcPts val="0"/>
                        </a:spcBef>
                        <a:spcAft>
                          <a:spcPts val="0"/>
                        </a:spcAft>
                        <a:buNone/>
                      </a:pPr>
                      <a:r>
                        <a:rPr lang="en-US"/>
                        <a:t>Avg load time: 1.2 sec,         max: 1.8 sec</a:t>
                      </a:r>
                      <a:endParaRPr/>
                    </a:p>
                  </a:txBody>
                  <a:tcPr marT="91425" marB="91425" marR="91425" marL="91425"/>
                </a:tc>
              </a:tr>
              <a:tr h="381000">
                <a:tc>
                  <a:txBody>
                    <a:bodyPr/>
                    <a:lstStyle/>
                    <a:p>
                      <a:pPr indent="0" lvl="0" marL="0" rtl="0" algn="l">
                        <a:spcBef>
                          <a:spcPts val="0"/>
                        </a:spcBef>
                        <a:spcAft>
                          <a:spcPts val="0"/>
                        </a:spcAft>
                        <a:buNone/>
                      </a:pPr>
                      <a:r>
                        <a:rPr lang="en-US"/>
                        <a:t>Battery graph recency</a:t>
                      </a:r>
                      <a:endParaRPr/>
                    </a:p>
                  </a:txBody>
                  <a:tcPr marT="91425" marB="91425" marR="91425" marL="91425"/>
                </a:tc>
                <a:tc>
                  <a:txBody>
                    <a:bodyPr/>
                    <a:lstStyle/>
                    <a:p>
                      <a:pPr indent="0" lvl="0" marL="0" rtl="0" algn="l">
                        <a:spcBef>
                          <a:spcPts val="0"/>
                        </a:spcBef>
                        <a:spcAft>
                          <a:spcPts val="0"/>
                        </a:spcAft>
                        <a:buNone/>
                      </a:pPr>
                      <a:r>
                        <a:rPr lang="en-US"/>
                        <a:t>Only last 24h voltage data shown</a:t>
                      </a:r>
                      <a:endParaRPr/>
                    </a:p>
                  </a:txBody>
                  <a:tcPr marT="91425" marB="91425" marR="91425" marL="91425"/>
                </a:tc>
                <a:tc>
                  <a:txBody>
                    <a:bodyPr/>
                    <a:lstStyle/>
                    <a:p>
                      <a:pPr indent="0" lvl="0" marL="0" rtl="0" algn="l">
                        <a:spcBef>
                          <a:spcPts val="0"/>
                        </a:spcBef>
                        <a:spcAft>
                          <a:spcPts val="0"/>
                        </a:spcAft>
                        <a:buNone/>
                      </a:pPr>
                      <a:r>
                        <a:rPr lang="en-US"/>
                        <a:t>Consistently accurate range filter applied</a:t>
                      </a:r>
                      <a:endParaRPr/>
                    </a:p>
                  </a:txBody>
                  <a:tcPr marT="91425" marB="91425" marR="91425" marL="91425"/>
                </a:tc>
              </a:tr>
              <a:tr h="381000">
                <a:tc>
                  <a:txBody>
                    <a:bodyPr/>
                    <a:lstStyle/>
                    <a:p>
                      <a:pPr indent="0" lvl="0" marL="0" rtl="0" algn="l">
                        <a:spcBef>
                          <a:spcPts val="0"/>
                        </a:spcBef>
                        <a:spcAft>
                          <a:spcPts val="0"/>
                        </a:spcAft>
                        <a:buNone/>
                      </a:pPr>
                      <a:r>
                        <a:rPr lang="en-US"/>
                        <a:t>Mode change response (Firestore write)</a:t>
                      </a:r>
                      <a:endParaRPr/>
                    </a:p>
                  </a:txBody>
                  <a:tcPr marT="91425" marB="91425" marR="91425" marL="91425"/>
                </a:tc>
                <a:tc>
                  <a:txBody>
                    <a:bodyPr/>
                    <a:lstStyle/>
                    <a:p>
                      <a:pPr indent="0" lvl="0" marL="0" rtl="0" algn="l">
                        <a:spcBef>
                          <a:spcPts val="0"/>
                        </a:spcBef>
                        <a:spcAft>
                          <a:spcPts val="0"/>
                        </a:spcAft>
                        <a:buNone/>
                      </a:pPr>
                      <a:r>
                        <a:rPr lang="en-US"/>
                        <a:t>Update reflected in  &lt; 1.5 sec</a:t>
                      </a:r>
                      <a:endParaRPr/>
                    </a:p>
                  </a:txBody>
                  <a:tcPr marT="91425" marB="91425" marR="91425" marL="91425"/>
                </a:tc>
                <a:tc>
                  <a:txBody>
                    <a:bodyPr/>
                    <a:lstStyle/>
                    <a:p>
                      <a:pPr indent="0" lvl="0" marL="0" rtl="0" algn="l">
                        <a:spcBef>
                          <a:spcPts val="0"/>
                        </a:spcBef>
                        <a:spcAft>
                          <a:spcPts val="0"/>
                        </a:spcAft>
                        <a:buNone/>
                      </a:pPr>
                      <a:r>
                        <a:rPr lang="en-US"/>
                        <a:t>Avg: </a:t>
                      </a:r>
                      <a:r>
                        <a:rPr lang="en-US"/>
                        <a:t>0.9</a:t>
                      </a:r>
                      <a:r>
                        <a:rPr lang="en-US"/>
                        <a:t> sec, Min: 0.6 sec,  Max: 1.4 s</a:t>
                      </a:r>
                      <a:endParaRPr/>
                    </a:p>
                  </a:txBody>
                  <a:tcPr marT="91425" marB="91425" marR="91425" marL="91425"/>
                </a:tc>
              </a:tr>
            </a:tbl>
          </a:graphicData>
        </a:graphic>
      </p:graphicFrame>
      <p:sp>
        <p:nvSpPr>
          <p:cNvPr id="225" name="Google Shape;225;g34eec164bf2_3_93"/>
          <p:cNvSpPr txBox="1"/>
          <p:nvPr/>
        </p:nvSpPr>
        <p:spPr>
          <a:xfrm>
            <a:off x="952500" y="1983275"/>
            <a:ext cx="7239000" cy="4617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b="1" lang="en-US" sz="1800">
                <a:solidFill>
                  <a:schemeClr val="dk1"/>
                </a:solidFill>
              </a:rPr>
              <a:t>App Features</a:t>
            </a:r>
            <a:r>
              <a:rPr b="1" lang="en-US" sz="1800">
                <a:solidFill>
                  <a:schemeClr val="dk1"/>
                </a:solidFill>
              </a:rPr>
              <a:t> Validation Table:</a:t>
            </a:r>
            <a:endParaRPr/>
          </a:p>
        </p:txBody>
      </p:sp>
      <p:sp>
        <p:nvSpPr>
          <p:cNvPr id="226" name="Google Shape;226;g34eec164bf2_3_93"/>
          <p:cNvSpPr txBox="1"/>
          <p:nvPr/>
        </p:nvSpPr>
        <p:spPr>
          <a:xfrm>
            <a:off x="950525" y="6009700"/>
            <a:ext cx="3198900" cy="2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endParaRPr>
          </a:p>
        </p:txBody>
      </p:sp>
      <p:sp>
        <p:nvSpPr>
          <p:cNvPr id="227" name="Google Shape;227;g34eec164bf2_3_93"/>
          <p:cNvSpPr txBox="1"/>
          <p:nvPr/>
        </p:nvSpPr>
        <p:spPr>
          <a:xfrm>
            <a:off x="952500" y="5888925"/>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21:  </a:t>
            </a:r>
            <a:r>
              <a:rPr b="1" lang="en-US" sz="1200">
                <a:solidFill>
                  <a:schemeClr val="dk1"/>
                </a:solidFill>
              </a:rPr>
              <a:t>App Features Validation Table:</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6"/>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Integrated System Results</a:t>
            </a:r>
            <a:endParaRPr/>
          </a:p>
        </p:txBody>
      </p:sp>
      <p:sp>
        <p:nvSpPr>
          <p:cNvPr id="233" name="Google Shape;233;p6"/>
          <p:cNvSpPr txBox="1"/>
          <p:nvPr>
            <p:ph idx="1" type="body"/>
          </p:nvPr>
        </p:nvSpPr>
        <p:spPr>
          <a:xfrm>
            <a:off x="457200" y="2049275"/>
            <a:ext cx="5934000" cy="23661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560"/>
              </a:spcBef>
              <a:spcAft>
                <a:spcPts val="0"/>
              </a:spcAft>
              <a:buNone/>
            </a:pPr>
            <a:r>
              <a:rPr b="1" lang="en-US" sz="2600"/>
              <a:t>End-to-End System Operation (Low Power): </a:t>
            </a:r>
            <a:endParaRPr b="1" sz="2600"/>
          </a:p>
          <a:p>
            <a:pPr indent="0" lvl="0" marL="0" rtl="0" algn="l">
              <a:spcBef>
                <a:spcPts val="560"/>
              </a:spcBef>
              <a:spcAft>
                <a:spcPts val="0"/>
              </a:spcAft>
              <a:buNone/>
            </a:pPr>
            <a:r>
              <a:rPr lang="en-US" sz="2000"/>
              <a:t>Low Power Mode Predicted Run Time ≈ 32.8 hours</a:t>
            </a:r>
            <a:endParaRPr sz="2000"/>
          </a:p>
          <a:p>
            <a:pPr indent="0" lvl="0" marL="0" rtl="0" algn="l">
              <a:spcBef>
                <a:spcPts val="560"/>
              </a:spcBef>
              <a:spcAft>
                <a:spcPts val="0"/>
              </a:spcAft>
              <a:buNone/>
            </a:pPr>
            <a:r>
              <a:rPr lang="en-US" sz="2000"/>
              <a:t>Lower Power Mode (User Experience):</a:t>
            </a:r>
            <a:endParaRPr sz="2000"/>
          </a:p>
          <a:p>
            <a:pPr indent="-346075" lvl="0" marL="457200" rtl="0" algn="l">
              <a:spcBef>
                <a:spcPts val="560"/>
              </a:spcBef>
              <a:spcAft>
                <a:spcPts val="0"/>
              </a:spcAft>
              <a:buSzPct val="100000"/>
              <a:buChar char="-"/>
            </a:pPr>
            <a:r>
              <a:rPr lang="en-US" sz="2000"/>
              <a:t>Able to see when the event occurred, and duration via but no video. </a:t>
            </a:r>
            <a:endParaRPr sz="2000"/>
          </a:p>
          <a:p>
            <a:pPr indent="-346075" lvl="0" marL="457200" rtl="0" algn="l">
              <a:spcBef>
                <a:spcPts val="0"/>
              </a:spcBef>
              <a:spcAft>
                <a:spcPts val="0"/>
              </a:spcAft>
              <a:buSzPct val="100000"/>
              <a:buChar char="-"/>
            </a:pPr>
            <a:r>
              <a:rPr lang="en-US" sz="2000"/>
              <a:t>LED Deterrence is available, flashes the LED rapidly. </a:t>
            </a:r>
            <a:endParaRPr sz="2000"/>
          </a:p>
        </p:txBody>
      </p:sp>
      <p:pic>
        <p:nvPicPr>
          <p:cNvPr id="234" name="Google Shape;234;p6"/>
          <p:cNvPicPr preferRelativeResize="0"/>
          <p:nvPr/>
        </p:nvPicPr>
        <p:blipFill>
          <a:blip r:embed="rId3">
            <a:alphaModFix/>
          </a:blip>
          <a:stretch>
            <a:fillRect/>
          </a:stretch>
        </p:blipFill>
        <p:spPr>
          <a:xfrm>
            <a:off x="1390750" y="4415375"/>
            <a:ext cx="3000000" cy="2020236"/>
          </a:xfrm>
          <a:prstGeom prst="rect">
            <a:avLst/>
          </a:prstGeom>
          <a:noFill/>
          <a:ln>
            <a:noFill/>
          </a:ln>
        </p:spPr>
      </p:pic>
      <p:pic>
        <p:nvPicPr>
          <p:cNvPr id="235" name="Google Shape;235;p6"/>
          <p:cNvPicPr preferRelativeResize="0"/>
          <p:nvPr/>
        </p:nvPicPr>
        <p:blipFill rotWithShape="1">
          <a:blip r:embed="rId4">
            <a:alphaModFix/>
          </a:blip>
          <a:srcRect b="0" l="0" r="1710" t="0"/>
          <a:stretch/>
        </p:blipFill>
        <p:spPr>
          <a:xfrm>
            <a:off x="6391200" y="2651117"/>
            <a:ext cx="2752800" cy="3784484"/>
          </a:xfrm>
          <a:prstGeom prst="rect">
            <a:avLst/>
          </a:prstGeom>
          <a:noFill/>
          <a:ln>
            <a:noFill/>
          </a:ln>
        </p:spPr>
      </p:pic>
      <p:sp>
        <p:nvSpPr>
          <p:cNvPr id="236" name="Google Shape;236;p6"/>
          <p:cNvSpPr txBox="1"/>
          <p:nvPr/>
        </p:nvSpPr>
        <p:spPr>
          <a:xfrm>
            <a:off x="1390750" y="646465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22:  LED </a:t>
            </a:r>
            <a:r>
              <a:rPr b="1" lang="en-US" sz="1200">
                <a:solidFill>
                  <a:schemeClr val="dk1"/>
                </a:solidFill>
              </a:rPr>
              <a:t>Deterrence</a:t>
            </a:r>
            <a:r>
              <a:rPr b="1" lang="en-US" sz="1200">
                <a:solidFill>
                  <a:schemeClr val="dk1"/>
                </a:solidFill>
              </a:rPr>
              <a:t> Active</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
        <p:nvSpPr>
          <p:cNvPr id="237" name="Google Shape;237;p6"/>
          <p:cNvSpPr txBox="1"/>
          <p:nvPr/>
        </p:nvSpPr>
        <p:spPr>
          <a:xfrm>
            <a:off x="6391200" y="646465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23:  Event History</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4ee8d7d375_1_67"/>
          <p:cNvSpPr txBox="1"/>
          <p:nvPr>
            <p:ph type="title"/>
          </p:nvPr>
        </p:nvSpPr>
        <p:spPr>
          <a:xfrm>
            <a:off x="457200" y="869652"/>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Integrated System Results</a:t>
            </a:r>
            <a:endParaRPr/>
          </a:p>
        </p:txBody>
      </p:sp>
      <p:sp>
        <p:nvSpPr>
          <p:cNvPr id="243" name="Google Shape;243;g34ee8d7d375_1_67"/>
          <p:cNvSpPr txBox="1"/>
          <p:nvPr>
            <p:ph idx="1" type="body"/>
          </p:nvPr>
        </p:nvSpPr>
        <p:spPr>
          <a:xfrm>
            <a:off x="410850" y="1597700"/>
            <a:ext cx="6683100" cy="26751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560"/>
              </a:spcBef>
              <a:spcAft>
                <a:spcPts val="0"/>
              </a:spcAft>
              <a:buNone/>
            </a:pPr>
            <a:r>
              <a:rPr b="1" lang="en-US" sz="2800"/>
              <a:t>End-to-End System Operation (Default): </a:t>
            </a:r>
            <a:endParaRPr b="1" sz="2800"/>
          </a:p>
          <a:p>
            <a:pPr indent="0" lvl="0" marL="0" rtl="0" algn="l">
              <a:spcBef>
                <a:spcPts val="560"/>
              </a:spcBef>
              <a:spcAft>
                <a:spcPts val="0"/>
              </a:spcAft>
              <a:buNone/>
            </a:pPr>
            <a:r>
              <a:rPr lang="en-US" sz="2000"/>
              <a:t>Motion Detection Mode Predicted Run Time ≈ 30.69 hours</a:t>
            </a:r>
            <a:endParaRPr sz="2000"/>
          </a:p>
          <a:p>
            <a:pPr indent="0" lvl="0" marL="0" rtl="0" algn="l">
              <a:spcBef>
                <a:spcPts val="560"/>
              </a:spcBef>
              <a:spcAft>
                <a:spcPts val="0"/>
              </a:spcAft>
              <a:buNone/>
            </a:pPr>
            <a:r>
              <a:rPr lang="en-US" sz="2000"/>
              <a:t>Motion Detection Mode (Pipeline):</a:t>
            </a:r>
            <a:endParaRPr sz="2000"/>
          </a:p>
          <a:p>
            <a:pPr indent="-346075" lvl="0" marL="457200" rtl="0" algn="l">
              <a:spcBef>
                <a:spcPts val="560"/>
              </a:spcBef>
              <a:spcAft>
                <a:spcPts val="0"/>
              </a:spcAft>
              <a:buSzPct val="100000"/>
              <a:buChar char="-"/>
            </a:pPr>
            <a:r>
              <a:rPr lang="en-US" sz="2000"/>
              <a:t>PIR Sensor detects motion → event is logged → camera starts recording → recording stops after 2 seconds of no motion → video saved locally(h264) → uploaded to Firebase(mp4) → app receives video with timestamp → user views it in event history.</a:t>
            </a:r>
            <a:endParaRPr sz="2000"/>
          </a:p>
        </p:txBody>
      </p:sp>
      <p:pic>
        <p:nvPicPr>
          <p:cNvPr id="244" name="Google Shape;244;g34ee8d7d375_1_67"/>
          <p:cNvPicPr preferRelativeResize="0"/>
          <p:nvPr/>
        </p:nvPicPr>
        <p:blipFill>
          <a:blip r:embed="rId3">
            <a:alphaModFix/>
          </a:blip>
          <a:stretch>
            <a:fillRect/>
          </a:stretch>
        </p:blipFill>
        <p:spPr>
          <a:xfrm>
            <a:off x="0" y="4599850"/>
            <a:ext cx="3414148" cy="1855950"/>
          </a:xfrm>
          <a:prstGeom prst="rect">
            <a:avLst/>
          </a:prstGeom>
          <a:noFill/>
          <a:ln>
            <a:noFill/>
          </a:ln>
        </p:spPr>
      </p:pic>
      <p:pic>
        <p:nvPicPr>
          <p:cNvPr id="245" name="Google Shape;245;g34ee8d7d375_1_67"/>
          <p:cNvPicPr preferRelativeResize="0"/>
          <p:nvPr/>
        </p:nvPicPr>
        <p:blipFill>
          <a:blip r:embed="rId4">
            <a:alphaModFix/>
          </a:blip>
          <a:stretch>
            <a:fillRect/>
          </a:stretch>
        </p:blipFill>
        <p:spPr>
          <a:xfrm>
            <a:off x="3740828" y="5200001"/>
            <a:ext cx="3026457" cy="655650"/>
          </a:xfrm>
          <a:prstGeom prst="rect">
            <a:avLst/>
          </a:prstGeom>
          <a:noFill/>
          <a:ln>
            <a:noFill/>
          </a:ln>
        </p:spPr>
      </p:pic>
      <p:pic>
        <p:nvPicPr>
          <p:cNvPr id="246" name="Google Shape;246;g34ee8d7d375_1_67" title="Screenshot 2025-04-16 at 2.39.53 PM.png"/>
          <p:cNvPicPr preferRelativeResize="0"/>
          <p:nvPr/>
        </p:nvPicPr>
        <p:blipFill rotWithShape="1">
          <a:blip r:embed="rId5">
            <a:alphaModFix/>
          </a:blip>
          <a:srcRect b="0" l="0" r="507" t="0"/>
          <a:stretch/>
        </p:blipFill>
        <p:spPr>
          <a:xfrm>
            <a:off x="7093950" y="3539950"/>
            <a:ext cx="2050200" cy="2990975"/>
          </a:xfrm>
          <a:prstGeom prst="rect">
            <a:avLst/>
          </a:prstGeom>
          <a:noFill/>
          <a:ln>
            <a:noFill/>
          </a:ln>
        </p:spPr>
      </p:pic>
      <p:sp>
        <p:nvSpPr>
          <p:cNvPr id="247" name="Google Shape;247;g34ee8d7d375_1_67"/>
          <p:cNvSpPr txBox="1"/>
          <p:nvPr/>
        </p:nvSpPr>
        <p:spPr>
          <a:xfrm>
            <a:off x="0" y="6530925"/>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24:  Motion Detection Capture</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
        <p:nvSpPr>
          <p:cNvPr id="248" name="Google Shape;248;g34ee8d7d375_1_67"/>
          <p:cNvSpPr txBox="1"/>
          <p:nvPr/>
        </p:nvSpPr>
        <p:spPr>
          <a:xfrm>
            <a:off x="3740825" y="594935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25:  Notification Packaged for App</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
        <p:nvSpPr>
          <p:cNvPr id="249" name="Google Shape;249;g34ee8d7d375_1_67"/>
          <p:cNvSpPr txBox="1"/>
          <p:nvPr/>
        </p:nvSpPr>
        <p:spPr>
          <a:xfrm>
            <a:off x="7093950" y="6530925"/>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26:  Event History</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4ee8d7d375_1_80"/>
          <p:cNvSpPr txBox="1"/>
          <p:nvPr>
            <p:ph type="title"/>
          </p:nvPr>
        </p:nvSpPr>
        <p:spPr>
          <a:xfrm>
            <a:off x="457200" y="1049177"/>
            <a:ext cx="8229600" cy="803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Integrated System Results</a:t>
            </a:r>
            <a:endParaRPr/>
          </a:p>
        </p:txBody>
      </p:sp>
      <p:sp>
        <p:nvSpPr>
          <p:cNvPr id="255" name="Google Shape;255;g34ee8d7d375_1_80"/>
          <p:cNvSpPr txBox="1"/>
          <p:nvPr>
            <p:ph idx="1" type="body"/>
          </p:nvPr>
        </p:nvSpPr>
        <p:spPr>
          <a:xfrm>
            <a:off x="457200" y="2039070"/>
            <a:ext cx="8229600" cy="4637400"/>
          </a:xfrm>
          <a:prstGeom prst="rect">
            <a:avLst/>
          </a:prstGeom>
          <a:noFill/>
          <a:ln>
            <a:noFill/>
          </a:ln>
        </p:spPr>
        <p:txBody>
          <a:bodyPr anchorCtr="0" anchor="t" bIns="45700" lIns="91425" spcFirstLastPara="1" rIns="91425" wrap="square" tIns="45700">
            <a:normAutofit/>
          </a:bodyPr>
          <a:lstStyle/>
          <a:p>
            <a:pPr indent="0" lvl="0" marL="0" rtl="0" algn="l">
              <a:spcBef>
                <a:spcPts val="560"/>
              </a:spcBef>
              <a:spcAft>
                <a:spcPts val="0"/>
              </a:spcAft>
              <a:buNone/>
            </a:pPr>
            <a:r>
              <a:rPr b="1" lang="en-US" sz="2800"/>
              <a:t>End-to-End System Operation (Livestream):</a:t>
            </a:r>
            <a:endParaRPr b="1" sz="2800"/>
          </a:p>
          <a:p>
            <a:pPr indent="0" lvl="0" marL="0" rtl="0" algn="l">
              <a:spcBef>
                <a:spcPts val="560"/>
              </a:spcBef>
              <a:spcAft>
                <a:spcPts val="0"/>
              </a:spcAft>
              <a:buNone/>
            </a:pPr>
            <a:r>
              <a:rPr lang="en-US" sz="2000"/>
              <a:t>Livestream Mode Predicted Run Time ≈ 22.18 hours</a:t>
            </a:r>
            <a:endParaRPr sz="2000"/>
          </a:p>
          <a:p>
            <a:pPr indent="0" lvl="0" marL="0" rtl="0" algn="l">
              <a:spcBef>
                <a:spcPts val="560"/>
              </a:spcBef>
              <a:spcAft>
                <a:spcPts val="0"/>
              </a:spcAft>
              <a:buNone/>
            </a:pPr>
            <a:r>
              <a:rPr lang="en-US" sz="2000"/>
              <a:t>Lower Power Mode (User Experience):</a:t>
            </a:r>
            <a:endParaRPr sz="2000"/>
          </a:p>
          <a:p>
            <a:pPr indent="-355600" lvl="0" marL="457200" rtl="0" algn="l">
              <a:spcBef>
                <a:spcPts val="560"/>
              </a:spcBef>
              <a:spcAft>
                <a:spcPts val="0"/>
              </a:spcAft>
              <a:buSzPts val="2000"/>
              <a:buChar char="-"/>
            </a:pPr>
            <a:r>
              <a:rPr lang="en-US" sz="2000"/>
              <a:t>User click Livestream Button - HTTP Server Activates - Pi starts HLS Stream Protocol - Stream HTTP Link create/sent to app - user can access stream by clicking on the Link</a:t>
            </a:r>
            <a:endParaRPr sz="2200"/>
          </a:p>
        </p:txBody>
      </p:sp>
      <p:sp>
        <p:nvSpPr>
          <p:cNvPr id="256" name="Google Shape;256;g34ee8d7d375_1_80"/>
          <p:cNvSpPr txBox="1"/>
          <p:nvPr/>
        </p:nvSpPr>
        <p:spPr>
          <a:xfrm>
            <a:off x="855135" y="6352511"/>
            <a:ext cx="410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57" name="Google Shape;257;g34ee8d7d375_1_80"/>
          <p:cNvPicPr preferRelativeResize="0"/>
          <p:nvPr/>
        </p:nvPicPr>
        <p:blipFill>
          <a:blip r:embed="rId3">
            <a:alphaModFix/>
          </a:blip>
          <a:stretch>
            <a:fillRect/>
          </a:stretch>
        </p:blipFill>
        <p:spPr>
          <a:xfrm>
            <a:off x="5958575" y="4465125"/>
            <a:ext cx="2857476" cy="2024926"/>
          </a:xfrm>
          <a:prstGeom prst="rect">
            <a:avLst/>
          </a:prstGeom>
          <a:noFill/>
          <a:ln>
            <a:noFill/>
          </a:ln>
        </p:spPr>
      </p:pic>
      <p:pic>
        <p:nvPicPr>
          <p:cNvPr id="258" name="Google Shape;258;g34ee8d7d375_1_80"/>
          <p:cNvPicPr preferRelativeResize="0"/>
          <p:nvPr/>
        </p:nvPicPr>
        <p:blipFill>
          <a:blip r:embed="rId4">
            <a:alphaModFix/>
          </a:blip>
          <a:stretch>
            <a:fillRect/>
          </a:stretch>
        </p:blipFill>
        <p:spPr>
          <a:xfrm>
            <a:off x="855125" y="4465125"/>
            <a:ext cx="4106400" cy="1112300"/>
          </a:xfrm>
          <a:prstGeom prst="rect">
            <a:avLst/>
          </a:prstGeom>
          <a:noFill/>
          <a:ln>
            <a:noFill/>
          </a:ln>
        </p:spPr>
      </p:pic>
      <p:pic>
        <p:nvPicPr>
          <p:cNvPr id="259" name="Google Shape;259;g34ee8d7d375_1_80"/>
          <p:cNvPicPr preferRelativeResize="0"/>
          <p:nvPr/>
        </p:nvPicPr>
        <p:blipFill>
          <a:blip r:embed="rId5">
            <a:alphaModFix/>
          </a:blip>
          <a:stretch>
            <a:fillRect/>
          </a:stretch>
        </p:blipFill>
        <p:spPr>
          <a:xfrm>
            <a:off x="834575" y="5886125"/>
            <a:ext cx="4106400" cy="466375"/>
          </a:xfrm>
          <a:prstGeom prst="rect">
            <a:avLst/>
          </a:prstGeom>
          <a:noFill/>
          <a:ln>
            <a:noFill/>
          </a:ln>
        </p:spPr>
      </p:pic>
      <p:sp>
        <p:nvSpPr>
          <p:cNvPr id="260" name="Google Shape;260;g34ee8d7d375_1_80"/>
          <p:cNvSpPr txBox="1"/>
          <p:nvPr/>
        </p:nvSpPr>
        <p:spPr>
          <a:xfrm>
            <a:off x="834575" y="548750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25:  LIvestream HTTP Server Startup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
        <p:nvSpPr>
          <p:cNvPr id="261" name="Google Shape;261;g34ee8d7d375_1_80"/>
          <p:cNvSpPr txBox="1"/>
          <p:nvPr/>
        </p:nvSpPr>
        <p:spPr>
          <a:xfrm>
            <a:off x="855125" y="635250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26:  LIvestream HTTP Link to Firebase </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
        <p:nvSpPr>
          <p:cNvPr id="262" name="Google Shape;262;g34ee8d7d375_1_80"/>
          <p:cNvSpPr txBox="1"/>
          <p:nvPr/>
        </p:nvSpPr>
        <p:spPr>
          <a:xfrm>
            <a:off x="5958575" y="6490050"/>
            <a:ext cx="4147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rPr>
              <a:t>Figure 27:  LIvestream UI</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sz="3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7"/>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Arial"/>
              <a:buNone/>
            </a:pPr>
            <a:r>
              <a:rPr lang="en-US"/>
              <a:t>Conclusions</a:t>
            </a:r>
            <a:endParaRPr/>
          </a:p>
        </p:txBody>
      </p:sp>
      <p:sp>
        <p:nvSpPr>
          <p:cNvPr id="268" name="Google Shape;268;p7"/>
          <p:cNvSpPr txBox="1"/>
          <p:nvPr>
            <p:ph idx="1" type="body"/>
          </p:nvPr>
        </p:nvSpPr>
        <p:spPr>
          <a:xfrm>
            <a:off x="457200" y="2049270"/>
            <a:ext cx="8229600" cy="463728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1200"/>
              </a:spcBef>
              <a:spcAft>
                <a:spcPts val="0"/>
              </a:spcAft>
              <a:buClr>
                <a:schemeClr val="dk1"/>
              </a:buClr>
              <a:buSzPts val="275"/>
              <a:buFont typeface="Arial"/>
              <a:buNone/>
            </a:pPr>
            <a:r>
              <a:rPr b="1" lang="en-US" sz="7173"/>
              <a:t>C</a:t>
            </a:r>
            <a:r>
              <a:rPr b="1" lang="en-US" sz="8000"/>
              <a:t>hanges from original System design:</a:t>
            </a:r>
            <a:endParaRPr b="1" sz="8000"/>
          </a:p>
          <a:p>
            <a:pPr indent="-355600" lvl="0" marL="457200" rtl="0" algn="l">
              <a:spcBef>
                <a:spcPts val="1200"/>
              </a:spcBef>
              <a:spcAft>
                <a:spcPts val="0"/>
              </a:spcAft>
              <a:buSzPct val="100000"/>
              <a:buChar char="-"/>
            </a:pPr>
            <a:r>
              <a:rPr lang="en-US" sz="8000"/>
              <a:t>Buck Converter IC chip change leading to re-design of Buck converter</a:t>
            </a:r>
            <a:endParaRPr sz="8000"/>
          </a:p>
          <a:p>
            <a:pPr indent="-355600" lvl="0" marL="457200" rtl="0" algn="l">
              <a:spcBef>
                <a:spcPts val="0"/>
              </a:spcBef>
              <a:spcAft>
                <a:spcPts val="0"/>
              </a:spcAft>
              <a:buSzPct val="100000"/>
              <a:buChar char="-"/>
            </a:pPr>
            <a:r>
              <a:rPr lang="en-US" sz="8000"/>
              <a:t>Relay control module PCB added to system design</a:t>
            </a:r>
            <a:endParaRPr sz="8000"/>
          </a:p>
          <a:p>
            <a:pPr indent="-355600" lvl="0" marL="457200" rtl="0" algn="l">
              <a:spcBef>
                <a:spcPts val="0"/>
              </a:spcBef>
              <a:spcAft>
                <a:spcPts val="0"/>
              </a:spcAft>
              <a:buSzPct val="100000"/>
              <a:buChar char="-"/>
            </a:pPr>
            <a:r>
              <a:rPr lang="en-US" sz="8000"/>
              <a:t>Charging Circuit redesigned to solve capacitor problem and consolidate PCB</a:t>
            </a:r>
            <a:endParaRPr sz="8000"/>
          </a:p>
          <a:p>
            <a:pPr indent="-355600" lvl="0" marL="457200" rtl="0" algn="l">
              <a:spcBef>
                <a:spcPts val="0"/>
              </a:spcBef>
              <a:spcAft>
                <a:spcPts val="0"/>
              </a:spcAft>
              <a:buSzPct val="100000"/>
              <a:buChar char="-"/>
            </a:pPr>
            <a:r>
              <a:rPr lang="en-US" sz="8000"/>
              <a:t>ADC added to system to allow communication between current sensor IC chips and MCU</a:t>
            </a:r>
            <a:endParaRPr sz="8000"/>
          </a:p>
          <a:p>
            <a:pPr indent="0" lvl="0" marL="0" rtl="0" algn="l">
              <a:spcBef>
                <a:spcPts val="1200"/>
              </a:spcBef>
              <a:spcAft>
                <a:spcPts val="0"/>
              </a:spcAft>
              <a:buNone/>
            </a:pPr>
            <a:r>
              <a:t/>
            </a:r>
            <a:endParaRPr sz="8000"/>
          </a:p>
          <a:p>
            <a:pPr indent="0" lvl="0" marL="0" rtl="0" algn="l">
              <a:spcBef>
                <a:spcPts val="1200"/>
              </a:spcBef>
              <a:spcAft>
                <a:spcPts val="0"/>
              </a:spcAft>
              <a:buClr>
                <a:schemeClr val="dk1"/>
              </a:buClr>
              <a:buSzPts val="275"/>
              <a:buFont typeface="Arial"/>
              <a:buNone/>
            </a:pPr>
            <a:r>
              <a:rPr b="1" lang="en-US" sz="8000"/>
              <a:t>Current Status:</a:t>
            </a:r>
            <a:endParaRPr b="1" sz="8000"/>
          </a:p>
          <a:p>
            <a:pPr indent="-355600" lvl="0" marL="457200" rtl="0" algn="l">
              <a:spcBef>
                <a:spcPts val="1200"/>
              </a:spcBef>
              <a:spcAft>
                <a:spcPts val="0"/>
              </a:spcAft>
              <a:buSzPct val="100000"/>
              <a:buChar char="-"/>
            </a:pPr>
            <a:r>
              <a:rPr lang="en-US" sz="8000"/>
              <a:t>Integration Complete</a:t>
            </a:r>
            <a:endParaRPr sz="8000"/>
          </a:p>
          <a:p>
            <a:pPr indent="-355600" lvl="0" marL="457200" rtl="0" algn="l">
              <a:spcBef>
                <a:spcPts val="0"/>
              </a:spcBef>
              <a:spcAft>
                <a:spcPts val="0"/>
              </a:spcAft>
              <a:buSzPct val="100000"/>
              <a:buChar char="-"/>
            </a:pPr>
            <a:r>
              <a:rPr lang="en-US" sz="8000"/>
              <a:t>Operational Testing Complete</a:t>
            </a:r>
            <a:endParaRPr sz="8000"/>
          </a:p>
          <a:p>
            <a:pPr indent="-355600" lvl="0" marL="457200" rtl="0" algn="l">
              <a:spcBef>
                <a:spcPts val="0"/>
              </a:spcBef>
              <a:spcAft>
                <a:spcPts val="0"/>
              </a:spcAft>
              <a:buSzPct val="100000"/>
              <a:buChar char="-"/>
            </a:pPr>
            <a:r>
              <a:rPr lang="en-US" sz="8000"/>
              <a:t>Validation Complete</a:t>
            </a:r>
            <a:endParaRPr sz="8000"/>
          </a:p>
          <a:p>
            <a:pPr indent="-355600" lvl="0" marL="457200" rtl="0" algn="l">
              <a:spcBef>
                <a:spcPts val="0"/>
              </a:spcBef>
              <a:spcAft>
                <a:spcPts val="0"/>
              </a:spcAft>
              <a:buSzPct val="100000"/>
              <a:buChar char="-"/>
            </a:pPr>
            <a:r>
              <a:rPr lang="en-US" sz="8000"/>
              <a:t>Edge Case Testing in Progress</a:t>
            </a:r>
            <a:endParaRPr sz="8000"/>
          </a:p>
          <a:p>
            <a:pPr indent="0" lvl="0" marL="0" rtl="0" algn="l">
              <a:spcBef>
                <a:spcPts val="1200"/>
              </a:spcBef>
              <a:spcAft>
                <a:spcPts val="12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2013-06-18T16:37:55Z</dcterms:created>
  <dc:creator>Brian Gardner</dc:creator>
</cp:coreProperties>
</file>